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Lst>
  <p:sldSz cx="30240288" cy="42840275"/>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987" autoAdjust="0"/>
    <p:restoredTop sz="94660"/>
  </p:normalViewPr>
  <p:slideViewPr>
    <p:cSldViewPr snapToGrid="0">
      <p:cViewPr>
        <p:scale>
          <a:sx n="20" d="100"/>
          <a:sy n="20" d="100"/>
        </p:scale>
        <p:origin x="888"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268022" y="7011132"/>
            <a:ext cx="25704245" cy="14914762"/>
          </a:xfrm>
        </p:spPr>
        <p:txBody>
          <a:bodyPr anchor="b"/>
          <a:lstStyle>
            <a:lvl1pPr algn="ctr">
              <a:defRPr sz="19843"/>
            </a:lvl1pPr>
          </a:lstStyle>
          <a:p>
            <a:r>
              <a:rPr lang="en-US"/>
              <a:t>Click to edit Master title style</a:t>
            </a:r>
            <a:endParaRPr lang="en-US" dirty="0"/>
          </a:p>
        </p:txBody>
      </p:sp>
      <p:sp>
        <p:nvSpPr>
          <p:cNvPr id="3" name="Subtitle 2"/>
          <p:cNvSpPr>
            <a:spLocks noGrp="1"/>
          </p:cNvSpPr>
          <p:nvPr>
            <p:ph type="subTitle" idx="1"/>
          </p:nvPr>
        </p:nvSpPr>
        <p:spPr>
          <a:xfrm>
            <a:off x="3780036" y="22501064"/>
            <a:ext cx="22680216" cy="10343147"/>
          </a:xfrm>
        </p:spPr>
        <p:txBody>
          <a:bodyPr/>
          <a:lstStyle>
            <a:lvl1pPr marL="0" indent="0" algn="ctr">
              <a:buNone/>
              <a:defRPr sz="7937"/>
            </a:lvl1pPr>
            <a:lvl2pPr marL="1512006" indent="0" algn="ctr">
              <a:buNone/>
              <a:defRPr sz="6614"/>
            </a:lvl2pPr>
            <a:lvl3pPr marL="3024012" indent="0" algn="ctr">
              <a:buNone/>
              <a:defRPr sz="5953"/>
            </a:lvl3pPr>
            <a:lvl4pPr marL="4536018" indent="0" algn="ctr">
              <a:buNone/>
              <a:defRPr sz="5291"/>
            </a:lvl4pPr>
            <a:lvl5pPr marL="6048024" indent="0" algn="ctr">
              <a:buNone/>
              <a:defRPr sz="5291"/>
            </a:lvl5pPr>
            <a:lvl6pPr marL="7560031" indent="0" algn="ctr">
              <a:buNone/>
              <a:defRPr sz="5291"/>
            </a:lvl6pPr>
            <a:lvl7pPr marL="9072037" indent="0" algn="ctr">
              <a:buNone/>
              <a:defRPr sz="5291"/>
            </a:lvl7pPr>
            <a:lvl8pPr marL="10584043" indent="0" algn="ctr">
              <a:buNone/>
              <a:defRPr sz="5291"/>
            </a:lvl8pPr>
            <a:lvl9pPr marL="12096049" indent="0" algn="ctr">
              <a:buNone/>
              <a:defRPr sz="5291"/>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6BA7F40-D0E7-452B-9792-CB12357AE6B5}" type="datetimeFigureOut">
              <a:rPr lang="en-US" smtClean="0"/>
              <a:t>4/22/2026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2DC8461-19D3-4DE8-8858-817BF1921866}" type="slidenum">
              <a:rPr lang="en-US" smtClean="0"/>
              <a:t>‹#›</a:t>
            </a:fld>
            <a:endParaRPr lang="en-US"/>
          </a:p>
        </p:txBody>
      </p:sp>
    </p:spTree>
    <p:extLst>
      <p:ext uri="{BB962C8B-B14F-4D97-AF65-F5344CB8AC3E}">
        <p14:creationId xmlns:p14="http://schemas.microsoft.com/office/powerpoint/2010/main" val="20467708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6BA7F40-D0E7-452B-9792-CB12357AE6B5}" type="datetimeFigureOut">
              <a:rPr lang="en-US" smtClean="0"/>
              <a:t>4/22/2026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2DC8461-19D3-4DE8-8858-817BF1921866}" type="slidenum">
              <a:rPr lang="en-US" smtClean="0"/>
              <a:t>‹#›</a:t>
            </a:fld>
            <a:endParaRPr lang="en-US"/>
          </a:p>
        </p:txBody>
      </p:sp>
    </p:spTree>
    <p:extLst>
      <p:ext uri="{BB962C8B-B14F-4D97-AF65-F5344CB8AC3E}">
        <p14:creationId xmlns:p14="http://schemas.microsoft.com/office/powerpoint/2010/main" val="32551945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63272" y="10680331"/>
            <a:ext cx="26082248" cy="17820361"/>
          </a:xfrm>
        </p:spPr>
        <p:txBody>
          <a:bodyPr anchor="b"/>
          <a:lstStyle>
            <a:lvl1pPr>
              <a:defRPr sz="19843"/>
            </a:lvl1pPr>
          </a:lstStyle>
          <a:p>
            <a:r>
              <a:rPr lang="en-US"/>
              <a:t>Click to edit Master title style</a:t>
            </a:r>
            <a:endParaRPr lang="en-US" dirty="0"/>
          </a:p>
        </p:txBody>
      </p:sp>
      <p:sp>
        <p:nvSpPr>
          <p:cNvPr id="3" name="Text Placeholder 2"/>
          <p:cNvSpPr>
            <a:spLocks noGrp="1"/>
          </p:cNvSpPr>
          <p:nvPr>
            <p:ph type="body" idx="1"/>
          </p:nvPr>
        </p:nvSpPr>
        <p:spPr>
          <a:xfrm>
            <a:off x="2063272" y="28669280"/>
            <a:ext cx="26082248" cy="9371307"/>
          </a:xfrm>
        </p:spPr>
        <p:txBody>
          <a:bodyPr/>
          <a:lstStyle>
            <a:lvl1pPr marL="0" indent="0">
              <a:buNone/>
              <a:defRPr sz="7937">
                <a:solidFill>
                  <a:schemeClr val="tx1"/>
                </a:solidFill>
              </a:defRPr>
            </a:lvl1pPr>
            <a:lvl2pPr marL="1512006" indent="0">
              <a:buNone/>
              <a:defRPr sz="6614">
                <a:solidFill>
                  <a:schemeClr val="tx1">
                    <a:tint val="75000"/>
                  </a:schemeClr>
                </a:solidFill>
              </a:defRPr>
            </a:lvl2pPr>
            <a:lvl3pPr marL="3024012" indent="0">
              <a:buNone/>
              <a:defRPr sz="5953">
                <a:solidFill>
                  <a:schemeClr val="tx1">
                    <a:tint val="75000"/>
                  </a:schemeClr>
                </a:solidFill>
              </a:defRPr>
            </a:lvl3pPr>
            <a:lvl4pPr marL="4536018" indent="0">
              <a:buNone/>
              <a:defRPr sz="5291">
                <a:solidFill>
                  <a:schemeClr val="tx1">
                    <a:tint val="75000"/>
                  </a:schemeClr>
                </a:solidFill>
              </a:defRPr>
            </a:lvl4pPr>
            <a:lvl5pPr marL="6048024" indent="0">
              <a:buNone/>
              <a:defRPr sz="5291">
                <a:solidFill>
                  <a:schemeClr val="tx1">
                    <a:tint val="75000"/>
                  </a:schemeClr>
                </a:solidFill>
              </a:defRPr>
            </a:lvl5pPr>
            <a:lvl6pPr marL="7560031" indent="0">
              <a:buNone/>
              <a:defRPr sz="5291">
                <a:solidFill>
                  <a:schemeClr val="tx1">
                    <a:tint val="75000"/>
                  </a:schemeClr>
                </a:solidFill>
              </a:defRPr>
            </a:lvl6pPr>
            <a:lvl7pPr marL="9072037" indent="0">
              <a:buNone/>
              <a:defRPr sz="5291">
                <a:solidFill>
                  <a:schemeClr val="tx1">
                    <a:tint val="75000"/>
                  </a:schemeClr>
                </a:solidFill>
              </a:defRPr>
            </a:lvl7pPr>
            <a:lvl8pPr marL="10584043" indent="0">
              <a:buNone/>
              <a:defRPr sz="5291">
                <a:solidFill>
                  <a:schemeClr val="tx1">
                    <a:tint val="75000"/>
                  </a:schemeClr>
                </a:solidFill>
              </a:defRPr>
            </a:lvl8pPr>
            <a:lvl9pPr marL="12096049" indent="0">
              <a:buNone/>
              <a:defRPr sz="5291">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6BA7F40-D0E7-452B-9792-CB12357AE6B5}" type="datetimeFigureOut">
              <a:rPr lang="en-US" smtClean="0"/>
              <a:t>4/22/2026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2DC8461-19D3-4DE8-8858-817BF1921866}" type="slidenum">
              <a:rPr lang="en-US" smtClean="0"/>
              <a:t>‹#›</a:t>
            </a:fld>
            <a:endParaRPr lang="en-US"/>
          </a:p>
        </p:txBody>
      </p:sp>
    </p:spTree>
    <p:extLst>
      <p:ext uri="{BB962C8B-B14F-4D97-AF65-F5344CB8AC3E}">
        <p14:creationId xmlns:p14="http://schemas.microsoft.com/office/powerpoint/2010/main" val="16322772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079020" y="11404240"/>
            <a:ext cx="12852122" cy="271817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5309146" y="11404240"/>
            <a:ext cx="12852122" cy="271817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6BA7F40-D0E7-452B-9792-CB12357AE6B5}" type="datetimeFigureOut">
              <a:rPr lang="en-US" smtClean="0"/>
              <a:t>4/22/2026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2DC8461-19D3-4DE8-8858-817BF1921866}" type="slidenum">
              <a:rPr lang="en-US" smtClean="0"/>
              <a:t>‹#›</a:t>
            </a:fld>
            <a:endParaRPr lang="en-US"/>
          </a:p>
        </p:txBody>
      </p:sp>
    </p:spTree>
    <p:extLst>
      <p:ext uri="{BB962C8B-B14F-4D97-AF65-F5344CB8AC3E}">
        <p14:creationId xmlns:p14="http://schemas.microsoft.com/office/powerpoint/2010/main" val="13094410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2082959" y="2280857"/>
            <a:ext cx="26082248" cy="8280473"/>
          </a:xfrm>
        </p:spPr>
        <p:txBody>
          <a:bodyPr/>
          <a:lstStyle/>
          <a:p>
            <a:r>
              <a:rPr lang="en-US"/>
              <a:t>Click to edit Master title style</a:t>
            </a:r>
            <a:endParaRPr lang="en-US" dirty="0"/>
          </a:p>
        </p:txBody>
      </p:sp>
      <p:sp>
        <p:nvSpPr>
          <p:cNvPr id="3" name="Text Placeholder 2"/>
          <p:cNvSpPr>
            <a:spLocks noGrp="1"/>
          </p:cNvSpPr>
          <p:nvPr>
            <p:ph type="body" idx="1"/>
          </p:nvPr>
        </p:nvSpPr>
        <p:spPr>
          <a:xfrm>
            <a:off x="2082962" y="10501820"/>
            <a:ext cx="12793057" cy="5146780"/>
          </a:xfrm>
        </p:spPr>
        <p:txBody>
          <a:bodyPr anchor="b"/>
          <a:lstStyle>
            <a:lvl1pPr marL="0" indent="0">
              <a:buNone/>
              <a:defRPr sz="7937" b="1"/>
            </a:lvl1pPr>
            <a:lvl2pPr marL="1512006" indent="0">
              <a:buNone/>
              <a:defRPr sz="6614" b="1"/>
            </a:lvl2pPr>
            <a:lvl3pPr marL="3024012" indent="0">
              <a:buNone/>
              <a:defRPr sz="5953" b="1"/>
            </a:lvl3pPr>
            <a:lvl4pPr marL="4536018" indent="0">
              <a:buNone/>
              <a:defRPr sz="5291" b="1"/>
            </a:lvl4pPr>
            <a:lvl5pPr marL="6048024" indent="0">
              <a:buNone/>
              <a:defRPr sz="5291" b="1"/>
            </a:lvl5pPr>
            <a:lvl6pPr marL="7560031" indent="0">
              <a:buNone/>
              <a:defRPr sz="5291" b="1"/>
            </a:lvl6pPr>
            <a:lvl7pPr marL="9072037" indent="0">
              <a:buNone/>
              <a:defRPr sz="5291" b="1"/>
            </a:lvl7pPr>
            <a:lvl8pPr marL="10584043" indent="0">
              <a:buNone/>
              <a:defRPr sz="5291" b="1"/>
            </a:lvl8pPr>
            <a:lvl9pPr marL="12096049" indent="0">
              <a:buNone/>
              <a:defRPr sz="5291" b="1"/>
            </a:lvl9pPr>
          </a:lstStyle>
          <a:p>
            <a:pPr lvl="0"/>
            <a:r>
              <a:rPr lang="en-US"/>
              <a:t>Click to edit Master text styles</a:t>
            </a:r>
          </a:p>
        </p:txBody>
      </p:sp>
      <p:sp>
        <p:nvSpPr>
          <p:cNvPr id="4" name="Content Placeholder 3"/>
          <p:cNvSpPr>
            <a:spLocks noGrp="1"/>
          </p:cNvSpPr>
          <p:nvPr>
            <p:ph sz="half" idx="2"/>
          </p:nvPr>
        </p:nvSpPr>
        <p:spPr>
          <a:xfrm>
            <a:off x="2082962" y="15648601"/>
            <a:ext cx="12793057" cy="2301673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5309148" y="10501820"/>
            <a:ext cx="12856061" cy="5146780"/>
          </a:xfrm>
        </p:spPr>
        <p:txBody>
          <a:bodyPr anchor="b"/>
          <a:lstStyle>
            <a:lvl1pPr marL="0" indent="0">
              <a:buNone/>
              <a:defRPr sz="7937" b="1"/>
            </a:lvl1pPr>
            <a:lvl2pPr marL="1512006" indent="0">
              <a:buNone/>
              <a:defRPr sz="6614" b="1"/>
            </a:lvl2pPr>
            <a:lvl3pPr marL="3024012" indent="0">
              <a:buNone/>
              <a:defRPr sz="5953" b="1"/>
            </a:lvl3pPr>
            <a:lvl4pPr marL="4536018" indent="0">
              <a:buNone/>
              <a:defRPr sz="5291" b="1"/>
            </a:lvl4pPr>
            <a:lvl5pPr marL="6048024" indent="0">
              <a:buNone/>
              <a:defRPr sz="5291" b="1"/>
            </a:lvl5pPr>
            <a:lvl6pPr marL="7560031" indent="0">
              <a:buNone/>
              <a:defRPr sz="5291" b="1"/>
            </a:lvl6pPr>
            <a:lvl7pPr marL="9072037" indent="0">
              <a:buNone/>
              <a:defRPr sz="5291" b="1"/>
            </a:lvl7pPr>
            <a:lvl8pPr marL="10584043" indent="0">
              <a:buNone/>
              <a:defRPr sz="5291" b="1"/>
            </a:lvl8pPr>
            <a:lvl9pPr marL="12096049" indent="0">
              <a:buNone/>
              <a:defRPr sz="5291" b="1"/>
            </a:lvl9pPr>
          </a:lstStyle>
          <a:p>
            <a:pPr lvl="0"/>
            <a:r>
              <a:rPr lang="en-US"/>
              <a:t>Click to edit Master text styles</a:t>
            </a:r>
          </a:p>
        </p:txBody>
      </p:sp>
      <p:sp>
        <p:nvSpPr>
          <p:cNvPr id="6" name="Content Placeholder 5"/>
          <p:cNvSpPr>
            <a:spLocks noGrp="1"/>
          </p:cNvSpPr>
          <p:nvPr>
            <p:ph sz="quarter" idx="4"/>
          </p:nvPr>
        </p:nvSpPr>
        <p:spPr>
          <a:xfrm>
            <a:off x="15309148" y="15648601"/>
            <a:ext cx="12856061" cy="2301673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6BA7F40-D0E7-452B-9792-CB12357AE6B5}" type="datetimeFigureOut">
              <a:rPr lang="en-US" smtClean="0"/>
              <a:t>4/22/2026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2DC8461-19D3-4DE8-8858-817BF1921866}" type="slidenum">
              <a:rPr lang="en-US" smtClean="0"/>
              <a:t>‹#›</a:t>
            </a:fld>
            <a:endParaRPr lang="en-US"/>
          </a:p>
        </p:txBody>
      </p:sp>
    </p:spTree>
    <p:extLst>
      <p:ext uri="{BB962C8B-B14F-4D97-AF65-F5344CB8AC3E}">
        <p14:creationId xmlns:p14="http://schemas.microsoft.com/office/powerpoint/2010/main" val="12696193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6BA7F40-D0E7-452B-9792-CB12357AE6B5}" type="datetimeFigureOut">
              <a:rPr lang="en-US" smtClean="0"/>
              <a:t>4/22/2026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2DC8461-19D3-4DE8-8858-817BF1921866}" type="slidenum">
              <a:rPr lang="en-US" smtClean="0"/>
              <a:t>‹#›</a:t>
            </a:fld>
            <a:endParaRPr lang="en-US"/>
          </a:p>
        </p:txBody>
      </p:sp>
    </p:spTree>
    <p:extLst>
      <p:ext uri="{BB962C8B-B14F-4D97-AF65-F5344CB8AC3E}">
        <p14:creationId xmlns:p14="http://schemas.microsoft.com/office/powerpoint/2010/main" val="15640978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6BA7F40-D0E7-452B-9792-CB12357AE6B5}" type="datetimeFigureOut">
              <a:rPr lang="en-US" smtClean="0"/>
              <a:t>4/22/2026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2DC8461-19D3-4DE8-8858-817BF1921866}" type="slidenum">
              <a:rPr lang="en-US" smtClean="0"/>
              <a:t>‹#›</a:t>
            </a:fld>
            <a:endParaRPr lang="en-US"/>
          </a:p>
        </p:txBody>
      </p:sp>
    </p:spTree>
    <p:extLst>
      <p:ext uri="{BB962C8B-B14F-4D97-AF65-F5344CB8AC3E}">
        <p14:creationId xmlns:p14="http://schemas.microsoft.com/office/powerpoint/2010/main" val="41256429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082959" y="2856018"/>
            <a:ext cx="9753280" cy="9996064"/>
          </a:xfrm>
        </p:spPr>
        <p:txBody>
          <a:bodyPr anchor="b"/>
          <a:lstStyle>
            <a:lvl1pPr>
              <a:defRPr sz="10583"/>
            </a:lvl1pPr>
          </a:lstStyle>
          <a:p>
            <a:r>
              <a:rPr lang="en-US"/>
              <a:t>Click to edit Master title style</a:t>
            </a:r>
            <a:endParaRPr lang="en-US" dirty="0"/>
          </a:p>
        </p:txBody>
      </p:sp>
      <p:sp>
        <p:nvSpPr>
          <p:cNvPr id="3" name="Content Placeholder 2"/>
          <p:cNvSpPr>
            <a:spLocks noGrp="1"/>
          </p:cNvSpPr>
          <p:nvPr>
            <p:ph idx="1"/>
          </p:nvPr>
        </p:nvSpPr>
        <p:spPr>
          <a:xfrm>
            <a:off x="12856061" y="6168216"/>
            <a:ext cx="15309146" cy="30444362"/>
          </a:xfrm>
        </p:spPr>
        <p:txBody>
          <a:bodyPr/>
          <a:lstStyle>
            <a:lvl1pPr>
              <a:defRPr sz="10583"/>
            </a:lvl1pPr>
            <a:lvl2pPr>
              <a:defRPr sz="9260"/>
            </a:lvl2pPr>
            <a:lvl3pPr>
              <a:defRPr sz="7937"/>
            </a:lvl3pPr>
            <a:lvl4pPr>
              <a:defRPr sz="6614"/>
            </a:lvl4pPr>
            <a:lvl5pPr>
              <a:defRPr sz="6614"/>
            </a:lvl5pPr>
            <a:lvl6pPr>
              <a:defRPr sz="6614"/>
            </a:lvl6pPr>
            <a:lvl7pPr>
              <a:defRPr sz="6614"/>
            </a:lvl7pPr>
            <a:lvl8pPr>
              <a:defRPr sz="6614"/>
            </a:lvl8pPr>
            <a:lvl9pPr>
              <a:defRPr sz="661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082959" y="12852082"/>
            <a:ext cx="9753280" cy="23810073"/>
          </a:xfrm>
        </p:spPr>
        <p:txBody>
          <a:bodyPr/>
          <a:lstStyle>
            <a:lvl1pPr marL="0" indent="0">
              <a:buNone/>
              <a:defRPr sz="5291"/>
            </a:lvl1pPr>
            <a:lvl2pPr marL="1512006" indent="0">
              <a:buNone/>
              <a:defRPr sz="4630"/>
            </a:lvl2pPr>
            <a:lvl3pPr marL="3024012" indent="0">
              <a:buNone/>
              <a:defRPr sz="3969"/>
            </a:lvl3pPr>
            <a:lvl4pPr marL="4536018" indent="0">
              <a:buNone/>
              <a:defRPr sz="3307"/>
            </a:lvl4pPr>
            <a:lvl5pPr marL="6048024" indent="0">
              <a:buNone/>
              <a:defRPr sz="3307"/>
            </a:lvl5pPr>
            <a:lvl6pPr marL="7560031" indent="0">
              <a:buNone/>
              <a:defRPr sz="3307"/>
            </a:lvl6pPr>
            <a:lvl7pPr marL="9072037" indent="0">
              <a:buNone/>
              <a:defRPr sz="3307"/>
            </a:lvl7pPr>
            <a:lvl8pPr marL="10584043" indent="0">
              <a:buNone/>
              <a:defRPr sz="3307"/>
            </a:lvl8pPr>
            <a:lvl9pPr marL="12096049" indent="0">
              <a:buNone/>
              <a:defRPr sz="3307"/>
            </a:lvl9pPr>
          </a:lstStyle>
          <a:p>
            <a:pPr lvl="0"/>
            <a:r>
              <a:rPr lang="en-US"/>
              <a:t>Click to edit Master text styles</a:t>
            </a:r>
          </a:p>
        </p:txBody>
      </p:sp>
      <p:sp>
        <p:nvSpPr>
          <p:cNvPr id="5" name="Date Placeholder 4"/>
          <p:cNvSpPr>
            <a:spLocks noGrp="1"/>
          </p:cNvSpPr>
          <p:nvPr>
            <p:ph type="dt" sz="half" idx="10"/>
          </p:nvPr>
        </p:nvSpPr>
        <p:spPr/>
        <p:txBody>
          <a:bodyPr/>
          <a:lstStyle/>
          <a:p>
            <a:fld id="{06BA7F40-D0E7-452B-9792-CB12357AE6B5}" type="datetimeFigureOut">
              <a:rPr lang="en-US" smtClean="0"/>
              <a:t>4/22/2026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2DC8461-19D3-4DE8-8858-817BF1921866}" type="slidenum">
              <a:rPr lang="en-US" smtClean="0"/>
              <a:t>‹#›</a:t>
            </a:fld>
            <a:endParaRPr lang="en-US"/>
          </a:p>
        </p:txBody>
      </p:sp>
    </p:spTree>
    <p:extLst>
      <p:ext uri="{BB962C8B-B14F-4D97-AF65-F5344CB8AC3E}">
        <p14:creationId xmlns:p14="http://schemas.microsoft.com/office/powerpoint/2010/main" val="9597063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082959" y="2856018"/>
            <a:ext cx="9753280" cy="9996064"/>
          </a:xfrm>
        </p:spPr>
        <p:txBody>
          <a:bodyPr anchor="b"/>
          <a:lstStyle>
            <a:lvl1pPr>
              <a:defRPr sz="10583"/>
            </a:lvl1pPr>
          </a:lstStyle>
          <a:p>
            <a:r>
              <a:rPr lang="en-US"/>
              <a:t>Click to edit Master title style</a:t>
            </a:r>
            <a:endParaRPr lang="en-US" dirty="0"/>
          </a:p>
        </p:txBody>
      </p:sp>
      <p:sp>
        <p:nvSpPr>
          <p:cNvPr id="3" name="Picture Placeholder 2"/>
          <p:cNvSpPr>
            <a:spLocks noGrp="1" noChangeAspect="1"/>
          </p:cNvSpPr>
          <p:nvPr>
            <p:ph type="pic" idx="1"/>
          </p:nvPr>
        </p:nvSpPr>
        <p:spPr>
          <a:xfrm>
            <a:off x="12856061" y="6168216"/>
            <a:ext cx="15309146" cy="30444362"/>
          </a:xfrm>
        </p:spPr>
        <p:txBody>
          <a:bodyPr anchor="t"/>
          <a:lstStyle>
            <a:lvl1pPr marL="0" indent="0">
              <a:buNone/>
              <a:defRPr sz="10583"/>
            </a:lvl1pPr>
            <a:lvl2pPr marL="1512006" indent="0">
              <a:buNone/>
              <a:defRPr sz="9260"/>
            </a:lvl2pPr>
            <a:lvl3pPr marL="3024012" indent="0">
              <a:buNone/>
              <a:defRPr sz="7937"/>
            </a:lvl3pPr>
            <a:lvl4pPr marL="4536018" indent="0">
              <a:buNone/>
              <a:defRPr sz="6614"/>
            </a:lvl4pPr>
            <a:lvl5pPr marL="6048024" indent="0">
              <a:buNone/>
              <a:defRPr sz="6614"/>
            </a:lvl5pPr>
            <a:lvl6pPr marL="7560031" indent="0">
              <a:buNone/>
              <a:defRPr sz="6614"/>
            </a:lvl6pPr>
            <a:lvl7pPr marL="9072037" indent="0">
              <a:buNone/>
              <a:defRPr sz="6614"/>
            </a:lvl7pPr>
            <a:lvl8pPr marL="10584043" indent="0">
              <a:buNone/>
              <a:defRPr sz="6614"/>
            </a:lvl8pPr>
            <a:lvl9pPr marL="12096049" indent="0">
              <a:buNone/>
              <a:defRPr sz="6614"/>
            </a:lvl9pPr>
          </a:lstStyle>
          <a:p>
            <a:r>
              <a:rPr lang="en-US"/>
              <a:t>Click icon to add picture</a:t>
            </a:r>
            <a:endParaRPr lang="en-US" dirty="0"/>
          </a:p>
        </p:txBody>
      </p:sp>
      <p:sp>
        <p:nvSpPr>
          <p:cNvPr id="4" name="Text Placeholder 3"/>
          <p:cNvSpPr>
            <a:spLocks noGrp="1"/>
          </p:cNvSpPr>
          <p:nvPr>
            <p:ph type="body" sz="half" idx="2"/>
          </p:nvPr>
        </p:nvSpPr>
        <p:spPr>
          <a:xfrm>
            <a:off x="2082959" y="12852082"/>
            <a:ext cx="9753280" cy="23810073"/>
          </a:xfrm>
        </p:spPr>
        <p:txBody>
          <a:bodyPr/>
          <a:lstStyle>
            <a:lvl1pPr marL="0" indent="0">
              <a:buNone/>
              <a:defRPr sz="5291"/>
            </a:lvl1pPr>
            <a:lvl2pPr marL="1512006" indent="0">
              <a:buNone/>
              <a:defRPr sz="4630"/>
            </a:lvl2pPr>
            <a:lvl3pPr marL="3024012" indent="0">
              <a:buNone/>
              <a:defRPr sz="3969"/>
            </a:lvl3pPr>
            <a:lvl4pPr marL="4536018" indent="0">
              <a:buNone/>
              <a:defRPr sz="3307"/>
            </a:lvl4pPr>
            <a:lvl5pPr marL="6048024" indent="0">
              <a:buNone/>
              <a:defRPr sz="3307"/>
            </a:lvl5pPr>
            <a:lvl6pPr marL="7560031" indent="0">
              <a:buNone/>
              <a:defRPr sz="3307"/>
            </a:lvl6pPr>
            <a:lvl7pPr marL="9072037" indent="0">
              <a:buNone/>
              <a:defRPr sz="3307"/>
            </a:lvl7pPr>
            <a:lvl8pPr marL="10584043" indent="0">
              <a:buNone/>
              <a:defRPr sz="3307"/>
            </a:lvl8pPr>
            <a:lvl9pPr marL="12096049" indent="0">
              <a:buNone/>
              <a:defRPr sz="3307"/>
            </a:lvl9pPr>
          </a:lstStyle>
          <a:p>
            <a:pPr lvl="0"/>
            <a:r>
              <a:rPr lang="en-US"/>
              <a:t>Click to edit Master text styles</a:t>
            </a:r>
          </a:p>
        </p:txBody>
      </p:sp>
      <p:sp>
        <p:nvSpPr>
          <p:cNvPr id="5" name="Date Placeholder 4"/>
          <p:cNvSpPr>
            <a:spLocks noGrp="1"/>
          </p:cNvSpPr>
          <p:nvPr>
            <p:ph type="dt" sz="half" idx="10"/>
          </p:nvPr>
        </p:nvSpPr>
        <p:spPr/>
        <p:txBody>
          <a:bodyPr/>
          <a:lstStyle/>
          <a:p>
            <a:fld id="{06BA7F40-D0E7-452B-9792-CB12357AE6B5}" type="datetimeFigureOut">
              <a:rPr lang="en-US" smtClean="0"/>
              <a:t>4/22/2026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2DC8461-19D3-4DE8-8858-817BF1921866}" type="slidenum">
              <a:rPr lang="en-US" smtClean="0"/>
              <a:t>‹#›</a:t>
            </a:fld>
            <a:endParaRPr lang="en-US"/>
          </a:p>
        </p:txBody>
      </p:sp>
    </p:spTree>
    <p:extLst>
      <p:ext uri="{BB962C8B-B14F-4D97-AF65-F5344CB8AC3E}">
        <p14:creationId xmlns:p14="http://schemas.microsoft.com/office/powerpoint/2010/main" val="30694583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6BA7F40-D0E7-452B-9792-CB12357AE6B5}" type="datetimeFigureOut">
              <a:rPr lang="en-US" smtClean="0"/>
              <a:t>4/22/2026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2DC8461-19D3-4DE8-8858-817BF1921866}" type="slidenum">
              <a:rPr lang="en-US" smtClean="0"/>
              <a:t>‹#›</a:t>
            </a:fld>
            <a:endParaRPr lang="en-US"/>
          </a:p>
        </p:txBody>
      </p:sp>
    </p:spTree>
    <p:extLst>
      <p:ext uri="{BB962C8B-B14F-4D97-AF65-F5344CB8AC3E}">
        <p14:creationId xmlns:p14="http://schemas.microsoft.com/office/powerpoint/2010/main" val="26358072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1640708" y="2280848"/>
            <a:ext cx="6520562" cy="3630515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079021" y="2280848"/>
            <a:ext cx="19183683" cy="3630515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6BA7F40-D0E7-452B-9792-CB12357AE6B5}" type="datetimeFigureOut">
              <a:rPr lang="en-US" smtClean="0"/>
              <a:t>4/22/2026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2DC8461-19D3-4DE8-8858-817BF1921866}" type="slidenum">
              <a:rPr lang="en-US" smtClean="0"/>
              <a:t>‹#›</a:t>
            </a:fld>
            <a:endParaRPr lang="en-US"/>
          </a:p>
        </p:txBody>
      </p:sp>
    </p:spTree>
    <p:extLst>
      <p:ext uri="{BB962C8B-B14F-4D97-AF65-F5344CB8AC3E}">
        <p14:creationId xmlns:p14="http://schemas.microsoft.com/office/powerpoint/2010/main" val="1757089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79020" y="2280857"/>
            <a:ext cx="26082248" cy="828047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079020" y="11404240"/>
            <a:ext cx="26082248" cy="2718176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2079020" y="39706598"/>
            <a:ext cx="6804065" cy="2280848"/>
          </a:xfrm>
          <a:prstGeom prst="rect">
            <a:avLst/>
          </a:prstGeom>
        </p:spPr>
        <p:txBody>
          <a:bodyPr vert="horz" lIns="91440" tIns="45720" rIns="91440" bIns="45720" rtlCol="0" anchor="ctr"/>
          <a:lstStyle>
            <a:lvl1pPr algn="l">
              <a:defRPr sz="3969">
                <a:solidFill>
                  <a:schemeClr val="tx1">
                    <a:tint val="75000"/>
                  </a:schemeClr>
                </a:solidFill>
              </a:defRPr>
            </a:lvl1pPr>
          </a:lstStyle>
          <a:p>
            <a:fld id="{06BA7F40-D0E7-452B-9792-CB12357AE6B5}" type="datetimeFigureOut">
              <a:rPr lang="en-US" smtClean="0"/>
              <a:t>4/22/2026</a:t>
            </a:fld>
            <a:endParaRPr lang="en-US"/>
          </a:p>
        </p:txBody>
      </p:sp>
      <p:sp>
        <p:nvSpPr>
          <p:cNvPr id="5" name="Footer Placeholder 4"/>
          <p:cNvSpPr>
            <a:spLocks noGrp="1"/>
          </p:cNvSpPr>
          <p:nvPr>
            <p:ph type="ftr" sz="quarter" idx="3"/>
          </p:nvPr>
        </p:nvSpPr>
        <p:spPr>
          <a:xfrm>
            <a:off x="10017096" y="39706598"/>
            <a:ext cx="10206097" cy="2280848"/>
          </a:xfrm>
          <a:prstGeom prst="rect">
            <a:avLst/>
          </a:prstGeom>
        </p:spPr>
        <p:txBody>
          <a:bodyPr vert="horz" lIns="91440" tIns="45720" rIns="91440" bIns="45720" rtlCol="0" anchor="ctr"/>
          <a:lstStyle>
            <a:lvl1pPr algn="ctr">
              <a:defRPr sz="3969">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21357203" y="39706598"/>
            <a:ext cx="6804065" cy="2280848"/>
          </a:xfrm>
          <a:prstGeom prst="rect">
            <a:avLst/>
          </a:prstGeom>
        </p:spPr>
        <p:txBody>
          <a:bodyPr vert="horz" lIns="91440" tIns="45720" rIns="91440" bIns="45720" rtlCol="0" anchor="ctr"/>
          <a:lstStyle>
            <a:lvl1pPr algn="r">
              <a:defRPr sz="3969">
                <a:solidFill>
                  <a:schemeClr val="tx1">
                    <a:tint val="75000"/>
                  </a:schemeClr>
                </a:solidFill>
              </a:defRPr>
            </a:lvl1pPr>
          </a:lstStyle>
          <a:p>
            <a:fld id="{C2DC8461-19D3-4DE8-8858-817BF1921866}" type="slidenum">
              <a:rPr lang="en-US" smtClean="0"/>
              <a:t>‹#›</a:t>
            </a:fld>
            <a:endParaRPr lang="en-US"/>
          </a:p>
        </p:txBody>
      </p:sp>
    </p:spTree>
    <p:extLst>
      <p:ext uri="{BB962C8B-B14F-4D97-AF65-F5344CB8AC3E}">
        <p14:creationId xmlns:p14="http://schemas.microsoft.com/office/powerpoint/2010/main" val="279689338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3024012" rtl="0" eaLnBrk="1" latinLnBrk="0" hangingPunct="1">
        <a:lnSpc>
          <a:spcPct val="90000"/>
        </a:lnSpc>
        <a:spcBef>
          <a:spcPct val="0"/>
        </a:spcBef>
        <a:buNone/>
        <a:defRPr sz="14551" kern="1200">
          <a:solidFill>
            <a:schemeClr val="tx1"/>
          </a:solidFill>
          <a:latin typeface="+mj-lt"/>
          <a:ea typeface="+mj-ea"/>
          <a:cs typeface="+mj-cs"/>
        </a:defRPr>
      </a:lvl1pPr>
    </p:titleStyle>
    <p:bodyStyle>
      <a:lvl1pPr marL="756003" indent="-756003" algn="l" defTabSz="3024012" rtl="0" eaLnBrk="1" latinLnBrk="0" hangingPunct="1">
        <a:lnSpc>
          <a:spcPct val="90000"/>
        </a:lnSpc>
        <a:spcBef>
          <a:spcPts val="3307"/>
        </a:spcBef>
        <a:buFont typeface="Arial" panose="020B0604020202020204" pitchFamily="34" charset="0"/>
        <a:buChar char="•"/>
        <a:defRPr sz="9260" kern="1200">
          <a:solidFill>
            <a:schemeClr val="tx1"/>
          </a:solidFill>
          <a:latin typeface="+mn-lt"/>
          <a:ea typeface="+mn-ea"/>
          <a:cs typeface="+mn-cs"/>
        </a:defRPr>
      </a:lvl1pPr>
      <a:lvl2pPr marL="2268009" indent="-756003" algn="l" defTabSz="3024012" rtl="0" eaLnBrk="1" latinLnBrk="0" hangingPunct="1">
        <a:lnSpc>
          <a:spcPct val="90000"/>
        </a:lnSpc>
        <a:spcBef>
          <a:spcPts val="1654"/>
        </a:spcBef>
        <a:buFont typeface="Arial" panose="020B0604020202020204" pitchFamily="34" charset="0"/>
        <a:buChar char="•"/>
        <a:defRPr sz="7937" kern="1200">
          <a:solidFill>
            <a:schemeClr val="tx1"/>
          </a:solidFill>
          <a:latin typeface="+mn-lt"/>
          <a:ea typeface="+mn-ea"/>
          <a:cs typeface="+mn-cs"/>
        </a:defRPr>
      </a:lvl2pPr>
      <a:lvl3pPr marL="3780015" indent="-756003" algn="l" defTabSz="3024012" rtl="0" eaLnBrk="1" latinLnBrk="0" hangingPunct="1">
        <a:lnSpc>
          <a:spcPct val="90000"/>
        </a:lnSpc>
        <a:spcBef>
          <a:spcPts val="1654"/>
        </a:spcBef>
        <a:buFont typeface="Arial" panose="020B0604020202020204" pitchFamily="34" charset="0"/>
        <a:buChar char="•"/>
        <a:defRPr sz="6614" kern="1200">
          <a:solidFill>
            <a:schemeClr val="tx1"/>
          </a:solidFill>
          <a:latin typeface="+mn-lt"/>
          <a:ea typeface="+mn-ea"/>
          <a:cs typeface="+mn-cs"/>
        </a:defRPr>
      </a:lvl3pPr>
      <a:lvl4pPr marL="5292021" indent="-756003" algn="l" defTabSz="3024012" rtl="0" eaLnBrk="1" latinLnBrk="0" hangingPunct="1">
        <a:lnSpc>
          <a:spcPct val="90000"/>
        </a:lnSpc>
        <a:spcBef>
          <a:spcPts val="1654"/>
        </a:spcBef>
        <a:buFont typeface="Arial" panose="020B0604020202020204" pitchFamily="34" charset="0"/>
        <a:buChar char="•"/>
        <a:defRPr sz="5953" kern="1200">
          <a:solidFill>
            <a:schemeClr val="tx1"/>
          </a:solidFill>
          <a:latin typeface="+mn-lt"/>
          <a:ea typeface="+mn-ea"/>
          <a:cs typeface="+mn-cs"/>
        </a:defRPr>
      </a:lvl4pPr>
      <a:lvl5pPr marL="6804028" indent="-756003" algn="l" defTabSz="3024012" rtl="0" eaLnBrk="1" latinLnBrk="0" hangingPunct="1">
        <a:lnSpc>
          <a:spcPct val="90000"/>
        </a:lnSpc>
        <a:spcBef>
          <a:spcPts val="1654"/>
        </a:spcBef>
        <a:buFont typeface="Arial" panose="020B0604020202020204" pitchFamily="34" charset="0"/>
        <a:buChar char="•"/>
        <a:defRPr sz="5953" kern="1200">
          <a:solidFill>
            <a:schemeClr val="tx1"/>
          </a:solidFill>
          <a:latin typeface="+mn-lt"/>
          <a:ea typeface="+mn-ea"/>
          <a:cs typeface="+mn-cs"/>
        </a:defRPr>
      </a:lvl5pPr>
      <a:lvl6pPr marL="8316034" indent="-756003" algn="l" defTabSz="3024012" rtl="0" eaLnBrk="1" latinLnBrk="0" hangingPunct="1">
        <a:lnSpc>
          <a:spcPct val="90000"/>
        </a:lnSpc>
        <a:spcBef>
          <a:spcPts val="1654"/>
        </a:spcBef>
        <a:buFont typeface="Arial" panose="020B0604020202020204" pitchFamily="34" charset="0"/>
        <a:buChar char="•"/>
        <a:defRPr sz="5953" kern="1200">
          <a:solidFill>
            <a:schemeClr val="tx1"/>
          </a:solidFill>
          <a:latin typeface="+mn-lt"/>
          <a:ea typeface="+mn-ea"/>
          <a:cs typeface="+mn-cs"/>
        </a:defRPr>
      </a:lvl6pPr>
      <a:lvl7pPr marL="9828040" indent="-756003" algn="l" defTabSz="3024012" rtl="0" eaLnBrk="1" latinLnBrk="0" hangingPunct="1">
        <a:lnSpc>
          <a:spcPct val="90000"/>
        </a:lnSpc>
        <a:spcBef>
          <a:spcPts val="1654"/>
        </a:spcBef>
        <a:buFont typeface="Arial" panose="020B0604020202020204" pitchFamily="34" charset="0"/>
        <a:buChar char="•"/>
        <a:defRPr sz="5953" kern="1200">
          <a:solidFill>
            <a:schemeClr val="tx1"/>
          </a:solidFill>
          <a:latin typeface="+mn-lt"/>
          <a:ea typeface="+mn-ea"/>
          <a:cs typeface="+mn-cs"/>
        </a:defRPr>
      </a:lvl7pPr>
      <a:lvl8pPr marL="11340046" indent="-756003" algn="l" defTabSz="3024012" rtl="0" eaLnBrk="1" latinLnBrk="0" hangingPunct="1">
        <a:lnSpc>
          <a:spcPct val="90000"/>
        </a:lnSpc>
        <a:spcBef>
          <a:spcPts val="1654"/>
        </a:spcBef>
        <a:buFont typeface="Arial" panose="020B0604020202020204" pitchFamily="34" charset="0"/>
        <a:buChar char="•"/>
        <a:defRPr sz="5953" kern="1200">
          <a:solidFill>
            <a:schemeClr val="tx1"/>
          </a:solidFill>
          <a:latin typeface="+mn-lt"/>
          <a:ea typeface="+mn-ea"/>
          <a:cs typeface="+mn-cs"/>
        </a:defRPr>
      </a:lvl8pPr>
      <a:lvl9pPr marL="12852052" indent="-756003" algn="l" defTabSz="3024012" rtl="0" eaLnBrk="1" latinLnBrk="0" hangingPunct="1">
        <a:lnSpc>
          <a:spcPct val="90000"/>
        </a:lnSpc>
        <a:spcBef>
          <a:spcPts val="1654"/>
        </a:spcBef>
        <a:buFont typeface="Arial" panose="020B0604020202020204" pitchFamily="34" charset="0"/>
        <a:buChar char="•"/>
        <a:defRPr sz="5953" kern="1200">
          <a:solidFill>
            <a:schemeClr val="tx1"/>
          </a:solidFill>
          <a:latin typeface="+mn-lt"/>
          <a:ea typeface="+mn-ea"/>
          <a:cs typeface="+mn-cs"/>
        </a:defRPr>
      </a:lvl9pPr>
    </p:bodyStyle>
    <p:otherStyle>
      <a:defPPr>
        <a:defRPr lang="en-US"/>
      </a:defPPr>
      <a:lvl1pPr marL="0" algn="l" defTabSz="3024012" rtl="0" eaLnBrk="1" latinLnBrk="0" hangingPunct="1">
        <a:defRPr sz="5953" kern="1200">
          <a:solidFill>
            <a:schemeClr val="tx1"/>
          </a:solidFill>
          <a:latin typeface="+mn-lt"/>
          <a:ea typeface="+mn-ea"/>
          <a:cs typeface="+mn-cs"/>
        </a:defRPr>
      </a:lvl1pPr>
      <a:lvl2pPr marL="1512006" algn="l" defTabSz="3024012" rtl="0" eaLnBrk="1" latinLnBrk="0" hangingPunct="1">
        <a:defRPr sz="5953" kern="1200">
          <a:solidFill>
            <a:schemeClr val="tx1"/>
          </a:solidFill>
          <a:latin typeface="+mn-lt"/>
          <a:ea typeface="+mn-ea"/>
          <a:cs typeface="+mn-cs"/>
        </a:defRPr>
      </a:lvl2pPr>
      <a:lvl3pPr marL="3024012" algn="l" defTabSz="3024012" rtl="0" eaLnBrk="1" latinLnBrk="0" hangingPunct="1">
        <a:defRPr sz="5953" kern="1200">
          <a:solidFill>
            <a:schemeClr val="tx1"/>
          </a:solidFill>
          <a:latin typeface="+mn-lt"/>
          <a:ea typeface="+mn-ea"/>
          <a:cs typeface="+mn-cs"/>
        </a:defRPr>
      </a:lvl3pPr>
      <a:lvl4pPr marL="4536018" algn="l" defTabSz="3024012" rtl="0" eaLnBrk="1" latinLnBrk="0" hangingPunct="1">
        <a:defRPr sz="5953" kern="1200">
          <a:solidFill>
            <a:schemeClr val="tx1"/>
          </a:solidFill>
          <a:latin typeface="+mn-lt"/>
          <a:ea typeface="+mn-ea"/>
          <a:cs typeface="+mn-cs"/>
        </a:defRPr>
      </a:lvl4pPr>
      <a:lvl5pPr marL="6048024" algn="l" defTabSz="3024012" rtl="0" eaLnBrk="1" latinLnBrk="0" hangingPunct="1">
        <a:defRPr sz="5953" kern="1200">
          <a:solidFill>
            <a:schemeClr val="tx1"/>
          </a:solidFill>
          <a:latin typeface="+mn-lt"/>
          <a:ea typeface="+mn-ea"/>
          <a:cs typeface="+mn-cs"/>
        </a:defRPr>
      </a:lvl5pPr>
      <a:lvl6pPr marL="7560031" algn="l" defTabSz="3024012" rtl="0" eaLnBrk="1" latinLnBrk="0" hangingPunct="1">
        <a:defRPr sz="5953" kern="1200">
          <a:solidFill>
            <a:schemeClr val="tx1"/>
          </a:solidFill>
          <a:latin typeface="+mn-lt"/>
          <a:ea typeface="+mn-ea"/>
          <a:cs typeface="+mn-cs"/>
        </a:defRPr>
      </a:lvl6pPr>
      <a:lvl7pPr marL="9072037" algn="l" defTabSz="3024012" rtl="0" eaLnBrk="1" latinLnBrk="0" hangingPunct="1">
        <a:defRPr sz="5953" kern="1200">
          <a:solidFill>
            <a:schemeClr val="tx1"/>
          </a:solidFill>
          <a:latin typeface="+mn-lt"/>
          <a:ea typeface="+mn-ea"/>
          <a:cs typeface="+mn-cs"/>
        </a:defRPr>
      </a:lvl7pPr>
      <a:lvl8pPr marL="10584043" algn="l" defTabSz="3024012" rtl="0" eaLnBrk="1" latinLnBrk="0" hangingPunct="1">
        <a:defRPr sz="5953" kern="1200">
          <a:solidFill>
            <a:schemeClr val="tx1"/>
          </a:solidFill>
          <a:latin typeface="+mn-lt"/>
          <a:ea typeface="+mn-ea"/>
          <a:cs typeface="+mn-cs"/>
        </a:defRPr>
      </a:lvl8pPr>
      <a:lvl9pPr marL="12096049" algn="l" defTabSz="3024012" rtl="0" eaLnBrk="1" latinLnBrk="0" hangingPunct="1">
        <a:defRPr sz="5953"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The image depicts the logo of the University of Virginia's Health System.">
            <a:extLst>
              <a:ext uri="{FF2B5EF4-FFF2-40B4-BE49-F238E27FC236}">
                <a16:creationId xmlns:a16="http://schemas.microsoft.com/office/drawing/2014/main" id="{EC37B4CD-5CD6-40A8-BCC8-1A0265E01486}"/>
              </a:ext>
            </a:extLst>
          </p:cNvPr>
          <p:cNvPicPr>
            <a:picLocks noChangeAspect="1"/>
          </p:cNvPicPr>
          <p:nvPr/>
        </p:nvPicPr>
        <p:blipFill>
          <a:blip r:embed="rId2"/>
          <a:stretch>
            <a:fillRect/>
          </a:stretch>
        </p:blipFill>
        <p:spPr>
          <a:xfrm>
            <a:off x="19996944" y="1303337"/>
            <a:ext cx="8950232" cy="4736165"/>
          </a:xfrm>
          <a:prstGeom prst="rect">
            <a:avLst/>
          </a:prstGeom>
        </p:spPr>
      </p:pic>
      <p:sp>
        <p:nvSpPr>
          <p:cNvPr id="5" name="TextBox 4">
            <a:extLst>
              <a:ext uri="{FF2B5EF4-FFF2-40B4-BE49-F238E27FC236}">
                <a16:creationId xmlns:a16="http://schemas.microsoft.com/office/drawing/2014/main" id="{D6D060F1-F71E-4398-9B64-C6A733C39C01}"/>
              </a:ext>
            </a:extLst>
          </p:cNvPr>
          <p:cNvSpPr txBox="1"/>
          <p:nvPr/>
        </p:nvSpPr>
        <p:spPr>
          <a:xfrm>
            <a:off x="2013510" y="6039502"/>
            <a:ext cx="26213268" cy="4585871"/>
          </a:xfrm>
          <a:prstGeom prst="rect">
            <a:avLst/>
          </a:prstGeom>
          <a:noFill/>
        </p:spPr>
        <p:txBody>
          <a:bodyPr wrap="square">
            <a:spAutoFit/>
          </a:bodyPr>
          <a:lstStyle/>
          <a:p>
            <a:pPr algn="ctr"/>
            <a:r>
              <a:rPr lang="en-GB" sz="7200" b="1" dirty="0">
                <a:solidFill>
                  <a:schemeClr val="tx1">
                    <a:lumMod val="75000"/>
                    <a:lumOff val="25000"/>
                  </a:schemeClr>
                </a:solidFill>
                <a:latin typeface="Roboto" panose="02000000000000000000" pitchFamily="2" charset="0"/>
              </a:rPr>
              <a:t>Clinical effects, outcomes, and disposition of unintentional </a:t>
            </a:r>
            <a:r>
              <a:rPr lang="en-GB" sz="7200" b="1" dirty="0" err="1">
                <a:solidFill>
                  <a:schemeClr val="tx1">
                    <a:lumMod val="75000"/>
                    <a:lumOff val="25000"/>
                  </a:schemeClr>
                </a:solidFill>
                <a:latin typeface="Roboto" panose="02000000000000000000" pitchFamily="2" charset="0"/>
              </a:rPr>
              <a:t>pediatric</a:t>
            </a:r>
            <a:r>
              <a:rPr lang="en-GB" sz="7200" b="1" dirty="0">
                <a:solidFill>
                  <a:schemeClr val="tx1">
                    <a:lumMod val="75000"/>
                    <a:lumOff val="25000"/>
                  </a:schemeClr>
                </a:solidFill>
                <a:latin typeface="Roboto" panose="02000000000000000000" pitchFamily="2" charset="0"/>
              </a:rPr>
              <a:t> cyanogenic glycoside exposures reported to US Poison </a:t>
            </a:r>
            <a:r>
              <a:rPr lang="en-GB" sz="7200" b="1" dirty="0" err="1">
                <a:solidFill>
                  <a:schemeClr val="tx1">
                    <a:lumMod val="75000"/>
                    <a:lumOff val="25000"/>
                  </a:schemeClr>
                </a:solidFill>
                <a:latin typeface="Roboto" panose="02000000000000000000" pitchFamily="2" charset="0"/>
              </a:rPr>
              <a:t>Centers</a:t>
            </a:r>
            <a:r>
              <a:rPr lang="en-GB" sz="7200" b="1" dirty="0">
                <a:solidFill>
                  <a:schemeClr val="tx1">
                    <a:lumMod val="75000"/>
                    <a:lumOff val="25000"/>
                  </a:schemeClr>
                </a:solidFill>
                <a:latin typeface="Roboto" panose="02000000000000000000" pitchFamily="2" charset="0"/>
              </a:rPr>
              <a:t>, 2005-2024</a:t>
            </a:r>
          </a:p>
          <a:p>
            <a:pPr algn="ctr"/>
            <a:endParaRPr lang="en-GB" sz="2000" b="1" dirty="0">
              <a:solidFill>
                <a:schemeClr val="tx1">
                  <a:lumMod val="75000"/>
                  <a:lumOff val="25000"/>
                </a:schemeClr>
              </a:solidFill>
              <a:latin typeface="Roboto" panose="02000000000000000000" pitchFamily="2" charset="0"/>
            </a:endParaRPr>
          </a:p>
          <a:p>
            <a:pPr algn="ctr" fontAlgn="base"/>
            <a:r>
              <a:rPr lang="en-US" sz="2800" dirty="0">
                <a:latin typeface="Roboto" panose="02000000000000000000" pitchFamily="2" charset="0"/>
                <a:ea typeface="Roboto" panose="02000000000000000000" pitchFamily="2" charset="0"/>
              </a:rPr>
              <a:t>Jennifer Loehner, MD, Anna Zmuda, MD, Jacob Britton, MD, Rita Farah, PhD, Avery Michienzi, DO</a:t>
            </a:r>
          </a:p>
          <a:p>
            <a:pPr algn="ctr" fontAlgn="base"/>
            <a:r>
              <a:rPr lang="en-US" sz="2800" dirty="0">
                <a:latin typeface="Roboto" panose="02000000000000000000" pitchFamily="2" charset="0"/>
                <a:ea typeface="Roboto" panose="02000000000000000000" pitchFamily="2" charset="0"/>
              </a:rPr>
              <a:t>Division of Medical Toxicology, Department of Emergency Medicine, University of Virginia; Charlottesville, Virginia, USA</a:t>
            </a:r>
          </a:p>
        </p:txBody>
      </p:sp>
      <p:pic>
        <p:nvPicPr>
          <p:cNvPr id="6" name="Immagine 28" descr="Immagine che contiene testo, Carattere, Elementi grafici, logo&#10;&#10;Il contenuto generato dall'IA potrebbe non essere corretto.">
            <a:extLst>
              <a:ext uri="{FF2B5EF4-FFF2-40B4-BE49-F238E27FC236}">
                <a16:creationId xmlns:a16="http://schemas.microsoft.com/office/drawing/2014/main" id="{2961271D-7EE7-4752-9B42-835E92BF5EE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13510" y="1974142"/>
            <a:ext cx="10211034" cy="3808878"/>
          </a:xfrm>
          <a:prstGeom prst="rect">
            <a:avLst/>
          </a:prstGeom>
        </p:spPr>
      </p:pic>
      <p:sp>
        <p:nvSpPr>
          <p:cNvPr id="12" name="object 4">
            <a:extLst>
              <a:ext uri="{FF2B5EF4-FFF2-40B4-BE49-F238E27FC236}">
                <a16:creationId xmlns:a16="http://schemas.microsoft.com/office/drawing/2014/main" id="{80ABC1F7-C3DC-440F-8E7F-CF02ABA078A1}"/>
              </a:ext>
            </a:extLst>
          </p:cNvPr>
          <p:cNvSpPr/>
          <p:nvPr/>
        </p:nvSpPr>
        <p:spPr>
          <a:xfrm>
            <a:off x="0" y="0"/>
            <a:ext cx="30240288" cy="42840274"/>
          </a:xfrm>
          <a:custGeom>
            <a:avLst/>
            <a:gdLst/>
            <a:ahLst/>
            <a:cxnLst/>
            <a:rect l="l" t="t" r="r" b="b"/>
            <a:pathLst>
              <a:path w="14072869" h="20104100">
                <a:moveTo>
                  <a:pt x="14072845" y="0"/>
                </a:moveTo>
                <a:lnTo>
                  <a:pt x="0" y="0"/>
                </a:lnTo>
                <a:lnTo>
                  <a:pt x="0" y="688340"/>
                </a:lnTo>
                <a:lnTo>
                  <a:pt x="0" y="19466560"/>
                </a:lnTo>
                <a:lnTo>
                  <a:pt x="0" y="20104100"/>
                </a:lnTo>
                <a:lnTo>
                  <a:pt x="14072845" y="20104100"/>
                </a:lnTo>
                <a:lnTo>
                  <a:pt x="14072845" y="19467170"/>
                </a:lnTo>
                <a:lnTo>
                  <a:pt x="14072845" y="19466560"/>
                </a:lnTo>
                <a:lnTo>
                  <a:pt x="14072845" y="688708"/>
                </a:lnTo>
                <a:lnTo>
                  <a:pt x="13428599" y="688708"/>
                </a:lnTo>
                <a:lnTo>
                  <a:pt x="13428599" y="19466560"/>
                </a:lnTo>
                <a:lnTo>
                  <a:pt x="644232" y="19466560"/>
                </a:lnTo>
                <a:lnTo>
                  <a:pt x="644232" y="688340"/>
                </a:lnTo>
                <a:lnTo>
                  <a:pt x="14072845" y="688340"/>
                </a:lnTo>
                <a:lnTo>
                  <a:pt x="14072845" y="0"/>
                </a:lnTo>
                <a:close/>
              </a:path>
            </a:pathLst>
          </a:custGeom>
          <a:solidFill>
            <a:srgbClr val="AD2D1D"/>
          </a:solidFill>
        </p:spPr>
        <p:txBody>
          <a:bodyPr wrap="square" lIns="0" tIns="0" rIns="0" bIns="0" rtlCol="0"/>
          <a:lstStyle/>
          <a:p>
            <a:endParaRPr dirty="0"/>
          </a:p>
        </p:txBody>
      </p:sp>
      <p:sp>
        <p:nvSpPr>
          <p:cNvPr id="13" name="TextBox 12">
            <a:extLst>
              <a:ext uri="{FF2B5EF4-FFF2-40B4-BE49-F238E27FC236}">
                <a16:creationId xmlns:a16="http://schemas.microsoft.com/office/drawing/2014/main" id="{7A64F98F-18FC-4ADB-B092-FB773CD23D98}"/>
              </a:ext>
            </a:extLst>
          </p:cNvPr>
          <p:cNvSpPr txBox="1"/>
          <p:nvPr/>
        </p:nvSpPr>
        <p:spPr>
          <a:xfrm>
            <a:off x="1927212" y="23805590"/>
            <a:ext cx="12801600" cy="7294305"/>
          </a:xfrm>
          <a:prstGeom prst="rect">
            <a:avLst/>
          </a:prstGeom>
          <a:noFill/>
        </p:spPr>
        <p:txBody>
          <a:bodyPr wrap="square" rtlCol="0">
            <a:spAutoFit/>
          </a:bodyPr>
          <a:lstStyle/>
          <a:p>
            <a:pPr marL="571500" indent="-571500">
              <a:buFont typeface="Arial" panose="020B0604020202020204" pitchFamily="34" charset="0"/>
              <a:buChar char="•"/>
            </a:pPr>
            <a:r>
              <a:rPr lang="en-US" sz="3600" dirty="0">
                <a:latin typeface="Roboto" panose="02000000000000000000" pitchFamily="2" charset="0"/>
                <a:ea typeface="Roboto" panose="02000000000000000000" pitchFamily="2" charset="0"/>
              </a:rPr>
              <a:t>Disposition (Table 1) </a:t>
            </a:r>
          </a:p>
          <a:p>
            <a:pPr marL="1028700" lvl="1" indent="-571500">
              <a:buFont typeface="Courier New" panose="02070309020205020404" pitchFamily="49" charset="0"/>
              <a:buChar char="o"/>
            </a:pPr>
            <a:r>
              <a:rPr lang="en-GB" sz="3600" dirty="0">
                <a:solidFill>
                  <a:schemeClr val="tx1"/>
                </a:solidFill>
                <a:latin typeface="Roboto" panose="02000000000000000000" pitchFamily="2" charset="0"/>
                <a:ea typeface="Roboto" panose="02000000000000000000" pitchFamily="2" charset="0"/>
              </a:rPr>
              <a:t>96.7% did not require hospital care</a:t>
            </a:r>
          </a:p>
          <a:p>
            <a:pPr marL="1028700" lvl="1" indent="-571500">
              <a:buFont typeface="Courier New" panose="02070309020205020404" pitchFamily="49" charset="0"/>
              <a:buChar char="o"/>
            </a:pPr>
            <a:r>
              <a:rPr lang="en-GB" sz="3600" dirty="0">
                <a:solidFill>
                  <a:schemeClr val="tx1"/>
                </a:solidFill>
                <a:latin typeface="Roboto" panose="02000000000000000000" pitchFamily="2" charset="0"/>
                <a:ea typeface="Roboto" panose="02000000000000000000" pitchFamily="2" charset="0"/>
              </a:rPr>
              <a:t>0.07% admitted to non-critical care unit and 0.04% were admitted to critical care units </a:t>
            </a:r>
            <a:endParaRPr lang="en-US" sz="3600" dirty="0">
              <a:latin typeface="Roboto" panose="02000000000000000000" pitchFamily="2" charset="0"/>
              <a:ea typeface="Roboto" panose="02000000000000000000" pitchFamily="2" charset="0"/>
            </a:endParaRPr>
          </a:p>
          <a:p>
            <a:pPr marL="571500" indent="-571500">
              <a:buFont typeface="Arial" panose="020B0604020202020204" pitchFamily="34" charset="0"/>
              <a:buChar char="•"/>
            </a:pPr>
            <a:r>
              <a:rPr lang="en-US" sz="3600" dirty="0">
                <a:latin typeface="Roboto" panose="02000000000000000000" pitchFamily="2" charset="0"/>
                <a:ea typeface="Roboto" panose="02000000000000000000" pitchFamily="2" charset="0"/>
              </a:rPr>
              <a:t>Medical outcomes (Table 2) </a:t>
            </a:r>
          </a:p>
          <a:p>
            <a:pPr marL="1028700" lvl="1" indent="-571500">
              <a:buFont typeface="Courier New" panose="02070309020205020404" pitchFamily="49" charset="0"/>
              <a:buChar char="o"/>
            </a:pPr>
            <a:r>
              <a:rPr lang="en-GB" sz="3600" dirty="0">
                <a:solidFill>
                  <a:schemeClr val="tx1"/>
                </a:solidFill>
                <a:latin typeface="Roboto" panose="02000000000000000000" pitchFamily="2" charset="0"/>
                <a:ea typeface="Roboto" panose="02000000000000000000" pitchFamily="2" charset="0"/>
              </a:rPr>
              <a:t>The majority of patients had no clinical effect  (92.7%)</a:t>
            </a:r>
          </a:p>
          <a:p>
            <a:pPr marL="1028700" lvl="1" indent="-571500">
              <a:buFont typeface="Courier New" panose="02070309020205020404" pitchFamily="49" charset="0"/>
              <a:buChar char="o"/>
            </a:pPr>
            <a:r>
              <a:rPr lang="en-GB" sz="3600" dirty="0">
                <a:solidFill>
                  <a:schemeClr val="tx1"/>
                </a:solidFill>
                <a:latin typeface="Roboto" panose="02000000000000000000" pitchFamily="2" charset="0"/>
                <a:ea typeface="Roboto" panose="02000000000000000000" pitchFamily="2" charset="0"/>
              </a:rPr>
              <a:t>There was one major outcome with severe symptoms including cardiac arrest, hypotension, seizure, and coma </a:t>
            </a:r>
            <a:endParaRPr lang="en-US" sz="3600" dirty="0">
              <a:latin typeface="Roboto" panose="02000000000000000000" pitchFamily="2" charset="0"/>
              <a:ea typeface="Roboto" panose="02000000000000000000" pitchFamily="2" charset="0"/>
            </a:endParaRPr>
          </a:p>
          <a:p>
            <a:pPr marL="571500" indent="-571500">
              <a:buFont typeface="Arial" panose="020B0604020202020204" pitchFamily="34" charset="0"/>
              <a:buChar char="•"/>
            </a:pPr>
            <a:r>
              <a:rPr lang="en-US" sz="3600" dirty="0">
                <a:latin typeface="Roboto" panose="02000000000000000000" pitchFamily="2" charset="0"/>
                <a:ea typeface="Roboto" panose="02000000000000000000" pitchFamily="2" charset="0"/>
              </a:rPr>
              <a:t>Clinical effects (Table 3) </a:t>
            </a:r>
          </a:p>
          <a:p>
            <a:pPr marL="1028700" lvl="1" indent="-571500">
              <a:buFont typeface="Courier New" panose="02070309020205020404" pitchFamily="49" charset="0"/>
              <a:buChar char="o"/>
            </a:pPr>
            <a:r>
              <a:rPr lang="en-GB" sz="3600" dirty="0">
                <a:solidFill>
                  <a:schemeClr val="tx1"/>
                </a:solidFill>
                <a:latin typeface="Roboto" panose="02000000000000000000" pitchFamily="2" charset="0"/>
                <a:ea typeface="Roboto" panose="02000000000000000000" pitchFamily="2" charset="0"/>
              </a:rPr>
              <a:t>Vomiting, abdominal pain, </a:t>
            </a:r>
            <a:r>
              <a:rPr lang="en-GB" sz="3600" dirty="0" err="1">
                <a:solidFill>
                  <a:schemeClr val="tx1"/>
                </a:solidFill>
                <a:latin typeface="Roboto" panose="02000000000000000000" pitchFamily="2" charset="0"/>
                <a:ea typeface="Roboto" panose="02000000000000000000" pitchFamily="2" charset="0"/>
              </a:rPr>
              <a:t>diarrhea</a:t>
            </a:r>
            <a:r>
              <a:rPr lang="en-GB" sz="3600" dirty="0">
                <a:solidFill>
                  <a:schemeClr val="tx1"/>
                </a:solidFill>
                <a:latin typeface="Roboto" panose="02000000000000000000" pitchFamily="2" charset="0"/>
                <a:ea typeface="Roboto" panose="02000000000000000000" pitchFamily="2" charset="0"/>
              </a:rPr>
              <a:t>, fever and nausea were the most common symptoms </a:t>
            </a:r>
            <a:endParaRPr lang="en-US" sz="3600" dirty="0">
              <a:latin typeface="Roboto" panose="02000000000000000000" pitchFamily="2" charset="0"/>
              <a:ea typeface="Roboto" panose="02000000000000000000" pitchFamily="2" charset="0"/>
            </a:endParaRPr>
          </a:p>
          <a:p>
            <a:pPr marL="571500" indent="-571500">
              <a:buFont typeface="Arial" panose="020B0604020202020204" pitchFamily="34" charset="0"/>
              <a:buChar char="•"/>
            </a:pPr>
            <a:r>
              <a:rPr lang="en-US" sz="3600" dirty="0">
                <a:latin typeface="Roboto" panose="02000000000000000000" pitchFamily="2" charset="0"/>
                <a:ea typeface="Roboto" panose="02000000000000000000" pitchFamily="2" charset="0"/>
              </a:rPr>
              <a:t>Treatments (Table 4) </a:t>
            </a:r>
          </a:p>
          <a:p>
            <a:pPr marL="1028700" lvl="1" indent="-571500">
              <a:buFont typeface="Courier New" panose="02070309020205020404" pitchFamily="49" charset="0"/>
              <a:buChar char="o"/>
            </a:pPr>
            <a:r>
              <a:rPr lang="en-GB" sz="3600" dirty="0">
                <a:solidFill>
                  <a:schemeClr val="tx1"/>
                </a:solidFill>
                <a:latin typeface="Roboto" panose="02000000000000000000" pitchFamily="2" charset="0"/>
                <a:ea typeface="Roboto" panose="02000000000000000000" pitchFamily="2" charset="0"/>
              </a:rPr>
              <a:t>Hydroxocobalamin was administered in 2 case </a:t>
            </a:r>
          </a:p>
        </p:txBody>
      </p:sp>
      <p:sp>
        <p:nvSpPr>
          <p:cNvPr id="17" name="object 3">
            <a:extLst>
              <a:ext uri="{FF2B5EF4-FFF2-40B4-BE49-F238E27FC236}">
                <a16:creationId xmlns:a16="http://schemas.microsoft.com/office/drawing/2014/main" id="{B558E90F-AD51-4B19-AE00-3BA065DEE1C0}"/>
              </a:ext>
            </a:extLst>
          </p:cNvPr>
          <p:cNvSpPr txBox="1"/>
          <p:nvPr/>
        </p:nvSpPr>
        <p:spPr>
          <a:xfrm>
            <a:off x="1929384" y="17377719"/>
            <a:ext cx="13079772" cy="948324"/>
          </a:xfrm>
          <a:prstGeom prst="rect">
            <a:avLst/>
          </a:prstGeom>
        </p:spPr>
        <p:txBody>
          <a:bodyPr vert="horz" wrap="square" lIns="0" tIns="29769" rIns="0" bIns="0" rtlCol="0">
            <a:spAutoFit/>
          </a:bodyPr>
          <a:lstStyle/>
          <a:p>
            <a:pPr marL="27062" algn="l">
              <a:spcBef>
                <a:spcPts val="234"/>
              </a:spcBef>
            </a:pPr>
            <a:r>
              <a:rPr lang="en-GB" sz="5967" b="1" dirty="0">
                <a:solidFill>
                  <a:schemeClr val="tx1">
                    <a:lumMod val="75000"/>
                    <a:lumOff val="25000"/>
                  </a:schemeClr>
                </a:solidFill>
                <a:latin typeface="Roboto" panose="02000000000000000000" pitchFamily="2" charset="0"/>
                <a:ea typeface="Roboto" panose="02000000000000000000" pitchFamily="2" charset="0"/>
                <a:cs typeface="Verdana"/>
              </a:rPr>
              <a:t>METHODS</a:t>
            </a:r>
            <a:endParaRPr sz="4795" b="1" dirty="0">
              <a:solidFill>
                <a:schemeClr val="tx1">
                  <a:lumMod val="75000"/>
                  <a:lumOff val="25000"/>
                </a:schemeClr>
              </a:solidFill>
              <a:latin typeface="Roboto" panose="02000000000000000000" pitchFamily="2" charset="0"/>
              <a:ea typeface="Roboto" panose="02000000000000000000" pitchFamily="2" charset="0"/>
              <a:cs typeface="Verdana"/>
            </a:endParaRPr>
          </a:p>
        </p:txBody>
      </p:sp>
      <p:sp>
        <p:nvSpPr>
          <p:cNvPr id="18" name="object 3">
            <a:extLst>
              <a:ext uri="{FF2B5EF4-FFF2-40B4-BE49-F238E27FC236}">
                <a16:creationId xmlns:a16="http://schemas.microsoft.com/office/drawing/2014/main" id="{708A04B7-921F-4821-814F-67F8906EA3C6}"/>
              </a:ext>
            </a:extLst>
          </p:cNvPr>
          <p:cNvSpPr txBox="1"/>
          <p:nvPr/>
        </p:nvSpPr>
        <p:spPr>
          <a:xfrm>
            <a:off x="1929384" y="31357998"/>
            <a:ext cx="13079772" cy="948324"/>
          </a:xfrm>
          <a:prstGeom prst="rect">
            <a:avLst/>
          </a:prstGeom>
        </p:spPr>
        <p:txBody>
          <a:bodyPr vert="horz" wrap="square" lIns="0" tIns="29769" rIns="0" bIns="0" rtlCol="0">
            <a:spAutoFit/>
          </a:bodyPr>
          <a:lstStyle/>
          <a:p>
            <a:pPr marL="27062" algn="l">
              <a:spcBef>
                <a:spcPts val="234"/>
              </a:spcBef>
            </a:pPr>
            <a:r>
              <a:rPr lang="en-GB" sz="5967" b="1" dirty="0">
                <a:solidFill>
                  <a:schemeClr val="tx1">
                    <a:lumMod val="75000"/>
                    <a:lumOff val="25000"/>
                  </a:schemeClr>
                </a:solidFill>
                <a:latin typeface="Verdana"/>
                <a:cs typeface="Verdana"/>
              </a:rPr>
              <a:t>CONCLUSION</a:t>
            </a:r>
            <a:endParaRPr sz="4795" b="1" dirty="0">
              <a:solidFill>
                <a:schemeClr val="tx1">
                  <a:lumMod val="75000"/>
                  <a:lumOff val="25000"/>
                </a:schemeClr>
              </a:solidFill>
              <a:latin typeface="Verdana"/>
              <a:cs typeface="Verdana"/>
            </a:endParaRPr>
          </a:p>
        </p:txBody>
      </p:sp>
      <p:sp>
        <p:nvSpPr>
          <p:cNvPr id="19" name="TextBox 18">
            <a:extLst>
              <a:ext uri="{FF2B5EF4-FFF2-40B4-BE49-F238E27FC236}">
                <a16:creationId xmlns:a16="http://schemas.microsoft.com/office/drawing/2014/main" id="{F1D1E07C-45FE-4D72-A766-CAE01E6F663C}"/>
              </a:ext>
            </a:extLst>
          </p:cNvPr>
          <p:cNvSpPr txBox="1"/>
          <p:nvPr/>
        </p:nvSpPr>
        <p:spPr>
          <a:xfrm>
            <a:off x="1929384" y="22716165"/>
            <a:ext cx="12039834" cy="1010598"/>
          </a:xfrm>
          <a:prstGeom prst="rect">
            <a:avLst/>
          </a:prstGeom>
          <a:noFill/>
        </p:spPr>
        <p:txBody>
          <a:bodyPr wrap="square" rtlCol="0">
            <a:spAutoFit/>
          </a:bodyPr>
          <a:lstStyle/>
          <a:p>
            <a:r>
              <a:rPr kumimoji="0" lang="en-GB" sz="5967" b="1" i="0" u="none" strike="noStrike" kern="0" cap="none" spc="0" normalizeH="0" baseline="0" noProof="0" dirty="0">
                <a:ln>
                  <a:noFill/>
                </a:ln>
                <a:solidFill>
                  <a:prstClr val="black">
                    <a:lumMod val="75000"/>
                    <a:lumOff val="25000"/>
                  </a:prstClr>
                </a:solidFill>
                <a:effectLst/>
                <a:uLnTx/>
                <a:uFillTx/>
                <a:latin typeface="Roboto" panose="02000000000000000000" pitchFamily="2" charset="0"/>
                <a:ea typeface="Roboto" panose="02000000000000000000" pitchFamily="2" charset="0"/>
                <a:cs typeface="Verdana"/>
              </a:rPr>
              <a:t>RESULTS</a:t>
            </a:r>
            <a:endParaRPr lang="en-US" dirty="0">
              <a:latin typeface="Roboto" panose="02000000000000000000" pitchFamily="2" charset="0"/>
              <a:ea typeface="Roboto" panose="02000000000000000000" pitchFamily="2" charset="0"/>
            </a:endParaRPr>
          </a:p>
        </p:txBody>
      </p:sp>
      <p:sp>
        <p:nvSpPr>
          <p:cNvPr id="20" name="object 3">
            <a:extLst>
              <a:ext uri="{FF2B5EF4-FFF2-40B4-BE49-F238E27FC236}">
                <a16:creationId xmlns:a16="http://schemas.microsoft.com/office/drawing/2014/main" id="{E22A5C41-F34C-4CEC-A48F-C7F1ED0013DD}"/>
              </a:ext>
            </a:extLst>
          </p:cNvPr>
          <p:cNvSpPr txBox="1"/>
          <p:nvPr/>
        </p:nvSpPr>
        <p:spPr>
          <a:xfrm>
            <a:off x="1927213" y="11121107"/>
            <a:ext cx="7193431" cy="948324"/>
          </a:xfrm>
          <a:prstGeom prst="rect">
            <a:avLst/>
          </a:prstGeom>
        </p:spPr>
        <p:txBody>
          <a:bodyPr vert="horz" wrap="square" lIns="0" tIns="29769" rIns="0" bIns="0" rtlCol="0">
            <a:spAutoFit/>
          </a:bodyPr>
          <a:lstStyle/>
          <a:p>
            <a:pPr marL="27062">
              <a:spcBef>
                <a:spcPts val="234"/>
              </a:spcBef>
            </a:pPr>
            <a:r>
              <a:rPr lang="en-GB" sz="5967" b="1" dirty="0">
                <a:solidFill>
                  <a:schemeClr val="tx1">
                    <a:lumMod val="75000"/>
                    <a:lumOff val="25000"/>
                  </a:schemeClr>
                </a:solidFill>
                <a:latin typeface="Roboto" panose="02000000000000000000" pitchFamily="2" charset="0"/>
                <a:ea typeface="Roboto" panose="02000000000000000000" pitchFamily="2" charset="0"/>
                <a:cs typeface="Verdana"/>
              </a:rPr>
              <a:t>INTRODUCTION</a:t>
            </a:r>
            <a:endParaRPr sz="4795" b="1" dirty="0">
              <a:solidFill>
                <a:schemeClr val="tx1">
                  <a:lumMod val="75000"/>
                  <a:lumOff val="25000"/>
                </a:schemeClr>
              </a:solidFill>
              <a:latin typeface="Roboto" panose="02000000000000000000" pitchFamily="2" charset="0"/>
              <a:ea typeface="Roboto" panose="02000000000000000000" pitchFamily="2" charset="0"/>
              <a:cs typeface="Verdana"/>
            </a:endParaRPr>
          </a:p>
        </p:txBody>
      </p:sp>
      <p:sp>
        <p:nvSpPr>
          <p:cNvPr id="21" name="object 3">
            <a:extLst>
              <a:ext uri="{FF2B5EF4-FFF2-40B4-BE49-F238E27FC236}">
                <a16:creationId xmlns:a16="http://schemas.microsoft.com/office/drawing/2014/main" id="{9598A711-875E-41AD-9FDC-885B17C8B6EB}"/>
              </a:ext>
            </a:extLst>
          </p:cNvPr>
          <p:cNvSpPr txBox="1"/>
          <p:nvPr/>
        </p:nvSpPr>
        <p:spPr>
          <a:xfrm>
            <a:off x="1929384" y="12090236"/>
            <a:ext cx="25786365" cy="4538986"/>
          </a:xfrm>
          <a:prstGeom prst="rect">
            <a:avLst/>
          </a:prstGeom>
        </p:spPr>
        <p:txBody>
          <a:bodyPr vert="horz" wrap="square" lIns="0" tIns="29769" rIns="0" bIns="0" rtlCol="0">
            <a:spAutoFit/>
          </a:bodyPr>
          <a:lstStyle/>
          <a:p>
            <a:pPr marL="598562" indent="-571500">
              <a:spcBef>
                <a:spcPts val="234"/>
              </a:spcBef>
              <a:buFont typeface="Arial" panose="020B0604020202020204" pitchFamily="34" charset="0"/>
              <a:buChar char="•"/>
            </a:pPr>
            <a:r>
              <a:rPr lang="en-GB" sz="3600" dirty="0">
                <a:latin typeface="Roboto" panose="02000000000000000000" pitchFamily="2" charset="0"/>
                <a:ea typeface="Roboto" panose="02000000000000000000" pitchFamily="2" charset="0"/>
                <a:cs typeface="Verdana"/>
              </a:rPr>
              <a:t>Cyanogenic glycosides (amygdalin, linamarin, </a:t>
            </a:r>
            <a:r>
              <a:rPr lang="en-GB" sz="3600" dirty="0" err="1">
                <a:latin typeface="Roboto" panose="02000000000000000000" pitchFamily="2" charset="0"/>
                <a:ea typeface="Roboto" panose="02000000000000000000" pitchFamily="2" charset="0"/>
                <a:cs typeface="Verdana"/>
              </a:rPr>
              <a:t>sambunigrin</a:t>
            </a:r>
            <a:r>
              <a:rPr lang="en-GB" sz="3600" dirty="0">
                <a:latin typeface="Roboto" panose="02000000000000000000" pitchFamily="2" charset="0"/>
                <a:ea typeface="Roboto" panose="02000000000000000000" pitchFamily="2" charset="0"/>
                <a:cs typeface="Verdana"/>
              </a:rPr>
              <a:t>, taxiphyllin) are organic compounds that get metabolized to hydrogen cyanide (HCN) </a:t>
            </a:r>
          </a:p>
          <a:p>
            <a:pPr marL="598562" indent="-571500">
              <a:spcBef>
                <a:spcPts val="234"/>
              </a:spcBef>
              <a:buFont typeface="Arial" panose="020B0604020202020204" pitchFamily="34" charset="0"/>
              <a:buChar char="•"/>
            </a:pPr>
            <a:r>
              <a:rPr lang="en-GB" sz="3600" dirty="0">
                <a:latin typeface="Roboto" panose="02000000000000000000" pitchFamily="2" charset="0"/>
                <a:ea typeface="Roboto" panose="02000000000000000000" pitchFamily="2" charset="0"/>
                <a:cs typeface="Verdana"/>
              </a:rPr>
              <a:t>These are found in many plant species including Prunus species (cherry pits, apricot kernels, bitter almonds), cassava root, lima beans, and bamboo shoots</a:t>
            </a:r>
          </a:p>
          <a:p>
            <a:pPr marL="598562" indent="-571500">
              <a:spcBef>
                <a:spcPts val="234"/>
              </a:spcBef>
              <a:buFont typeface="Arial" panose="020B0604020202020204" pitchFamily="34" charset="0"/>
              <a:buChar char="•"/>
            </a:pPr>
            <a:r>
              <a:rPr lang="en-GB" sz="3600" dirty="0">
                <a:latin typeface="Roboto" panose="02000000000000000000" pitchFamily="2" charset="0"/>
                <a:ea typeface="Roboto" panose="02000000000000000000" pitchFamily="2" charset="0"/>
                <a:cs typeface="Verdana"/>
              </a:rPr>
              <a:t>The concentration of glycoside and amount of HCN that is released can be highly variable and is often dependant on the plant or seed being damaged or chewed to release the glycoside </a:t>
            </a:r>
          </a:p>
          <a:p>
            <a:pPr marL="598562" indent="-571500">
              <a:spcBef>
                <a:spcPts val="234"/>
              </a:spcBef>
              <a:buFont typeface="Arial" panose="020B0604020202020204" pitchFamily="34" charset="0"/>
              <a:buChar char="•"/>
            </a:pPr>
            <a:r>
              <a:rPr lang="en-GB" sz="3600" dirty="0">
                <a:latin typeface="Roboto" panose="02000000000000000000" pitchFamily="2" charset="0"/>
                <a:ea typeface="Roboto" panose="02000000000000000000" pitchFamily="2" charset="0"/>
                <a:cs typeface="Verdana"/>
              </a:rPr>
              <a:t>The goal of this study is to better understand the severity of </a:t>
            </a:r>
            <a:r>
              <a:rPr lang="en-GB" sz="3600" dirty="0" err="1">
                <a:latin typeface="Roboto" panose="02000000000000000000" pitchFamily="2" charset="0"/>
                <a:ea typeface="Roboto" panose="02000000000000000000" pitchFamily="2" charset="0"/>
                <a:cs typeface="Verdana"/>
              </a:rPr>
              <a:t>pediatric</a:t>
            </a:r>
            <a:r>
              <a:rPr lang="en-GB" sz="3600" dirty="0">
                <a:latin typeface="Roboto" panose="02000000000000000000" pitchFamily="2" charset="0"/>
                <a:ea typeface="Roboto" panose="02000000000000000000" pitchFamily="2" charset="0"/>
                <a:cs typeface="Verdana"/>
              </a:rPr>
              <a:t> exposures to cyanogenic glycosides and to inform management strategies for ingestions in children age less than 6 years</a:t>
            </a:r>
          </a:p>
        </p:txBody>
      </p:sp>
      <p:sp>
        <p:nvSpPr>
          <p:cNvPr id="22" name="TextBox 21">
            <a:extLst>
              <a:ext uri="{FF2B5EF4-FFF2-40B4-BE49-F238E27FC236}">
                <a16:creationId xmlns:a16="http://schemas.microsoft.com/office/drawing/2014/main" id="{FB76B35C-2C25-4398-873D-A062892CA41C}"/>
              </a:ext>
            </a:extLst>
          </p:cNvPr>
          <p:cNvSpPr txBox="1"/>
          <p:nvPr/>
        </p:nvSpPr>
        <p:spPr>
          <a:xfrm>
            <a:off x="1929384" y="18544589"/>
            <a:ext cx="12801600" cy="3970318"/>
          </a:xfrm>
          <a:prstGeom prst="rect">
            <a:avLst/>
          </a:prstGeom>
          <a:noFill/>
        </p:spPr>
        <p:txBody>
          <a:bodyPr wrap="square">
            <a:spAutoFit/>
          </a:bodyPr>
          <a:lstStyle/>
          <a:p>
            <a:pPr marL="571500" indent="-571500" algn="l">
              <a:buFont typeface="Arial" panose="020B0604020202020204" pitchFamily="34" charset="0"/>
              <a:buChar char="•"/>
            </a:pPr>
            <a:r>
              <a:rPr lang="en-GB" sz="3600" dirty="0">
                <a:solidFill>
                  <a:schemeClr val="tx1"/>
                </a:solidFill>
                <a:latin typeface="Roboto" panose="02000000000000000000" pitchFamily="2" charset="0"/>
                <a:ea typeface="Roboto" panose="02000000000000000000" pitchFamily="2" charset="0"/>
              </a:rPr>
              <a:t>Retrospective analysis using the National Poison Data System (NPDS) which houses deidentified case data from all 53 United States Poison </a:t>
            </a:r>
            <a:r>
              <a:rPr lang="en-GB" sz="3600" dirty="0" err="1">
                <a:solidFill>
                  <a:schemeClr val="tx1"/>
                </a:solidFill>
                <a:latin typeface="Roboto" panose="02000000000000000000" pitchFamily="2" charset="0"/>
                <a:ea typeface="Roboto" panose="02000000000000000000" pitchFamily="2" charset="0"/>
              </a:rPr>
              <a:t>Centers</a:t>
            </a:r>
            <a:r>
              <a:rPr lang="en-GB" sz="3600" dirty="0">
                <a:solidFill>
                  <a:schemeClr val="tx1"/>
                </a:solidFill>
                <a:latin typeface="Roboto" panose="02000000000000000000" pitchFamily="2" charset="0"/>
                <a:ea typeface="Roboto" panose="02000000000000000000" pitchFamily="2" charset="0"/>
              </a:rPr>
              <a:t> </a:t>
            </a:r>
          </a:p>
          <a:p>
            <a:pPr marL="571500" indent="-571500" algn="l">
              <a:buFont typeface="Arial" panose="020B0604020202020204" pitchFamily="34" charset="0"/>
              <a:buChar char="•"/>
            </a:pPr>
            <a:r>
              <a:rPr lang="en-GB" sz="3600" dirty="0">
                <a:solidFill>
                  <a:schemeClr val="tx1"/>
                </a:solidFill>
                <a:latin typeface="Roboto" panose="02000000000000000000" pitchFamily="2" charset="0"/>
                <a:ea typeface="Roboto" panose="02000000000000000000" pitchFamily="2" charset="0"/>
              </a:rPr>
              <a:t>Study period January 2005 to December 2024</a:t>
            </a:r>
          </a:p>
          <a:p>
            <a:pPr marL="571500" indent="-571500" algn="l">
              <a:buFont typeface="Arial" panose="020B0604020202020204" pitchFamily="34" charset="0"/>
              <a:buChar char="•"/>
            </a:pPr>
            <a:r>
              <a:rPr lang="en-GB" sz="3600" dirty="0">
                <a:solidFill>
                  <a:schemeClr val="tx1"/>
                </a:solidFill>
                <a:latin typeface="Roboto" panose="02000000000000000000" pitchFamily="2" charset="0"/>
                <a:ea typeface="Roboto" panose="02000000000000000000" pitchFamily="2" charset="0"/>
              </a:rPr>
              <a:t>Inclusion criteria: </a:t>
            </a:r>
          </a:p>
          <a:p>
            <a:pPr marL="1028700" lvl="1" indent="-571500">
              <a:buFont typeface="Courier New" panose="02070309020205020404" pitchFamily="49" charset="0"/>
              <a:buChar char="o"/>
            </a:pPr>
            <a:r>
              <a:rPr lang="en-GB" sz="3600" dirty="0">
                <a:solidFill>
                  <a:schemeClr val="tx1"/>
                </a:solidFill>
                <a:latin typeface="Roboto" panose="02000000000000000000" pitchFamily="2" charset="0"/>
                <a:ea typeface="Roboto" panose="02000000000000000000" pitchFamily="2" charset="0"/>
              </a:rPr>
              <a:t>Patients aged &lt; 6 years </a:t>
            </a:r>
          </a:p>
          <a:p>
            <a:pPr marL="1028700" lvl="1" indent="-571500">
              <a:buFont typeface="Courier New" panose="02070309020205020404" pitchFamily="49" charset="0"/>
              <a:buChar char="o"/>
            </a:pPr>
            <a:r>
              <a:rPr lang="en-GB" sz="3600" dirty="0">
                <a:solidFill>
                  <a:schemeClr val="tx1"/>
                </a:solidFill>
                <a:latin typeface="Roboto" panose="02000000000000000000" pitchFamily="2" charset="0"/>
                <a:ea typeface="Roboto" panose="02000000000000000000" pitchFamily="2" charset="0"/>
              </a:rPr>
              <a:t>Single substance ingestion of cyanogenic plants </a:t>
            </a:r>
          </a:p>
        </p:txBody>
      </p:sp>
      <p:sp>
        <p:nvSpPr>
          <p:cNvPr id="23" name="TextBox 22">
            <a:extLst>
              <a:ext uri="{FF2B5EF4-FFF2-40B4-BE49-F238E27FC236}">
                <a16:creationId xmlns:a16="http://schemas.microsoft.com/office/drawing/2014/main" id="{525E08E0-2DAD-49B0-9272-661C1B53814A}"/>
              </a:ext>
            </a:extLst>
          </p:cNvPr>
          <p:cNvSpPr txBox="1"/>
          <p:nvPr/>
        </p:nvSpPr>
        <p:spPr>
          <a:xfrm>
            <a:off x="1929384" y="32743180"/>
            <a:ext cx="12801600" cy="7848302"/>
          </a:xfrm>
          <a:prstGeom prst="rect">
            <a:avLst/>
          </a:prstGeom>
          <a:noFill/>
        </p:spPr>
        <p:txBody>
          <a:bodyPr wrap="square" rtlCol="0">
            <a:spAutoFit/>
          </a:bodyPr>
          <a:lstStyle/>
          <a:p>
            <a:pPr marL="571500" marR="0" lvl="0" indent="-571500" defTabSz="91440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3600" b="0" i="0" u="none" strike="noStrike" kern="0" cap="none" spc="0" normalizeH="0" baseline="0" noProof="0" dirty="0">
                <a:ln>
                  <a:noFill/>
                </a:ln>
                <a:solidFill>
                  <a:prstClr val="black"/>
                </a:solidFill>
                <a:effectLst/>
                <a:uLnTx/>
                <a:uFillTx/>
                <a:latin typeface="Roboto" panose="02000000000000000000" pitchFamily="2" charset="0"/>
                <a:ea typeface="Roboto" panose="02000000000000000000" pitchFamily="2" charset="0"/>
              </a:rPr>
              <a:t>Study is limited by lack of definitive plant identification and potential for improperly coded data </a:t>
            </a:r>
          </a:p>
          <a:p>
            <a:pPr marL="571500" marR="0" lvl="0" indent="-571500" defTabSz="91440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3600" b="0" i="0" u="none" strike="noStrike" kern="0" cap="none" spc="0" normalizeH="0" baseline="0" noProof="0" dirty="0">
                <a:ln>
                  <a:noFill/>
                </a:ln>
                <a:solidFill>
                  <a:prstClr val="black"/>
                </a:solidFill>
                <a:effectLst/>
                <a:uLnTx/>
                <a:uFillTx/>
                <a:latin typeface="Roboto" panose="02000000000000000000" pitchFamily="2" charset="0"/>
                <a:ea typeface="Roboto" panose="02000000000000000000" pitchFamily="2" charset="0"/>
              </a:rPr>
              <a:t>Majority of cases did not have symptoms and were managed safely at home </a:t>
            </a:r>
          </a:p>
          <a:p>
            <a:pPr marL="571500" marR="0" lvl="0" indent="-571500" defTabSz="91440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3600" b="0" i="0" u="none" strike="noStrike" kern="0" cap="none" spc="0" normalizeH="0" baseline="0" noProof="0" dirty="0">
                <a:ln>
                  <a:noFill/>
                </a:ln>
                <a:solidFill>
                  <a:prstClr val="black"/>
                </a:solidFill>
                <a:effectLst/>
                <a:uLnTx/>
                <a:uFillTx/>
                <a:latin typeface="Roboto" panose="02000000000000000000" pitchFamily="2" charset="0"/>
                <a:ea typeface="Roboto" panose="02000000000000000000" pitchFamily="2" charset="0"/>
              </a:rPr>
              <a:t>Vomiting and abdominal pain were the most </a:t>
            </a:r>
            <a:r>
              <a:rPr lang="en-GB" sz="3600" kern="0" dirty="0">
                <a:solidFill>
                  <a:prstClr val="black"/>
                </a:solidFill>
                <a:latin typeface="Roboto" panose="02000000000000000000" pitchFamily="2" charset="0"/>
                <a:ea typeface="Roboto" panose="02000000000000000000" pitchFamily="2" charset="0"/>
              </a:rPr>
              <a:t>commonly reported symptoms </a:t>
            </a:r>
            <a:endParaRPr kumimoji="0" lang="en-GB" sz="3600" b="0" i="0" u="none" strike="noStrike" kern="0" cap="none" spc="0" normalizeH="0" baseline="0" noProof="0" dirty="0">
              <a:ln>
                <a:noFill/>
              </a:ln>
              <a:solidFill>
                <a:prstClr val="black"/>
              </a:solidFill>
              <a:effectLst/>
              <a:uLnTx/>
              <a:uFillTx/>
              <a:latin typeface="Roboto" panose="02000000000000000000" pitchFamily="2" charset="0"/>
              <a:ea typeface="Roboto" panose="02000000000000000000" pitchFamily="2" charset="0"/>
            </a:endParaRPr>
          </a:p>
          <a:p>
            <a:pPr marL="571500" marR="0" lvl="0" indent="-571500" defTabSz="91440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600" dirty="0">
                <a:solidFill>
                  <a:prstClr val="black"/>
                </a:solidFill>
                <a:latin typeface="Roboto" panose="02000000000000000000" pitchFamily="2" charset="0"/>
                <a:ea typeface="Roboto" panose="02000000000000000000" pitchFamily="2" charset="0"/>
              </a:rPr>
              <a:t>S</a:t>
            </a:r>
            <a:r>
              <a:rPr kumimoji="0" lang="en-GB" sz="3600" b="0" i="0" u="none" strike="noStrike" kern="0" cap="none" spc="0" normalizeH="0" baseline="0" noProof="0" dirty="0" err="1">
                <a:ln>
                  <a:noFill/>
                </a:ln>
                <a:solidFill>
                  <a:prstClr val="black"/>
                </a:solidFill>
                <a:effectLst/>
                <a:uLnTx/>
                <a:uFillTx/>
                <a:latin typeface="Roboto" panose="02000000000000000000" pitchFamily="2" charset="0"/>
                <a:ea typeface="Roboto" panose="02000000000000000000" pitchFamily="2" charset="0"/>
              </a:rPr>
              <a:t>evere</a:t>
            </a:r>
            <a:r>
              <a:rPr kumimoji="0" lang="en-GB" sz="3600" b="0" i="0" u="none" strike="noStrike" kern="0" cap="none" spc="0" normalizeH="0" baseline="0" noProof="0" dirty="0">
                <a:ln>
                  <a:noFill/>
                </a:ln>
                <a:solidFill>
                  <a:prstClr val="black"/>
                </a:solidFill>
                <a:effectLst/>
                <a:uLnTx/>
                <a:uFillTx/>
                <a:latin typeface="Roboto" panose="02000000000000000000" pitchFamily="2" charset="0"/>
                <a:ea typeface="Roboto" panose="02000000000000000000" pitchFamily="2" charset="0"/>
              </a:rPr>
              <a:t> symptoms were rare and h</a:t>
            </a:r>
            <a:r>
              <a:rPr lang="en-GB" sz="3600" dirty="0" err="1">
                <a:solidFill>
                  <a:prstClr val="black"/>
                </a:solidFill>
                <a:latin typeface="Roboto" panose="02000000000000000000" pitchFamily="2" charset="0"/>
                <a:ea typeface="Roboto" panose="02000000000000000000" pitchFamily="2" charset="0"/>
              </a:rPr>
              <a:t>ydroxocobalamin</a:t>
            </a:r>
            <a:r>
              <a:rPr lang="en-GB" sz="3600" dirty="0">
                <a:solidFill>
                  <a:prstClr val="black"/>
                </a:solidFill>
                <a:latin typeface="Roboto" panose="02000000000000000000" pitchFamily="2" charset="0"/>
                <a:ea typeface="Roboto" panose="02000000000000000000" pitchFamily="2" charset="0"/>
              </a:rPr>
              <a:t> was administered in only 2 cases of 51,703 </a:t>
            </a:r>
          </a:p>
          <a:p>
            <a:pPr marL="571500" marR="0" lvl="0" indent="-571500" defTabSz="91440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600" dirty="0">
                <a:solidFill>
                  <a:prstClr val="black"/>
                </a:solidFill>
                <a:latin typeface="Roboto" panose="02000000000000000000" pitchFamily="2" charset="0"/>
                <a:ea typeface="Roboto" panose="02000000000000000000" pitchFamily="2" charset="0"/>
              </a:rPr>
              <a:t>No deaths were reported despite cardiac arrest being reported as a symptom </a:t>
            </a:r>
          </a:p>
          <a:p>
            <a:pPr marL="571500" marR="0" lvl="0" indent="-571500" defTabSz="91440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600" dirty="0">
                <a:solidFill>
                  <a:prstClr val="black"/>
                </a:solidFill>
                <a:latin typeface="Roboto" panose="02000000000000000000" pitchFamily="2" charset="0"/>
                <a:ea typeface="Roboto" panose="02000000000000000000" pitchFamily="2" charset="0"/>
              </a:rPr>
              <a:t>Further research is needed to identify predictors of severe presentations </a:t>
            </a:r>
            <a:r>
              <a:rPr kumimoji="0" lang="en-GB" sz="3600" b="0" i="0" u="none" strike="noStrike" kern="0" cap="none" spc="0" normalizeH="0" baseline="0" noProof="0" dirty="0">
                <a:ln>
                  <a:noFill/>
                </a:ln>
                <a:solidFill>
                  <a:prstClr val="black"/>
                </a:solidFill>
                <a:effectLst/>
                <a:uLnTx/>
                <a:uFillTx/>
                <a:latin typeface="Roboto" panose="02000000000000000000" pitchFamily="2" charset="0"/>
                <a:ea typeface="Roboto" panose="02000000000000000000" pitchFamily="2" charset="0"/>
              </a:rPr>
              <a:t> </a:t>
            </a:r>
          </a:p>
          <a:p>
            <a:pPr marL="571500" marR="0" lvl="0" indent="-571500" defTabSz="91440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600" kern="0" dirty="0">
                <a:solidFill>
                  <a:prstClr val="black"/>
                </a:solidFill>
                <a:latin typeface="Roboto" panose="02000000000000000000" pitchFamily="2" charset="0"/>
                <a:ea typeface="Roboto" panose="02000000000000000000" pitchFamily="2" charset="0"/>
              </a:rPr>
              <a:t>This data supports home management of asymptomatic </a:t>
            </a:r>
            <a:r>
              <a:rPr lang="en-GB" sz="3600" kern="0" dirty="0" err="1">
                <a:solidFill>
                  <a:prstClr val="black"/>
                </a:solidFill>
                <a:latin typeface="Roboto" panose="02000000000000000000" pitchFamily="2" charset="0"/>
                <a:ea typeface="Roboto" panose="02000000000000000000" pitchFamily="2" charset="0"/>
              </a:rPr>
              <a:t>pediatric</a:t>
            </a:r>
            <a:r>
              <a:rPr lang="en-GB" sz="3600" kern="0" dirty="0">
                <a:solidFill>
                  <a:prstClr val="black"/>
                </a:solidFill>
                <a:latin typeface="Roboto" panose="02000000000000000000" pitchFamily="2" charset="0"/>
                <a:ea typeface="Roboto" panose="02000000000000000000" pitchFamily="2" charset="0"/>
              </a:rPr>
              <a:t> ingestions of cyanogenic glycosides </a:t>
            </a:r>
            <a:endParaRPr kumimoji="0" lang="en-GB" sz="3600" b="0" i="0" u="none" strike="noStrike" kern="0" cap="none" spc="0" normalizeH="0" baseline="0" noProof="0" dirty="0">
              <a:ln>
                <a:noFill/>
              </a:ln>
              <a:solidFill>
                <a:prstClr val="black"/>
              </a:solidFill>
              <a:effectLst/>
              <a:uLnTx/>
              <a:uFillTx/>
              <a:latin typeface="Roboto" panose="02000000000000000000" pitchFamily="2" charset="0"/>
              <a:ea typeface="Roboto" panose="02000000000000000000" pitchFamily="2" charset="0"/>
            </a:endParaRPr>
          </a:p>
        </p:txBody>
      </p:sp>
      <p:pic>
        <p:nvPicPr>
          <p:cNvPr id="25" name="Immagine 30" descr="Immagine che contiene clipart, cartone animato, testo, Carattere&#10;&#10;Il contenuto generato dall'IA potrebbe non essere corretto.">
            <a:extLst>
              <a:ext uri="{FF2B5EF4-FFF2-40B4-BE49-F238E27FC236}">
                <a16:creationId xmlns:a16="http://schemas.microsoft.com/office/drawing/2014/main" id="{9BB21CEB-D096-4B4E-AD64-68F44F17F22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5458821" y="38126257"/>
            <a:ext cx="2841867" cy="3037858"/>
          </a:xfrm>
          <a:prstGeom prst="rect">
            <a:avLst/>
          </a:prstGeom>
        </p:spPr>
      </p:pic>
      <p:graphicFrame>
        <p:nvGraphicFramePr>
          <p:cNvPr id="26" name="Table 25">
            <a:extLst>
              <a:ext uri="{FF2B5EF4-FFF2-40B4-BE49-F238E27FC236}">
                <a16:creationId xmlns:a16="http://schemas.microsoft.com/office/drawing/2014/main" id="{A7CD62AD-5650-4645-B8B8-4718514EC674}"/>
              </a:ext>
            </a:extLst>
          </p:cNvPr>
          <p:cNvGraphicFramePr>
            <a:graphicFrameLocks noGrp="1"/>
          </p:cNvGraphicFramePr>
          <p:nvPr>
            <p:extLst>
              <p:ext uri="{D42A27DB-BD31-4B8C-83A1-F6EECF244321}">
                <p14:modId xmlns:p14="http://schemas.microsoft.com/office/powerpoint/2010/main" val="2286790578"/>
              </p:ext>
            </p:extLst>
          </p:nvPr>
        </p:nvGraphicFramePr>
        <p:xfrm>
          <a:off x="15387402" y="18159984"/>
          <a:ext cx="13023191" cy="3535680"/>
        </p:xfrm>
        <a:graphic>
          <a:graphicData uri="http://schemas.openxmlformats.org/drawingml/2006/table">
            <a:tbl>
              <a:tblPr firstRow="1" bandRow="1">
                <a:tableStyleId>{5C22544A-7EE6-4342-B048-85BDC9FD1C3A}</a:tableStyleId>
              </a:tblPr>
              <a:tblGrid>
                <a:gridCol w="8145775">
                  <a:extLst>
                    <a:ext uri="{9D8B030D-6E8A-4147-A177-3AD203B41FA5}">
                      <a16:colId xmlns:a16="http://schemas.microsoft.com/office/drawing/2014/main" val="3551171942"/>
                    </a:ext>
                  </a:extLst>
                </a:gridCol>
                <a:gridCol w="4877416">
                  <a:extLst>
                    <a:ext uri="{9D8B030D-6E8A-4147-A177-3AD203B41FA5}">
                      <a16:colId xmlns:a16="http://schemas.microsoft.com/office/drawing/2014/main" val="66640510"/>
                    </a:ext>
                  </a:extLst>
                </a:gridCol>
              </a:tblGrid>
              <a:tr h="290116">
                <a:tc gridSpan="2">
                  <a:txBody>
                    <a:bodyPr/>
                    <a:lstStyle/>
                    <a:p>
                      <a:r>
                        <a:rPr lang="en-US" sz="2800" dirty="0">
                          <a:latin typeface="Roboto" panose="02000000000000000000" pitchFamily="2" charset="0"/>
                          <a:ea typeface="Roboto" panose="02000000000000000000" pitchFamily="2" charset="0"/>
                        </a:rPr>
                        <a:t>Table 1. Disposition reported for pediatric cyanogenic glycoside ingestions </a:t>
                      </a:r>
                    </a:p>
                  </a:txBody>
                  <a:tcPr anchor="ctr"/>
                </a:tc>
                <a:tc hMerge="1">
                  <a:txBody>
                    <a:bodyPr/>
                    <a:lstStyle/>
                    <a:p>
                      <a:endParaRPr lang="en-US" sz="2400" dirty="0">
                        <a:latin typeface="Verdana" panose="020B0604030504040204" pitchFamily="34" charset="0"/>
                        <a:ea typeface="Verdana" panose="020B0604030504040204" pitchFamily="34" charset="0"/>
                      </a:endParaRPr>
                    </a:p>
                  </a:txBody>
                  <a:tcPr anchor="ctr"/>
                </a:tc>
                <a:extLst>
                  <a:ext uri="{0D108BD9-81ED-4DB2-BD59-A6C34878D82A}">
                    <a16:rowId xmlns:a16="http://schemas.microsoft.com/office/drawing/2014/main" val="2005164741"/>
                  </a:ext>
                </a:extLst>
              </a:tr>
              <a:tr h="290116">
                <a:tc>
                  <a:txBody>
                    <a:bodyPr/>
                    <a:lstStyle/>
                    <a:p>
                      <a:r>
                        <a:rPr lang="en-US" sz="2800" dirty="0">
                          <a:latin typeface="Roboto" panose="02000000000000000000" pitchFamily="2" charset="0"/>
                          <a:ea typeface="Roboto" panose="02000000000000000000" pitchFamily="2" charset="0"/>
                        </a:rPr>
                        <a:t>DISPOSITION</a:t>
                      </a:r>
                    </a:p>
                  </a:txBody>
                  <a:tcPr anchor="ctr"/>
                </a:tc>
                <a:tc>
                  <a:txBody>
                    <a:bodyPr/>
                    <a:lstStyle/>
                    <a:p>
                      <a:r>
                        <a:rPr lang="en-US" sz="2800" dirty="0">
                          <a:latin typeface="Roboto" panose="02000000000000000000" pitchFamily="2" charset="0"/>
                          <a:ea typeface="Roboto" panose="02000000000000000000" pitchFamily="2" charset="0"/>
                        </a:rPr>
                        <a:t>NUMBER (%)</a:t>
                      </a:r>
                    </a:p>
                    <a:p>
                      <a:r>
                        <a:rPr lang="en-US" sz="2800" dirty="0">
                          <a:latin typeface="Roboto" panose="02000000000000000000" pitchFamily="2" charset="0"/>
                          <a:ea typeface="Roboto" panose="02000000000000000000" pitchFamily="2" charset="0"/>
                        </a:rPr>
                        <a:t>N= 51,703</a:t>
                      </a:r>
                    </a:p>
                  </a:txBody>
                  <a:tcPr anchor="ctr"/>
                </a:tc>
                <a:extLst>
                  <a:ext uri="{0D108BD9-81ED-4DB2-BD59-A6C34878D82A}">
                    <a16:rowId xmlns:a16="http://schemas.microsoft.com/office/drawing/2014/main" val="3613821077"/>
                  </a:ext>
                </a:extLst>
              </a:tr>
              <a:tr h="370840">
                <a:tc>
                  <a:txBody>
                    <a:bodyPr/>
                    <a:lstStyle/>
                    <a:p>
                      <a:r>
                        <a:rPr lang="en-US" sz="2800" dirty="0">
                          <a:latin typeface="Roboto" panose="02000000000000000000" pitchFamily="2" charset="0"/>
                          <a:ea typeface="Roboto" panose="02000000000000000000" pitchFamily="2" charset="0"/>
                        </a:rPr>
                        <a:t>Managed on Site </a:t>
                      </a:r>
                    </a:p>
                  </a:txBody>
                  <a:tcPr anchor="ctr"/>
                </a:tc>
                <a:tc>
                  <a:txBody>
                    <a:bodyPr/>
                    <a:lstStyle/>
                    <a:p>
                      <a:r>
                        <a:rPr lang="en-US" sz="2800" dirty="0">
                          <a:latin typeface="Roboto" panose="02000000000000000000" pitchFamily="2" charset="0"/>
                          <a:ea typeface="Roboto" panose="02000000000000000000" pitchFamily="2" charset="0"/>
                        </a:rPr>
                        <a:t>49,976 (96.7%)</a:t>
                      </a:r>
                    </a:p>
                  </a:txBody>
                  <a:tcPr anchor="ctr"/>
                </a:tc>
                <a:extLst>
                  <a:ext uri="{0D108BD9-81ED-4DB2-BD59-A6C34878D82A}">
                    <a16:rowId xmlns:a16="http://schemas.microsoft.com/office/drawing/2014/main" val="2336774200"/>
                  </a:ext>
                </a:extLst>
              </a:tr>
              <a:tr h="370840">
                <a:tc>
                  <a:txBody>
                    <a:bodyPr/>
                    <a:lstStyle/>
                    <a:p>
                      <a:r>
                        <a:rPr lang="en-US" sz="2800" dirty="0">
                          <a:latin typeface="Roboto" panose="02000000000000000000" pitchFamily="2" charset="0"/>
                          <a:ea typeface="Roboto" panose="02000000000000000000" pitchFamily="2" charset="0"/>
                        </a:rPr>
                        <a:t>Treated/ Evaluated and Released </a:t>
                      </a:r>
                    </a:p>
                  </a:txBody>
                  <a:tcPr anchor="ctr"/>
                </a:tc>
                <a:tc>
                  <a:txBody>
                    <a:bodyPr/>
                    <a:lstStyle/>
                    <a:p>
                      <a:r>
                        <a:rPr lang="en-US" sz="2800" dirty="0">
                          <a:latin typeface="Roboto" panose="02000000000000000000" pitchFamily="2" charset="0"/>
                          <a:ea typeface="Roboto" panose="02000000000000000000" pitchFamily="2" charset="0"/>
                        </a:rPr>
                        <a:t>1,294 (2.5%)</a:t>
                      </a:r>
                    </a:p>
                  </a:txBody>
                  <a:tcPr anchor="ctr"/>
                </a:tc>
                <a:extLst>
                  <a:ext uri="{0D108BD9-81ED-4DB2-BD59-A6C34878D82A}">
                    <a16:rowId xmlns:a16="http://schemas.microsoft.com/office/drawing/2014/main" val="1667020595"/>
                  </a:ext>
                </a:extLst>
              </a:tr>
              <a:tr h="370840">
                <a:tc>
                  <a:txBody>
                    <a:bodyPr/>
                    <a:lstStyle/>
                    <a:p>
                      <a:r>
                        <a:rPr lang="en-US" sz="2800" dirty="0">
                          <a:latin typeface="Roboto" panose="02000000000000000000" pitchFamily="2" charset="0"/>
                          <a:ea typeface="Roboto" panose="02000000000000000000" pitchFamily="2" charset="0"/>
                        </a:rPr>
                        <a:t>Admitted to Noncritical Care Unit</a:t>
                      </a:r>
                    </a:p>
                  </a:txBody>
                  <a:tcPr anchor="ctr"/>
                </a:tc>
                <a:tc>
                  <a:txBody>
                    <a:bodyPr/>
                    <a:lstStyle/>
                    <a:p>
                      <a:r>
                        <a:rPr lang="en-US" sz="2800" dirty="0">
                          <a:latin typeface="Roboto" panose="02000000000000000000" pitchFamily="2" charset="0"/>
                          <a:ea typeface="Roboto" panose="02000000000000000000" pitchFamily="2" charset="0"/>
                        </a:rPr>
                        <a:t>36 (0.07%)</a:t>
                      </a:r>
                    </a:p>
                  </a:txBody>
                  <a:tcPr anchor="ctr"/>
                </a:tc>
                <a:extLst>
                  <a:ext uri="{0D108BD9-81ED-4DB2-BD59-A6C34878D82A}">
                    <a16:rowId xmlns:a16="http://schemas.microsoft.com/office/drawing/2014/main" val="4051826202"/>
                  </a:ext>
                </a:extLst>
              </a:tr>
              <a:tr h="289720">
                <a:tc>
                  <a:txBody>
                    <a:bodyPr/>
                    <a:lstStyle/>
                    <a:p>
                      <a:r>
                        <a:rPr lang="en-US" sz="2800" dirty="0">
                          <a:latin typeface="Roboto" panose="02000000000000000000" pitchFamily="2" charset="0"/>
                          <a:ea typeface="Roboto" panose="02000000000000000000" pitchFamily="2" charset="0"/>
                        </a:rPr>
                        <a:t>Admitted to Critical Care Unit</a:t>
                      </a:r>
                    </a:p>
                  </a:txBody>
                  <a:tcPr anchor="ctr"/>
                </a:tc>
                <a:tc>
                  <a:txBody>
                    <a:bodyPr/>
                    <a:lstStyle/>
                    <a:p>
                      <a:r>
                        <a:rPr lang="en-US" sz="2800" dirty="0">
                          <a:latin typeface="Roboto" panose="02000000000000000000" pitchFamily="2" charset="0"/>
                          <a:ea typeface="Roboto" panose="02000000000000000000" pitchFamily="2" charset="0"/>
                        </a:rPr>
                        <a:t>18 (0.04%)</a:t>
                      </a:r>
                    </a:p>
                  </a:txBody>
                  <a:tcPr anchor="ctr"/>
                </a:tc>
                <a:extLst>
                  <a:ext uri="{0D108BD9-81ED-4DB2-BD59-A6C34878D82A}">
                    <a16:rowId xmlns:a16="http://schemas.microsoft.com/office/drawing/2014/main" val="3114776457"/>
                  </a:ext>
                </a:extLst>
              </a:tr>
            </a:tbl>
          </a:graphicData>
        </a:graphic>
      </p:graphicFrame>
      <p:graphicFrame>
        <p:nvGraphicFramePr>
          <p:cNvPr id="27" name="Table 26">
            <a:extLst>
              <a:ext uri="{FF2B5EF4-FFF2-40B4-BE49-F238E27FC236}">
                <a16:creationId xmlns:a16="http://schemas.microsoft.com/office/drawing/2014/main" id="{19DC1188-41DC-4643-97E9-1E0D7D36C3A5}"/>
              </a:ext>
            </a:extLst>
          </p:cNvPr>
          <p:cNvGraphicFramePr>
            <a:graphicFrameLocks noGrp="1"/>
          </p:cNvGraphicFramePr>
          <p:nvPr>
            <p:extLst>
              <p:ext uri="{D42A27DB-BD31-4B8C-83A1-F6EECF244321}">
                <p14:modId xmlns:p14="http://schemas.microsoft.com/office/powerpoint/2010/main" val="1926204092"/>
              </p:ext>
            </p:extLst>
          </p:nvPr>
        </p:nvGraphicFramePr>
        <p:xfrm>
          <a:off x="15384540" y="22023296"/>
          <a:ext cx="12997540" cy="5516880"/>
        </p:xfrm>
        <a:graphic>
          <a:graphicData uri="http://schemas.openxmlformats.org/drawingml/2006/table">
            <a:tbl>
              <a:tblPr firstRow="1" bandRow="1">
                <a:tableStyleId>{5C22544A-7EE6-4342-B048-85BDC9FD1C3A}</a:tableStyleId>
              </a:tblPr>
              <a:tblGrid>
                <a:gridCol w="8177080">
                  <a:extLst>
                    <a:ext uri="{9D8B030D-6E8A-4147-A177-3AD203B41FA5}">
                      <a16:colId xmlns:a16="http://schemas.microsoft.com/office/drawing/2014/main" val="1596263756"/>
                    </a:ext>
                  </a:extLst>
                </a:gridCol>
                <a:gridCol w="4820460">
                  <a:extLst>
                    <a:ext uri="{9D8B030D-6E8A-4147-A177-3AD203B41FA5}">
                      <a16:colId xmlns:a16="http://schemas.microsoft.com/office/drawing/2014/main" val="2048375658"/>
                    </a:ext>
                  </a:extLst>
                </a:gridCol>
              </a:tblGrid>
              <a:tr h="370840">
                <a:tc gridSpan="2">
                  <a:txBody>
                    <a:bodyPr/>
                    <a:lstStyle/>
                    <a:p>
                      <a:r>
                        <a:rPr lang="en-US" sz="2800" dirty="0">
                          <a:latin typeface="Roboto" panose="02000000000000000000" pitchFamily="2" charset="0"/>
                          <a:ea typeface="Roboto" panose="02000000000000000000" pitchFamily="2" charset="0"/>
                        </a:rPr>
                        <a:t>Table 2. Medical outcomes for pediatric cyanogenic glycoside ingestions</a:t>
                      </a:r>
                    </a:p>
                  </a:txBody>
                  <a:tcPr anchor="ctr"/>
                </a:tc>
                <a:tc hMerge="1">
                  <a:txBody>
                    <a:bodyPr/>
                    <a:lstStyle/>
                    <a:p>
                      <a:endParaRPr lang="en-US" sz="2400" dirty="0">
                        <a:latin typeface="Verdana" panose="020B0604030504040204" pitchFamily="34" charset="0"/>
                        <a:ea typeface="Verdana" panose="020B0604030504040204" pitchFamily="34" charset="0"/>
                      </a:endParaRPr>
                    </a:p>
                  </a:txBody>
                  <a:tcPr/>
                </a:tc>
                <a:extLst>
                  <a:ext uri="{0D108BD9-81ED-4DB2-BD59-A6C34878D82A}">
                    <a16:rowId xmlns:a16="http://schemas.microsoft.com/office/drawing/2014/main" val="4120137517"/>
                  </a:ext>
                </a:extLst>
              </a:tr>
              <a:tr h="370840">
                <a:tc>
                  <a:txBody>
                    <a:bodyPr/>
                    <a:lstStyle/>
                    <a:p>
                      <a:r>
                        <a:rPr lang="en-US" sz="2800" dirty="0">
                          <a:latin typeface="Roboto" panose="02000000000000000000" pitchFamily="2" charset="0"/>
                          <a:ea typeface="Roboto" panose="02000000000000000000" pitchFamily="2" charset="0"/>
                        </a:rPr>
                        <a:t>MEDICAL OUTCOME</a:t>
                      </a:r>
                    </a:p>
                  </a:txBody>
                  <a:tcPr anchor="ctr"/>
                </a:tc>
                <a:tc>
                  <a:txBody>
                    <a:bodyPr/>
                    <a:lstStyle/>
                    <a:p>
                      <a:r>
                        <a:rPr lang="en-US" sz="2800" dirty="0">
                          <a:latin typeface="Roboto" panose="02000000000000000000" pitchFamily="2" charset="0"/>
                          <a:ea typeface="Roboto" panose="02000000000000000000" pitchFamily="2" charset="0"/>
                        </a:rPr>
                        <a:t>NUMBER (%)</a:t>
                      </a:r>
                    </a:p>
                    <a:p>
                      <a:r>
                        <a:rPr lang="en-US" sz="2800" dirty="0">
                          <a:latin typeface="Roboto" panose="02000000000000000000" pitchFamily="2" charset="0"/>
                          <a:ea typeface="Roboto" panose="02000000000000000000" pitchFamily="2" charset="0"/>
                        </a:rPr>
                        <a:t>N= 51,703</a:t>
                      </a:r>
                    </a:p>
                  </a:txBody>
                  <a:tcPr anchor="ctr"/>
                </a:tc>
                <a:extLst>
                  <a:ext uri="{0D108BD9-81ED-4DB2-BD59-A6C34878D82A}">
                    <a16:rowId xmlns:a16="http://schemas.microsoft.com/office/drawing/2014/main" val="1833822423"/>
                  </a:ext>
                </a:extLst>
              </a:tr>
              <a:tr h="370840">
                <a:tc>
                  <a:txBody>
                    <a:bodyPr/>
                    <a:lstStyle/>
                    <a:p>
                      <a:r>
                        <a:rPr lang="en-US" sz="2800" dirty="0">
                          <a:latin typeface="Roboto" panose="02000000000000000000" pitchFamily="2" charset="0"/>
                          <a:ea typeface="Roboto" panose="02000000000000000000" pitchFamily="2" charset="0"/>
                        </a:rPr>
                        <a:t>Not followed (judged as non toxic exposure)</a:t>
                      </a:r>
                    </a:p>
                  </a:txBody>
                  <a:tcPr anchor="ctr"/>
                </a:tc>
                <a:tc>
                  <a:txBody>
                    <a:bodyPr/>
                    <a:lstStyle/>
                    <a:p>
                      <a:r>
                        <a:rPr lang="en-US" sz="2800" dirty="0">
                          <a:latin typeface="Roboto" panose="02000000000000000000" pitchFamily="2" charset="0"/>
                          <a:ea typeface="Roboto" panose="02000000000000000000" pitchFamily="2" charset="0"/>
                        </a:rPr>
                        <a:t>13,505 (26.1%)</a:t>
                      </a:r>
                    </a:p>
                  </a:txBody>
                  <a:tcPr anchor="ctr"/>
                </a:tc>
                <a:extLst>
                  <a:ext uri="{0D108BD9-81ED-4DB2-BD59-A6C34878D82A}">
                    <a16:rowId xmlns:a16="http://schemas.microsoft.com/office/drawing/2014/main" val="1933245010"/>
                  </a:ext>
                </a:extLst>
              </a:tr>
              <a:tr h="370840">
                <a:tc>
                  <a:txBody>
                    <a:bodyPr/>
                    <a:lstStyle/>
                    <a:p>
                      <a:r>
                        <a:rPr lang="en-US" sz="2800" dirty="0">
                          <a:latin typeface="Roboto" panose="02000000000000000000" pitchFamily="2" charset="0"/>
                          <a:ea typeface="Roboto" panose="02000000000000000000" pitchFamily="2" charset="0"/>
                        </a:rPr>
                        <a:t>Not followed (judged as minimal clinical effects possible)</a:t>
                      </a:r>
                    </a:p>
                  </a:txBody>
                  <a:tcPr anchor="ctr"/>
                </a:tc>
                <a:tc>
                  <a:txBody>
                    <a:bodyPr/>
                    <a:lstStyle/>
                    <a:p>
                      <a:r>
                        <a:rPr lang="en-US" sz="2800" dirty="0">
                          <a:latin typeface="Roboto" panose="02000000000000000000" pitchFamily="2" charset="0"/>
                          <a:ea typeface="Roboto" panose="02000000000000000000" pitchFamily="2" charset="0"/>
                        </a:rPr>
                        <a:t>24,655 (47.7%)</a:t>
                      </a:r>
                    </a:p>
                  </a:txBody>
                  <a:tcPr anchor="ctr"/>
                </a:tc>
                <a:extLst>
                  <a:ext uri="{0D108BD9-81ED-4DB2-BD59-A6C34878D82A}">
                    <a16:rowId xmlns:a16="http://schemas.microsoft.com/office/drawing/2014/main" val="3733758863"/>
                  </a:ext>
                </a:extLst>
              </a:tr>
              <a:tr h="370840">
                <a:tc>
                  <a:txBody>
                    <a:bodyPr/>
                    <a:lstStyle/>
                    <a:p>
                      <a:r>
                        <a:rPr lang="en-US" sz="2800" dirty="0">
                          <a:latin typeface="Roboto" panose="02000000000000000000" pitchFamily="2" charset="0"/>
                          <a:ea typeface="Roboto" panose="02000000000000000000" pitchFamily="2" charset="0"/>
                        </a:rPr>
                        <a:t>No effect </a:t>
                      </a:r>
                    </a:p>
                  </a:txBody>
                  <a:tcPr anchor="ctr"/>
                </a:tc>
                <a:tc>
                  <a:txBody>
                    <a:bodyPr/>
                    <a:lstStyle/>
                    <a:p>
                      <a:r>
                        <a:rPr lang="en-US" sz="2800" dirty="0">
                          <a:latin typeface="Roboto" panose="02000000000000000000" pitchFamily="2" charset="0"/>
                          <a:ea typeface="Roboto" panose="02000000000000000000" pitchFamily="2" charset="0"/>
                        </a:rPr>
                        <a:t>10,844 (21.0%)</a:t>
                      </a:r>
                    </a:p>
                  </a:txBody>
                  <a:tcPr anchor="ctr"/>
                </a:tc>
                <a:extLst>
                  <a:ext uri="{0D108BD9-81ED-4DB2-BD59-A6C34878D82A}">
                    <a16:rowId xmlns:a16="http://schemas.microsoft.com/office/drawing/2014/main" val="3063142453"/>
                  </a:ext>
                </a:extLst>
              </a:tr>
              <a:tr h="370840">
                <a:tc>
                  <a:txBody>
                    <a:bodyPr/>
                    <a:lstStyle/>
                    <a:p>
                      <a:r>
                        <a:rPr lang="en-US" sz="2800" dirty="0">
                          <a:latin typeface="Roboto" panose="02000000000000000000" pitchFamily="2" charset="0"/>
                          <a:ea typeface="Roboto" panose="02000000000000000000" pitchFamily="2" charset="0"/>
                        </a:rPr>
                        <a:t>Minor effects </a:t>
                      </a:r>
                    </a:p>
                  </a:txBody>
                  <a:tcPr anchor="ctr"/>
                </a:tc>
                <a:tc>
                  <a:txBody>
                    <a:bodyPr/>
                    <a:lstStyle/>
                    <a:p>
                      <a:r>
                        <a:rPr lang="en-US" sz="2800" dirty="0">
                          <a:latin typeface="Roboto" panose="02000000000000000000" pitchFamily="2" charset="0"/>
                          <a:ea typeface="Roboto" panose="02000000000000000000" pitchFamily="2" charset="0"/>
                        </a:rPr>
                        <a:t>1,133 (2.2%)</a:t>
                      </a:r>
                    </a:p>
                  </a:txBody>
                  <a:tcPr anchor="ctr"/>
                </a:tc>
                <a:extLst>
                  <a:ext uri="{0D108BD9-81ED-4DB2-BD59-A6C34878D82A}">
                    <a16:rowId xmlns:a16="http://schemas.microsoft.com/office/drawing/2014/main" val="1262355364"/>
                  </a:ext>
                </a:extLst>
              </a:tr>
              <a:tr h="370840">
                <a:tc>
                  <a:txBody>
                    <a:bodyPr/>
                    <a:lstStyle/>
                    <a:p>
                      <a:r>
                        <a:rPr lang="en-US" sz="2800" dirty="0">
                          <a:latin typeface="Roboto" panose="02000000000000000000" pitchFamily="2" charset="0"/>
                          <a:ea typeface="Roboto" panose="02000000000000000000" pitchFamily="2" charset="0"/>
                        </a:rPr>
                        <a:t>Moderate effects </a:t>
                      </a:r>
                    </a:p>
                  </a:txBody>
                  <a:tcPr anchor="ctr"/>
                </a:tc>
                <a:tc>
                  <a:txBody>
                    <a:bodyPr/>
                    <a:lstStyle/>
                    <a:p>
                      <a:r>
                        <a:rPr lang="en-US" sz="2800" dirty="0">
                          <a:latin typeface="Roboto" panose="02000000000000000000" pitchFamily="2" charset="0"/>
                          <a:ea typeface="Roboto" panose="02000000000000000000" pitchFamily="2" charset="0"/>
                        </a:rPr>
                        <a:t>75 (0.15%)</a:t>
                      </a:r>
                    </a:p>
                  </a:txBody>
                  <a:tcPr anchor="ctr"/>
                </a:tc>
                <a:extLst>
                  <a:ext uri="{0D108BD9-81ED-4DB2-BD59-A6C34878D82A}">
                    <a16:rowId xmlns:a16="http://schemas.microsoft.com/office/drawing/2014/main" val="2041390474"/>
                  </a:ext>
                </a:extLst>
              </a:tr>
              <a:tr h="370840">
                <a:tc>
                  <a:txBody>
                    <a:bodyPr/>
                    <a:lstStyle/>
                    <a:p>
                      <a:r>
                        <a:rPr lang="en-US" sz="2800" dirty="0">
                          <a:latin typeface="Roboto" panose="02000000000000000000" pitchFamily="2" charset="0"/>
                          <a:ea typeface="Roboto" panose="02000000000000000000" pitchFamily="2" charset="0"/>
                        </a:rPr>
                        <a:t>Major effects </a:t>
                      </a:r>
                    </a:p>
                  </a:txBody>
                  <a:tcPr anchor="ctr"/>
                </a:tc>
                <a:tc>
                  <a:txBody>
                    <a:bodyPr/>
                    <a:lstStyle/>
                    <a:p>
                      <a:r>
                        <a:rPr lang="en-US" sz="2800" dirty="0">
                          <a:latin typeface="Roboto" panose="02000000000000000000" pitchFamily="2" charset="0"/>
                          <a:ea typeface="Roboto" panose="02000000000000000000" pitchFamily="2" charset="0"/>
                        </a:rPr>
                        <a:t>1 (0.002%)</a:t>
                      </a:r>
                    </a:p>
                  </a:txBody>
                  <a:tcPr anchor="ctr"/>
                </a:tc>
                <a:extLst>
                  <a:ext uri="{0D108BD9-81ED-4DB2-BD59-A6C34878D82A}">
                    <a16:rowId xmlns:a16="http://schemas.microsoft.com/office/drawing/2014/main" val="4033037494"/>
                  </a:ext>
                </a:extLst>
              </a:tr>
              <a:tr h="370840">
                <a:tc>
                  <a:txBody>
                    <a:bodyPr/>
                    <a:lstStyle/>
                    <a:p>
                      <a:r>
                        <a:rPr lang="en-US" sz="2800" dirty="0">
                          <a:latin typeface="Roboto" panose="02000000000000000000" pitchFamily="2" charset="0"/>
                          <a:ea typeface="Roboto" panose="02000000000000000000" pitchFamily="2" charset="0"/>
                        </a:rPr>
                        <a:t>Death </a:t>
                      </a:r>
                    </a:p>
                  </a:txBody>
                  <a:tcPr anchor="ctr"/>
                </a:tc>
                <a:tc>
                  <a:txBody>
                    <a:bodyPr/>
                    <a:lstStyle/>
                    <a:p>
                      <a:r>
                        <a:rPr lang="en-US" sz="2800" dirty="0">
                          <a:latin typeface="Roboto" panose="02000000000000000000" pitchFamily="2" charset="0"/>
                          <a:ea typeface="Roboto" panose="02000000000000000000" pitchFamily="2" charset="0"/>
                        </a:rPr>
                        <a:t>0 (0%) </a:t>
                      </a:r>
                    </a:p>
                  </a:txBody>
                  <a:tcPr anchor="ctr"/>
                </a:tc>
                <a:extLst>
                  <a:ext uri="{0D108BD9-81ED-4DB2-BD59-A6C34878D82A}">
                    <a16:rowId xmlns:a16="http://schemas.microsoft.com/office/drawing/2014/main" val="2117322657"/>
                  </a:ext>
                </a:extLst>
              </a:tr>
            </a:tbl>
          </a:graphicData>
        </a:graphic>
      </p:graphicFrame>
      <p:graphicFrame>
        <p:nvGraphicFramePr>
          <p:cNvPr id="28" name="Table 27">
            <a:extLst>
              <a:ext uri="{FF2B5EF4-FFF2-40B4-BE49-F238E27FC236}">
                <a16:creationId xmlns:a16="http://schemas.microsoft.com/office/drawing/2014/main" id="{EDC01FF7-157F-4DF6-8DC8-4CAB09E5AAEB}"/>
              </a:ext>
            </a:extLst>
          </p:cNvPr>
          <p:cNvGraphicFramePr>
            <a:graphicFrameLocks noGrp="1"/>
          </p:cNvGraphicFramePr>
          <p:nvPr>
            <p:extLst>
              <p:ext uri="{D42A27DB-BD31-4B8C-83A1-F6EECF244321}">
                <p14:modId xmlns:p14="http://schemas.microsoft.com/office/powerpoint/2010/main" val="3201953638"/>
              </p:ext>
            </p:extLst>
          </p:nvPr>
        </p:nvGraphicFramePr>
        <p:xfrm>
          <a:off x="15413054" y="29892813"/>
          <a:ext cx="6795523" cy="10942320"/>
        </p:xfrm>
        <a:graphic>
          <a:graphicData uri="http://schemas.openxmlformats.org/drawingml/2006/table">
            <a:tbl>
              <a:tblPr firstRow="1" bandRow="1">
                <a:tableStyleId>{5C22544A-7EE6-4342-B048-85BDC9FD1C3A}</a:tableStyleId>
              </a:tblPr>
              <a:tblGrid>
                <a:gridCol w="3659708">
                  <a:extLst>
                    <a:ext uri="{9D8B030D-6E8A-4147-A177-3AD203B41FA5}">
                      <a16:colId xmlns:a16="http://schemas.microsoft.com/office/drawing/2014/main" val="1662025688"/>
                    </a:ext>
                  </a:extLst>
                </a:gridCol>
                <a:gridCol w="3135815">
                  <a:extLst>
                    <a:ext uri="{9D8B030D-6E8A-4147-A177-3AD203B41FA5}">
                      <a16:colId xmlns:a16="http://schemas.microsoft.com/office/drawing/2014/main" val="1332078134"/>
                    </a:ext>
                  </a:extLst>
                </a:gridCol>
              </a:tblGrid>
              <a:tr h="370840">
                <a:tc gridSpan="2">
                  <a:txBody>
                    <a:bodyPr/>
                    <a:lstStyle/>
                    <a:p>
                      <a:r>
                        <a:rPr lang="en-US" sz="2800" dirty="0">
                          <a:latin typeface="Roboto" panose="02000000000000000000" pitchFamily="2" charset="0"/>
                          <a:ea typeface="Roboto" panose="02000000000000000000" pitchFamily="2" charset="0"/>
                        </a:rPr>
                        <a:t>Table 3. Clinical effects reported from pediatric cyanogenic glycoside ingestions </a:t>
                      </a:r>
                    </a:p>
                  </a:txBody>
                  <a:tcPr anchor="ctr"/>
                </a:tc>
                <a:tc hMerge="1">
                  <a:txBody>
                    <a:bodyPr/>
                    <a:lstStyle/>
                    <a:p>
                      <a:endParaRPr lang="en-US" sz="2400" dirty="0">
                        <a:latin typeface="Verdana" panose="020B0604030504040204" pitchFamily="34" charset="0"/>
                        <a:ea typeface="Verdana" panose="020B0604030504040204" pitchFamily="34" charset="0"/>
                      </a:endParaRPr>
                    </a:p>
                  </a:txBody>
                  <a:tcPr anchor="ctr"/>
                </a:tc>
                <a:extLst>
                  <a:ext uri="{0D108BD9-81ED-4DB2-BD59-A6C34878D82A}">
                    <a16:rowId xmlns:a16="http://schemas.microsoft.com/office/drawing/2014/main" val="2043404731"/>
                  </a:ext>
                </a:extLst>
              </a:tr>
              <a:tr h="370840">
                <a:tc>
                  <a:txBody>
                    <a:bodyPr/>
                    <a:lstStyle/>
                    <a:p>
                      <a:r>
                        <a:rPr lang="en-US" sz="2800" dirty="0">
                          <a:latin typeface="Roboto" panose="02000000000000000000" pitchFamily="2" charset="0"/>
                          <a:ea typeface="Roboto" panose="02000000000000000000" pitchFamily="2" charset="0"/>
                        </a:rPr>
                        <a:t>CLINICAL EFFECTS</a:t>
                      </a:r>
                    </a:p>
                  </a:txBody>
                  <a:tcPr anchor="ctr"/>
                </a:tc>
                <a:tc>
                  <a:txBody>
                    <a:bodyPr/>
                    <a:lstStyle/>
                    <a:p>
                      <a:r>
                        <a:rPr lang="en-US" sz="2800" dirty="0">
                          <a:latin typeface="Roboto" panose="02000000000000000000" pitchFamily="2" charset="0"/>
                          <a:ea typeface="Roboto" panose="02000000000000000000" pitchFamily="2" charset="0"/>
                        </a:rPr>
                        <a:t>NUMBER (%)</a:t>
                      </a:r>
                    </a:p>
                    <a:p>
                      <a:r>
                        <a:rPr lang="en-US" sz="2800" dirty="0">
                          <a:latin typeface="Roboto" panose="02000000000000000000" pitchFamily="2" charset="0"/>
                          <a:ea typeface="Roboto" panose="02000000000000000000" pitchFamily="2" charset="0"/>
                        </a:rPr>
                        <a:t>N= 51,703</a:t>
                      </a:r>
                    </a:p>
                  </a:txBody>
                  <a:tcPr anchor="ctr"/>
                </a:tc>
                <a:extLst>
                  <a:ext uri="{0D108BD9-81ED-4DB2-BD59-A6C34878D82A}">
                    <a16:rowId xmlns:a16="http://schemas.microsoft.com/office/drawing/2014/main" val="2868336630"/>
                  </a:ext>
                </a:extLst>
              </a:tr>
              <a:tr h="370840">
                <a:tc>
                  <a:txBody>
                    <a:bodyPr/>
                    <a:lstStyle/>
                    <a:p>
                      <a:r>
                        <a:rPr lang="en-US" sz="2800" dirty="0">
                          <a:latin typeface="Roboto" panose="02000000000000000000" pitchFamily="2" charset="0"/>
                          <a:ea typeface="Roboto" panose="02000000000000000000" pitchFamily="2" charset="0"/>
                        </a:rPr>
                        <a:t>No symptoms</a:t>
                      </a:r>
                    </a:p>
                  </a:txBody>
                  <a:tcPr anchor="ctr"/>
                </a:tc>
                <a:tc>
                  <a:txBody>
                    <a:bodyPr/>
                    <a:lstStyle/>
                    <a:p>
                      <a:r>
                        <a:rPr lang="en-US" sz="2800" dirty="0">
                          <a:latin typeface="Roboto" panose="02000000000000000000" pitchFamily="2" charset="0"/>
                          <a:ea typeface="Roboto" panose="02000000000000000000" pitchFamily="2" charset="0"/>
                        </a:rPr>
                        <a:t>47,938 (92.7%)</a:t>
                      </a:r>
                    </a:p>
                  </a:txBody>
                  <a:tcPr anchor="ctr"/>
                </a:tc>
                <a:extLst>
                  <a:ext uri="{0D108BD9-81ED-4DB2-BD59-A6C34878D82A}">
                    <a16:rowId xmlns:a16="http://schemas.microsoft.com/office/drawing/2014/main" val="3000966478"/>
                  </a:ext>
                </a:extLst>
              </a:tr>
              <a:tr h="370840">
                <a:tc>
                  <a:txBody>
                    <a:bodyPr/>
                    <a:lstStyle/>
                    <a:p>
                      <a:r>
                        <a:rPr lang="en-US" sz="2800" dirty="0">
                          <a:latin typeface="Roboto" panose="02000000000000000000" pitchFamily="2" charset="0"/>
                          <a:ea typeface="Roboto" panose="02000000000000000000" pitchFamily="2" charset="0"/>
                        </a:rPr>
                        <a:t>Vomiting </a:t>
                      </a:r>
                    </a:p>
                  </a:txBody>
                  <a:tcPr anchor="ctr"/>
                </a:tc>
                <a:tc>
                  <a:txBody>
                    <a:bodyPr/>
                    <a:lstStyle/>
                    <a:p>
                      <a:r>
                        <a:rPr lang="en-US" sz="2800" dirty="0">
                          <a:latin typeface="Roboto" panose="02000000000000000000" pitchFamily="2" charset="0"/>
                          <a:ea typeface="Roboto" panose="02000000000000000000" pitchFamily="2" charset="0"/>
                        </a:rPr>
                        <a:t>1,679 (3.2%)</a:t>
                      </a:r>
                    </a:p>
                  </a:txBody>
                  <a:tcPr anchor="ctr"/>
                </a:tc>
                <a:extLst>
                  <a:ext uri="{0D108BD9-81ED-4DB2-BD59-A6C34878D82A}">
                    <a16:rowId xmlns:a16="http://schemas.microsoft.com/office/drawing/2014/main" val="1501655283"/>
                  </a:ext>
                </a:extLst>
              </a:tr>
              <a:tr h="370840">
                <a:tc>
                  <a:txBody>
                    <a:bodyPr/>
                    <a:lstStyle/>
                    <a:p>
                      <a:r>
                        <a:rPr lang="en-US" sz="2800" dirty="0">
                          <a:latin typeface="Roboto" panose="02000000000000000000" pitchFamily="2" charset="0"/>
                          <a:ea typeface="Roboto" panose="02000000000000000000" pitchFamily="2" charset="0"/>
                        </a:rPr>
                        <a:t>Abdominal pain </a:t>
                      </a:r>
                    </a:p>
                  </a:txBody>
                  <a:tcPr anchor="ctr"/>
                </a:tc>
                <a:tc>
                  <a:txBody>
                    <a:bodyPr/>
                    <a:lstStyle/>
                    <a:p>
                      <a:r>
                        <a:rPr lang="en-US" sz="2800" dirty="0">
                          <a:latin typeface="Roboto" panose="02000000000000000000" pitchFamily="2" charset="0"/>
                          <a:ea typeface="Roboto" panose="02000000000000000000" pitchFamily="2" charset="0"/>
                        </a:rPr>
                        <a:t>549 (1.1%)</a:t>
                      </a:r>
                    </a:p>
                  </a:txBody>
                  <a:tcPr anchor="ctr"/>
                </a:tc>
                <a:extLst>
                  <a:ext uri="{0D108BD9-81ED-4DB2-BD59-A6C34878D82A}">
                    <a16:rowId xmlns:a16="http://schemas.microsoft.com/office/drawing/2014/main" val="1252200923"/>
                  </a:ext>
                </a:extLst>
              </a:tr>
              <a:tr h="370840">
                <a:tc>
                  <a:txBody>
                    <a:bodyPr/>
                    <a:lstStyle/>
                    <a:p>
                      <a:r>
                        <a:rPr lang="en-US" sz="2800" dirty="0">
                          <a:latin typeface="Roboto" panose="02000000000000000000" pitchFamily="2" charset="0"/>
                          <a:ea typeface="Roboto" panose="02000000000000000000" pitchFamily="2" charset="0"/>
                        </a:rPr>
                        <a:t>Diarrhea </a:t>
                      </a:r>
                    </a:p>
                  </a:txBody>
                  <a:tcPr anchor="ctr"/>
                </a:tc>
                <a:tc>
                  <a:txBody>
                    <a:bodyPr/>
                    <a:lstStyle/>
                    <a:p>
                      <a:r>
                        <a:rPr lang="en-US" sz="2800" dirty="0">
                          <a:latin typeface="Roboto" panose="02000000000000000000" pitchFamily="2" charset="0"/>
                          <a:ea typeface="Roboto" panose="02000000000000000000" pitchFamily="2" charset="0"/>
                        </a:rPr>
                        <a:t>468 (0.9%)</a:t>
                      </a:r>
                    </a:p>
                  </a:txBody>
                  <a:tcPr anchor="ctr"/>
                </a:tc>
                <a:extLst>
                  <a:ext uri="{0D108BD9-81ED-4DB2-BD59-A6C34878D82A}">
                    <a16:rowId xmlns:a16="http://schemas.microsoft.com/office/drawing/2014/main" val="2965177460"/>
                  </a:ext>
                </a:extLst>
              </a:tr>
              <a:tr h="370840">
                <a:tc>
                  <a:txBody>
                    <a:bodyPr/>
                    <a:lstStyle/>
                    <a:p>
                      <a:r>
                        <a:rPr lang="en-US" sz="2800" dirty="0">
                          <a:latin typeface="Roboto" panose="02000000000000000000" pitchFamily="2" charset="0"/>
                          <a:ea typeface="Roboto" panose="02000000000000000000" pitchFamily="2" charset="0"/>
                        </a:rPr>
                        <a:t>Fever/</a:t>
                      </a:r>
                    </a:p>
                    <a:p>
                      <a:r>
                        <a:rPr lang="en-US" sz="2800" dirty="0">
                          <a:latin typeface="Roboto" panose="02000000000000000000" pitchFamily="2" charset="0"/>
                          <a:ea typeface="Roboto" panose="02000000000000000000" pitchFamily="2" charset="0"/>
                        </a:rPr>
                        <a:t>hyperthermia </a:t>
                      </a:r>
                    </a:p>
                  </a:txBody>
                  <a:tcPr anchor="ctr"/>
                </a:tc>
                <a:tc>
                  <a:txBody>
                    <a:bodyPr/>
                    <a:lstStyle/>
                    <a:p>
                      <a:r>
                        <a:rPr lang="en-US" sz="2800" dirty="0">
                          <a:latin typeface="Roboto" panose="02000000000000000000" pitchFamily="2" charset="0"/>
                          <a:ea typeface="Roboto" panose="02000000000000000000" pitchFamily="2" charset="0"/>
                        </a:rPr>
                        <a:t>346 (0.7%)</a:t>
                      </a:r>
                    </a:p>
                  </a:txBody>
                  <a:tcPr anchor="ctr"/>
                </a:tc>
                <a:extLst>
                  <a:ext uri="{0D108BD9-81ED-4DB2-BD59-A6C34878D82A}">
                    <a16:rowId xmlns:a16="http://schemas.microsoft.com/office/drawing/2014/main" val="2697935185"/>
                  </a:ext>
                </a:extLst>
              </a:tr>
              <a:tr h="370840">
                <a:tc>
                  <a:txBody>
                    <a:bodyPr/>
                    <a:lstStyle/>
                    <a:p>
                      <a:r>
                        <a:rPr lang="en-US" sz="2800" dirty="0">
                          <a:latin typeface="Roboto" panose="02000000000000000000" pitchFamily="2" charset="0"/>
                          <a:ea typeface="Roboto" panose="02000000000000000000" pitchFamily="2" charset="0"/>
                        </a:rPr>
                        <a:t>Nausea </a:t>
                      </a:r>
                    </a:p>
                  </a:txBody>
                  <a:tcPr anchor="ctr"/>
                </a:tc>
                <a:tc>
                  <a:txBody>
                    <a:bodyPr/>
                    <a:lstStyle/>
                    <a:p>
                      <a:r>
                        <a:rPr lang="en-US" sz="2800" dirty="0">
                          <a:latin typeface="Roboto" panose="02000000000000000000" pitchFamily="2" charset="0"/>
                          <a:ea typeface="Roboto" panose="02000000000000000000" pitchFamily="2" charset="0"/>
                        </a:rPr>
                        <a:t>335 (0.6%)</a:t>
                      </a:r>
                    </a:p>
                  </a:txBody>
                  <a:tcPr anchor="ctr"/>
                </a:tc>
                <a:extLst>
                  <a:ext uri="{0D108BD9-81ED-4DB2-BD59-A6C34878D82A}">
                    <a16:rowId xmlns:a16="http://schemas.microsoft.com/office/drawing/2014/main" val="2295221522"/>
                  </a:ext>
                </a:extLst>
              </a:tr>
              <a:tr h="370840">
                <a:tc>
                  <a:txBody>
                    <a:bodyPr/>
                    <a:lstStyle/>
                    <a:p>
                      <a:r>
                        <a:rPr lang="en-US" sz="2800" dirty="0">
                          <a:latin typeface="Roboto" panose="02000000000000000000" pitchFamily="2" charset="0"/>
                          <a:ea typeface="Roboto" panose="02000000000000000000" pitchFamily="2" charset="0"/>
                        </a:rPr>
                        <a:t>Drowsiness/ lethargy </a:t>
                      </a:r>
                    </a:p>
                  </a:txBody>
                  <a:tcPr anchor="ctr"/>
                </a:tc>
                <a:tc>
                  <a:txBody>
                    <a:bodyPr/>
                    <a:lstStyle/>
                    <a:p>
                      <a:r>
                        <a:rPr lang="en-US" sz="2800" dirty="0">
                          <a:latin typeface="Roboto" panose="02000000000000000000" pitchFamily="2" charset="0"/>
                          <a:ea typeface="Roboto" panose="02000000000000000000" pitchFamily="2" charset="0"/>
                        </a:rPr>
                        <a:t>147 (0.3%)</a:t>
                      </a:r>
                    </a:p>
                  </a:txBody>
                  <a:tcPr anchor="ctr"/>
                </a:tc>
                <a:extLst>
                  <a:ext uri="{0D108BD9-81ED-4DB2-BD59-A6C34878D82A}">
                    <a16:rowId xmlns:a16="http://schemas.microsoft.com/office/drawing/2014/main" val="983637228"/>
                  </a:ext>
                </a:extLst>
              </a:tr>
              <a:tr h="370840">
                <a:tc>
                  <a:txBody>
                    <a:bodyPr/>
                    <a:lstStyle/>
                    <a:p>
                      <a:r>
                        <a:rPr lang="en-US" sz="2800" dirty="0">
                          <a:latin typeface="Roboto" panose="02000000000000000000" pitchFamily="2" charset="0"/>
                          <a:ea typeface="Roboto" panose="02000000000000000000" pitchFamily="2" charset="0"/>
                        </a:rPr>
                        <a:t>CNS  depression (mild or moderate)</a:t>
                      </a:r>
                    </a:p>
                  </a:txBody>
                  <a:tcPr anchor="ctr"/>
                </a:tc>
                <a:tc>
                  <a:txBody>
                    <a:bodyPr/>
                    <a:lstStyle/>
                    <a:p>
                      <a:r>
                        <a:rPr lang="en-US" sz="2800" dirty="0">
                          <a:latin typeface="Roboto" panose="02000000000000000000" pitchFamily="2" charset="0"/>
                          <a:ea typeface="Roboto" panose="02000000000000000000" pitchFamily="2" charset="0"/>
                        </a:rPr>
                        <a:t>92 (0.2%)</a:t>
                      </a:r>
                    </a:p>
                  </a:txBody>
                  <a:tcPr anchor="ctr"/>
                </a:tc>
                <a:extLst>
                  <a:ext uri="{0D108BD9-81ED-4DB2-BD59-A6C34878D82A}">
                    <a16:rowId xmlns:a16="http://schemas.microsoft.com/office/drawing/2014/main" val="1949697371"/>
                  </a:ext>
                </a:extLst>
              </a:tr>
              <a:tr h="370840">
                <a:tc>
                  <a:txBody>
                    <a:bodyPr/>
                    <a:lstStyle/>
                    <a:p>
                      <a:r>
                        <a:rPr lang="en-US" sz="2800" dirty="0">
                          <a:latin typeface="Roboto" panose="02000000000000000000" pitchFamily="2" charset="0"/>
                          <a:ea typeface="Roboto" panose="02000000000000000000" pitchFamily="2" charset="0"/>
                        </a:rPr>
                        <a:t>Dizziness/ vertigo</a:t>
                      </a:r>
                    </a:p>
                  </a:txBody>
                  <a:tcPr anchor="ctr"/>
                </a:tc>
                <a:tc>
                  <a:txBody>
                    <a:bodyPr/>
                    <a:lstStyle/>
                    <a:p>
                      <a:r>
                        <a:rPr lang="en-US" sz="2800" dirty="0">
                          <a:latin typeface="Roboto" panose="02000000000000000000" pitchFamily="2" charset="0"/>
                          <a:ea typeface="Roboto" panose="02000000000000000000" pitchFamily="2" charset="0"/>
                        </a:rPr>
                        <a:t>14 (0.03%)</a:t>
                      </a:r>
                    </a:p>
                  </a:txBody>
                  <a:tcPr anchor="ctr"/>
                </a:tc>
                <a:extLst>
                  <a:ext uri="{0D108BD9-81ED-4DB2-BD59-A6C34878D82A}">
                    <a16:rowId xmlns:a16="http://schemas.microsoft.com/office/drawing/2014/main" val="2751733043"/>
                  </a:ext>
                </a:extLst>
              </a:tr>
              <a:tr h="370840">
                <a:tc>
                  <a:txBody>
                    <a:bodyPr/>
                    <a:lstStyle/>
                    <a:p>
                      <a:r>
                        <a:rPr lang="en-US" sz="2800" dirty="0">
                          <a:latin typeface="Roboto" panose="02000000000000000000" pitchFamily="2" charset="0"/>
                          <a:ea typeface="Roboto" panose="02000000000000000000" pitchFamily="2" charset="0"/>
                        </a:rPr>
                        <a:t>Seizures </a:t>
                      </a:r>
                    </a:p>
                  </a:txBody>
                  <a:tcPr anchor="ctr"/>
                </a:tc>
                <a:tc>
                  <a:txBody>
                    <a:bodyPr/>
                    <a:lstStyle/>
                    <a:p>
                      <a:r>
                        <a:rPr lang="en-US" sz="2800" dirty="0">
                          <a:latin typeface="Roboto" panose="02000000000000000000" pitchFamily="2" charset="0"/>
                          <a:ea typeface="Roboto" panose="02000000000000000000" pitchFamily="2" charset="0"/>
                        </a:rPr>
                        <a:t>6 (0.01%)</a:t>
                      </a:r>
                    </a:p>
                  </a:txBody>
                  <a:tcPr anchor="ctr"/>
                </a:tc>
                <a:extLst>
                  <a:ext uri="{0D108BD9-81ED-4DB2-BD59-A6C34878D82A}">
                    <a16:rowId xmlns:a16="http://schemas.microsoft.com/office/drawing/2014/main" val="2793058835"/>
                  </a:ext>
                </a:extLst>
              </a:tr>
              <a:tr h="370840">
                <a:tc>
                  <a:txBody>
                    <a:bodyPr/>
                    <a:lstStyle/>
                    <a:p>
                      <a:r>
                        <a:rPr lang="en-US" sz="2800" dirty="0">
                          <a:latin typeface="Roboto" panose="02000000000000000000" pitchFamily="2" charset="0"/>
                          <a:ea typeface="Roboto" panose="02000000000000000000" pitchFamily="2" charset="0"/>
                        </a:rPr>
                        <a:t>Acidosis</a:t>
                      </a:r>
                    </a:p>
                  </a:txBody>
                  <a:tcPr anchor="ctr"/>
                </a:tc>
                <a:tc>
                  <a:txBody>
                    <a:bodyPr/>
                    <a:lstStyle/>
                    <a:p>
                      <a:r>
                        <a:rPr lang="en-US" sz="2800" dirty="0">
                          <a:latin typeface="Roboto" panose="02000000000000000000" pitchFamily="2" charset="0"/>
                          <a:ea typeface="Roboto" panose="02000000000000000000" pitchFamily="2" charset="0"/>
                        </a:rPr>
                        <a:t>5 (0.01%)</a:t>
                      </a:r>
                    </a:p>
                  </a:txBody>
                  <a:tcPr anchor="ctr"/>
                </a:tc>
                <a:extLst>
                  <a:ext uri="{0D108BD9-81ED-4DB2-BD59-A6C34878D82A}">
                    <a16:rowId xmlns:a16="http://schemas.microsoft.com/office/drawing/2014/main" val="2467573401"/>
                  </a:ext>
                </a:extLst>
              </a:tr>
              <a:tr h="370840">
                <a:tc>
                  <a:txBody>
                    <a:bodyPr/>
                    <a:lstStyle/>
                    <a:p>
                      <a:r>
                        <a:rPr lang="en-US" sz="2800" dirty="0">
                          <a:latin typeface="Roboto" panose="02000000000000000000" pitchFamily="2" charset="0"/>
                          <a:ea typeface="Roboto" panose="02000000000000000000" pitchFamily="2" charset="0"/>
                        </a:rPr>
                        <a:t>Syncope</a:t>
                      </a:r>
                    </a:p>
                  </a:txBody>
                  <a:tcPr anchor="ctr"/>
                </a:tc>
                <a:tc>
                  <a:txBody>
                    <a:bodyPr/>
                    <a:lstStyle/>
                    <a:p>
                      <a:r>
                        <a:rPr lang="en-US" sz="2800" dirty="0">
                          <a:latin typeface="Roboto" panose="02000000000000000000" pitchFamily="2" charset="0"/>
                          <a:ea typeface="Roboto" panose="02000000000000000000" pitchFamily="2" charset="0"/>
                        </a:rPr>
                        <a:t>2 (0.004%)</a:t>
                      </a:r>
                    </a:p>
                  </a:txBody>
                  <a:tcPr anchor="ctr"/>
                </a:tc>
                <a:extLst>
                  <a:ext uri="{0D108BD9-81ED-4DB2-BD59-A6C34878D82A}">
                    <a16:rowId xmlns:a16="http://schemas.microsoft.com/office/drawing/2014/main" val="2958389701"/>
                  </a:ext>
                </a:extLst>
              </a:tr>
              <a:tr h="370840">
                <a:tc>
                  <a:txBody>
                    <a:bodyPr/>
                    <a:lstStyle/>
                    <a:p>
                      <a:r>
                        <a:rPr lang="en-US" sz="2800" dirty="0">
                          <a:latin typeface="Roboto" panose="02000000000000000000" pitchFamily="2" charset="0"/>
                          <a:ea typeface="Roboto" panose="02000000000000000000" pitchFamily="2" charset="0"/>
                        </a:rPr>
                        <a:t>Coma</a:t>
                      </a:r>
                    </a:p>
                  </a:txBody>
                  <a:tcPr anchor="ctr"/>
                </a:tc>
                <a:tc>
                  <a:txBody>
                    <a:bodyPr/>
                    <a:lstStyle/>
                    <a:p>
                      <a:r>
                        <a:rPr lang="en-US" sz="2800" dirty="0">
                          <a:latin typeface="Roboto" panose="02000000000000000000" pitchFamily="2" charset="0"/>
                          <a:ea typeface="Roboto" panose="02000000000000000000" pitchFamily="2" charset="0"/>
                        </a:rPr>
                        <a:t>1 (0.002%)</a:t>
                      </a:r>
                    </a:p>
                  </a:txBody>
                  <a:tcPr anchor="ctr"/>
                </a:tc>
                <a:extLst>
                  <a:ext uri="{0D108BD9-81ED-4DB2-BD59-A6C34878D82A}">
                    <a16:rowId xmlns:a16="http://schemas.microsoft.com/office/drawing/2014/main" val="882207617"/>
                  </a:ext>
                </a:extLst>
              </a:tr>
              <a:tr h="370840">
                <a:tc>
                  <a:txBody>
                    <a:bodyPr/>
                    <a:lstStyle/>
                    <a:p>
                      <a:r>
                        <a:rPr lang="en-US" sz="2800" dirty="0">
                          <a:latin typeface="Roboto" panose="02000000000000000000" pitchFamily="2" charset="0"/>
                          <a:ea typeface="Roboto" panose="02000000000000000000" pitchFamily="2" charset="0"/>
                        </a:rPr>
                        <a:t>Hypotension</a:t>
                      </a:r>
                    </a:p>
                  </a:txBody>
                  <a:tcPr anchor="ctr"/>
                </a:tc>
                <a:tc>
                  <a:txBody>
                    <a:bodyPr/>
                    <a:lstStyle/>
                    <a:p>
                      <a:r>
                        <a:rPr lang="en-US" sz="2800" dirty="0">
                          <a:latin typeface="Roboto" panose="02000000000000000000" pitchFamily="2" charset="0"/>
                          <a:ea typeface="Roboto" panose="02000000000000000000" pitchFamily="2" charset="0"/>
                        </a:rPr>
                        <a:t>1 (0.002%)</a:t>
                      </a:r>
                    </a:p>
                  </a:txBody>
                  <a:tcPr anchor="ctr"/>
                </a:tc>
                <a:extLst>
                  <a:ext uri="{0D108BD9-81ED-4DB2-BD59-A6C34878D82A}">
                    <a16:rowId xmlns:a16="http://schemas.microsoft.com/office/drawing/2014/main" val="544361619"/>
                  </a:ext>
                </a:extLst>
              </a:tr>
              <a:tr h="370840">
                <a:tc>
                  <a:txBody>
                    <a:bodyPr/>
                    <a:lstStyle/>
                    <a:p>
                      <a:r>
                        <a:rPr lang="en-US" sz="2800" dirty="0">
                          <a:latin typeface="Roboto" panose="02000000000000000000" pitchFamily="2" charset="0"/>
                          <a:ea typeface="Roboto" panose="02000000000000000000" pitchFamily="2" charset="0"/>
                        </a:rPr>
                        <a:t>Cardiac arrest </a:t>
                      </a:r>
                    </a:p>
                  </a:txBody>
                  <a:tcPr anchor="ctr"/>
                </a:tc>
                <a:tc>
                  <a:txBody>
                    <a:bodyPr/>
                    <a:lstStyle/>
                    <a:p>
                      <a:r>
                        <a:rPr lang="en-US" sz="2800" dirty="0">
                          <a:latin typeface="Roboto" panose="02000000000000000000" pitchFamily="2" charset="0"/>
                          <a:ea typeface="Roboto" panose="02000000000000000000" pitchFamily="2" charset="0"/>
                        </a:rPr>
                        <a:t>1 (0.002%)</a:t>
                      </a:r>
                    </a:p>
                  </a:txBody>
                  <a:tcPr anchor="ctr"/>
                </a:tc>
                <a:extLst>
                  <a:ext uri="{0D108BD9-81ED-4DB2-BD59-A6C34878D82A}">
                    <a16:rowId xmlns:a16="http://schemas.microsoft.com/office/drawing/2014/main" val="247214390"/>
                  </a:ext>
                </a:extLst>
              </a:tr>
            </a:tbl>
          </a:graphicData>
        </a:graphic>
      </p:graphicFrame>
      <p:graphicFrame>
        <p:nvGraphicFramePr>
          <p:cNvPr id="29" name="Table 28">
            <a:extLst>
              <a:ext uri="{FF2B5EF4-FFF2-40B4-BE49-F238E27FC236}">
                <a16:creationId xmlns:a16="http://schemas.microsoft.com/office/drawing/2014/main" id="{43B5BE73-3181-40B7-A09E-E6D5179DF9B6}"/>
              </a:ext>
            </a:extLst>
          </p:cNvPr>
          <p:cNvGraphicFramePr>
            <a:graphicFrameLocks noGrp="1"/>
          </p:cNvGraphicFramePr>
          <p:nvPr>
            <p:extLst>
              <p:ext uri="{D42A27DB-BD31-4B8C-83A1-F6EECF244321}">
                <p14:modId xmlns:p14="http://schemas.microsoft.com/office/powerpoint/2010/main" val="4276094058"/>
              </p:ext>
            </p:extLst>
          </p:nvPr>
        </p:nvGraphicFramePr>
        <p:xfrm>
          <a:off x="22630932" y="29892813"/>
          <a:ext cx="5779662" cy="6394008"/>
        </p:xfrm>
        <a:graphic>
          <a:graphicData uri="http://schemas.openxmlformats.org/drawingml/2006/table">
            <a:tbl>
              <a:tblPr firstRow="1" bandRow="1">
                <a:tableStyleId>{5C22544A-7EE6-4342-B048-85BDC9FD1C3A}</a:tableStyleId>
              </a:tblPr>
              <a:tblGrid>
                <a:gridCol w="3311201">
                  <a:extLst>
                    <a:ext uri="{9D8B030D-6E8A-4147-A177-3AD203B41FA5}">
                      <a16:colId xmlns:a16="http://schemas.microsoft.com/office/drawing/2014/main" val="4004609846"/>
                    </a:ext>
                  </a:extLst>
                </a:gridCol>
                <a:gridCol w="2468461">
                  <a:extLst>
                    <a:ext uri="{9D8B030D-6E8A-4147-A177-3AD203B41FA5}">
                      <a16:colId xmlns:a16="http://schemas.microsoft.com/office/drawing/2014/main" val="690047334"/>
                    </a:ext>
                  </a:extLst>
                </a:gridCol>
              </a:tblGrid>
              <a:tr h="829785">
                <a:tc gridSpan="2">
                  <a:txBody>
                    <a:bodyPr/>
                    <a:lstStyle/>
                    <a:p>
                      <a:r>
                        <a:rPr lang="en-US" sz="2800" dirty="0">
                          <a:latin typeface="Roboto" panose="02000000000000000000" pitchFamily="2" charset="0"/>
                          <a:ea typeface="Roboto" panose="02000000000000000000" pitchFamily="2" charset="0"/>
                        </a:rPr>
                        <a:t>Table 4. Treatments given for pediatric cyanogenic glycoside ingestions</a:t>
                      </a:r>
                    </a:p>
                  </a:txBody>
                  <a:tcPr anchor="ctr"/>
                </a:tc>
                <a:tc hMerge="1">
                  <a:txBody>
                    <a:bodyPr/>
                    <a:lstStyle/>
                    <a:p>
                      <a:endParaRPr lang="en-US" sz="2400" dirty="0">
                        <a:latin typeface="Verdana" panose="020B0604030504040204" pitchFamily="34" charset="0"/>
                        <a:ea typeface="Verdana" panose="020B0604030504040204" pitchFamily="34" charset="0"/>
                      </a:endParaRPr>
                    </a:p>
                  </a:txBody>
                  <a:tcPr anchor="ctr"/>
                </a:tc>
                <a:extLst>
                  <a:ext uri="{0D108BD9-81ED-4DB2-BD59-A6C34878D82A}">
                    <a16:rowId xmlns:a16="http://schemas.microsoft.com/office/drawing/2014/main" val="118277720"/>
                  </a:ext>
                </a:extLst>
              </a:tr>
              <a:tr h="829785">
                <a:tc>
                  <a:txBody>
                    <a:bodyPr/>
                    <a:lstStyle/>
                    <a:p>
                      <a:r>
                        <a:rPr lang="en-US" sz="2800" dirty="0">
                          <a:latin typeface="Roboto" panose="02000000000000000000" pitchFamily="2" charset="0"/>
                          <a:ea typeface="Roboto" panose="02000000000000000000" pitchFamily="2" charset="0"/>
                        </a:rPr>
                        <a:t>INTERVENTIONS</a:t>
                      </a:r>
                    </a:p>
                  </a:txBody>
                  <a:tcPr anchor="ctr"/>
                </a:tc>
                <a:tc>
                  <a:txBody>
                    <a:bodyPr/>
                    <a:lstStyle/>
                    <a:p>
                      <a:r>
                        <a:rPr lang="en-US" sz="2800" dirty="0">
                          <a:latin typeface="Roboto" panose="02000000000000000000" pitchFamily="2" charset="0"/>
                          <a:ea typeface="Roboto" panose="02000000000000000000" pitchFamily="2" charset="0"/>
                        </a:rPr>
                        <a:t>NUMBER (%)         N= 51,703</a:t>
                      </a:r>
                    </a:p>
                  </a:txBody>
                  <a:tcPr anchor="ctr"/>
                </a:tc>
                <a:extLst>
                  <a:ext uri="{0D108BD9-81ED-4DB2-BD59-A6C34878D82A}">
                    <a16:rowId xmlns:a16="http://schemas.microsoft.com/office/drawing/2014/main" val="3938201713"/>
                  </a:ext>
                </a:extLst>
              </a:tr>
              <a:tr h="615303">
                <a:tc>
                  <a:txBody>
                    <a:bodyPr/>
                    <a:lstStyle/>
                    <a:p>
                      <a:r>
                        <a:rPr lang="en-US" sz="2800" dirty="0">
                          <a:latin typeface="Roboto" panose="02000000000000000000" pitchFamily="2" charset="0"/>
                          <a:ea typeface="Roboto" panose="02000000000000000000" pitchFamily="2" charset="0"/>
                        </a:rPr>
                        <a:t>Dilute/irrigate/ wash</a:t>
                      </a:r>
                    </a:p>
                  </a:txBody>
                  <a:tcPr anchor="ctr"/>
                </a:tc>
                <a:tc>
                  <a:txBody>
                    <a:bodyPr/>
                    <a:lstStyle/>
                    <a:p>
                      <a:r>
                        <a:rPr lang="en-US" sz="2800" dirty="0">
                          <a:latin typeface="Roboto" panose="02000000000000000000" pitchFamily="2" charset="0"/>
                          <a:ea typeface="Roboto" panose="02000000000000000000" pitchFamily="2" charset="0"/>
                        </a:rPr>
                        <a:t>23,398 (45.3%)</a:t>
                      </a:r>
                    </a:p>
                  </a:txBody>
                  <a:tcPr anchor="ctr"/>
                </a:tc>
                <a:extLst>
                  <a:ext uri="{0D108BD9-81ED-4DB2-BD59-A6C34878D82A}">
                    <a16:rowId xmlns:a16="http://schemas.microsoft.com/office/drawing/2014/main" val="3761765320"/>
                  </a:ext>
                </a:extLst>
              </a:tr>
              <a:tr h="522108">
                <a:tc>
                  <a:txBody>
                    <a:bodyPr/>
                    <a:lstStyle/>
                    <a:p>
                      <a:r>
                        <a:rPr lang="en-US" sz="2800" dirty="0">
                          <a:latin typeface="Roboto" panose="02000000000000000000" pitchFamily="2" charset="0"/>
                          <a:ea typeface="Roboto" panose="02000000000000000000" pitchFamily="2" charset="0"/>
                        </a:rPr>
                        <a:t>Antiemetics </a:t>
                      </a:r>
                    </a:p>
                  </a:txBody>
                  <a:tcPr anchor="ctr"/>
                </a:tc>
                <a:tc>
                  <a:txBody>
                    <a:bodyPr/>
                    <a:lstStyle/>
                    <a:p>
                      <a:r>
                        <a:rPr lang="en-US" sz="2800" dirty="0">
                          <a:latin typeface="Roboto" panose="02000000000000000000" pitchFamily="2" charset="0"/>
                          <a:ea typeface="Roboto" panose="02000000000000000000" pitchFamily="2" charset="0"/>
                        </a:rPr>
                        <a:t>72 (0.1%)</a:t>
                      </a:r>
                    </a:p>
                  </a:txBody>
                  <a:tcPr anchor="ctr"/>
                </a:tc>
                <a:extLst>
                  <a:ext uri="{0D108BD9-81ED-4DB2-BD59-A6C34878D82A}">
                    <a16:rowId xmlns:a16="http://schemas.microsoft.com/office/drawing/2014/main" val="4147431261"/>
                  </a:ext>
                </a:extLst>
              </a:tr>
              <a:tr h="522108">
                <a:tc>
                  <a:txBody>
                    <a:bodyPr/>
                    <a:lstStyle/>
                    <a:p>
                      <a:r>
                        <a:rPr lang="en-US" sz="2800" dirty="0">
                          <a:latin typeface="Roboto" panose="02000000000000000000" pitchFamily="2" charset="0"/>
                          <a:ea typeface="Roboto" panose="02000000000000000000" pitchFamily="2" charset="0"/>
                        </a:rPr>
                        <a:t>IV fluids </a:t>
                      </a:r>
                    </a:p>
                  </a:txBody>
                  <a:tcPr anchor="ctr"/>
                </a:tc>
                <a:tc>
                  <a:txBody>
                    <a:bodyPr/>
                    <a:lstStyle/>
                    <a:p>
                      <a:r>
                        <a:rPr lang="en-US" sz="2800" dirty="0">
                          <a:latin typeface="Roboto" panose="02000000000000000000" pitchFamily="2" charset="0"/>
                          <a:ea typeface="Roboto" panose="02000000000000000000" pitchFamily="2" charset="0"/>
                        </a:rPr>
                        <a:t>48 (0.1%)</a:t>
                      </a:r>
                    </a:p>
                  </a:txBody>
                  <a:tcPr anchor="ctr"/>
                </a:tc>
                <a:extLst>
                  <a:ext uri="{0D108BD9-81ED-4DB2-BD59-A6C34878D82A}">
                    <a16:rowId xmlns:a16="http://schemas.microsoft.com/office/drawing/2014/main" val="1737452000"/>
                  </a:ext>
                </a:extLst>
              </a:tr>
              <a:tr h="522108">
                <a:tc>
                  <a:txBody>
                    <a:bodyPr/>
                    <a:lstStyle/>
                    <a:p>
                      <a:r>
                        <a:rPr lang="en-US" sz="2800" dirty="0">
                          <a:latin typeface="Roboto" panose="02000000000000000000" pitchFamily="2" charset="0"/>
                          <a:ea typeface="Roboto" panose="02000000000000000000" pitchFamily="2" charset="0"/>
                        </a:rPr>
                        <a:t>Oxygen</a:t>
                      </a:r>
                    </a:p>
                  </a:txBody>
                  <a:tcPr anchor="ctr"/>
                </a:tc>
                <a:tc>
                  <a:txBody>
                    <a:bodyPr/>
                    <a:lstStyle/>
                    <a:p>
                      <a:r>
                        <a:rPr lang="en-US" sz="2800" dirty="0">
                          <a:latin typeface="Roboto" panose="02000000000000000000" pitchFamily="2" charset="0"/>
                          <a:ea typeface="Roboto" panose="02000000000000000000" pitchFamily="2" charset="0"/>
                        </a:rPr>
                        <a:t>3 (0.006 %)</a:t>
                      </a:r>
                    </a:p>
                  </a:txBody>
                  <a:tcPr anchor="ctr"/>
                </a:tc>
                <a:extLst>
                  <a:ext uri="{0D108BD9-81ED-4DB2-BD59-A6C34878D82A}">
                    <a16:rowId xmlns:a16="http://schemas.microsoft.com/office/drawing/2014/main" val="1421342593"/>
                  </a:ext>
                </a:extLst>
              </a:tr>
              <a:tr h="522108">
                <a:tc>
                  <a:txBody>
                    <a:bodyPr/>
                    <a:lstStyle/>
                    <a:p>
                      <a:r>
                        <a:rPr lang="en-US" sz="2800" dirty="0">
                          <a:latin typeface="Roboto" panose="02000000000000000000" pitchFamily="2" charset="0"/>
                          <a:ea typeface="Roboto" panose="02000000000000000000" pitchFamily="2" charset="0"/>
                        </a:rPr>
                        <a:t>Vasopressors</a:t>
                      </a:r>
                    </a:p>
                  </a:txBody>
                  <a:tcPr anchor="ctr"/>
                </a:tc>
                <a:tc>
                  <a:txBody>
                    <a:bodyPr/>
                    <a:lstStyle/>
                    <a:p>
                      <a:r>
                        <a:rPr lang="en-US" sz="2800" dirty="0">
                          <a:latin typeface="Roboto" panose="02000000000000000000" pitchFamily="2" charset="0"/>
                          <a:ea typeface="Roboto" panose="02000000000000000000" pitchFamily="2" charset="0"/>
                        </a:rPr>
                        <a:t>2 (0.004%)</a:t>
                      </a:r>
                    </a:p>
                  </a:txBody>
                  <a:tcPr anchor="ctr"/>
                </a:tc>
                <a:extLst>
                  <a:ext uri="{0D108BD9-81ED-4DB2-BD59-A6C34878D82A}">
                    <a16:rowId xmlns:a16="http://schemas.microsoft.com/office/drawing/2014/main" val="511717593"/>
                  </a:ext>
                </a:extLst>
              </a:tr>
              <a:tr h="522108">
                <a:tc>
                  <a:txBody>
                    <a:bodyPr/>
                    <a:lstStyle/>
                    <a:p>
                      <a:r>
                        <a:rPr lang="en-US" sz="2800" dirty="0">
                          <a:latin typeface="Roboto" panose="02000000000000000000" pitchFamily="2" charset="0"/>
                          <a:ea typeface="Roboto" panose="02000000000000000000" pitchFamily="2" charset="0"/>
                        </a:rPr>
                        <a:t>Hydroxocobalamin</a:t>
                      </a:r>
                    </a:p>
                  </a:txBody>
                  <a:tcPr anchor="ctr"/>
                </a:tc>
                <a:tc>
                  <a:txBody>
                    <a:bodyPr/>
                    <a:lstStyle/>
                    <a:p>
                      <a:r>
                        <a:rPr lang="en-US" sz="2800" dirty="0">
                          <a:latin typeface="Roboto" panose="02000000000000000000" pitchFamily="2" charset="0"/>
                          <a:ea typeface="Roboto" panose="02000000000000000000" pitchFamily="2" charset="0"/>
                        </a:rPr>
                        <a:t>2 (0.004%)</a:t>
                      </a:r>
                    </a:p>
                  </a:txBody>
                  <a:tcPr anchor="ctr"/>
                </a:tc>
                <a:extLst>
                  <a:ext uri="{0D108BD9-81ED-4DB2-BD59-A6C34878D82A}">
                    <a16:rowId xmlns:a16="http://schemas.microsoft.com/office/drawing/2014/main" val="416706747"/>
                  </a:ext>
                </a:extLst>
              </a:tr>
              <a:tr h="522108">
                <a:tc>
                  <a:txBody>
                    <a:bodyPr/>
                    <a:lstStyle/>
                    <a:p>
                      <a:r>
                        <a:rPr lang="en-US" sz="2800" dirty="0">
                          <a:latin typeface="Roboto" panose="02000000000000000000" pitchFamily="2" charset="0"/>
                          <a:ea typeface="Roboto" panose="02000000000000000000" pitchFamily="2" charset="0"/>
                        </a:rPr>
                        <a:t>Intubation </a:t>
                      </a:r>
                    </a:p>
                  </a:txBody>
                  <a:tcPr anchor="ctr"/>
                </a:tc>
                <a:tc>
                  <a:txBody>
                    <a:bodyPr/>
                    <a:lstStyle/>
                    <a:p>
                      <a:r>
                        <a:rPr lang="en-US" sz="2800" dirty="0">
                          <a:latin typeface="Roboto" panose="02000000000000000000" pitchFamily="2" charset="0"/>
                          <a:ea typeface="Roboto" panose="02000000000000000000" pitchFamily="2" charset="0"/>
                        </a:rPr>
                        <a:t>1 (0.002%)</a:t>
                      </a:r>
                    </a:p>
                  </a:txBody>
                  <a:tcPr anchor="ctr"/>
                </a:tc>
                <a:extLst>
                  <a:ext uri="{0D108BD9-81ED-4DB2-BD59-A6C34878D82A}">
                    <a16:rowId xmlns:a16="http://schemas.microsoft.com/office/drawing/2014/main" val="3679109994"/>
                  </a:ext>
                </a:extLst>
              </a:tr>
            </a:tbl>
          </a:graphicData>
        </a:graphic>
      </p:graphicFrame>
      <p:sp>
        <p:nvSpPr>
          <p:cNvPr id="34" name="TextBox 33">
            <a:extLst>
              <a:ext uri="{FF2B5EF4-FFF2-40B4-BE49-F238E27FC236}">
                <a16:creationId xmlns:a16="http://schemas.microsoft.com/office/drawing/2014/main" id="{E6A5349B-B4AF-46F5-BDF3-5D06B18251F7}"/>
              </a:ext>
            </a:extLst>
          </p:cNvPr>
          <p:cNvSpPr txBox="1"/>
          <p:nvPr/>
        </p:nvSpPr>
        <p:spPr>
          <a:xfrm>
            <a:off x="15384540" y="27785293"/>
            <a:ext cx="12997540" cy="2123658"/>
          </a:xfrm>
          <a:prstGeom prst="rect">
            <a:avLst/>
          </a:prstGeom>
          <a:noFill/>
        </p:spPr>
        <p:txBody>
          <a:bodyPr wrap="square" rtlCol="0">
            <a:spAutoFit/>
          </a:bodyPr>
          <a:lstStyle/>
          <a:p>
            <a:r>
              <a:rPr lang="en-US" sz="2200" dirty="0">
                <a:latin typeface="Roboto" panose="02000000000000000000" pitchFamily="2" charset="0"/>
                <a:ea typeface="Roboto" panose="02000000000000000000" pitchFamily="2" charset="0"/>
              </a:rPr>
              <a:t>National Poison Data System definitions of medical effects:</a:t>
            </a:r>
          </a:p>
          <a:p>
            <a:r>
              <a:rPr lang="en-US" sz="2200" dirty="0">
                <a:latin typeface="Roboto" panose="02000000000000000000" pitchFamily="2" charset="0"/>
                <a:ea typeface="Roboto" panose="02000000000000000000" pitchFamily="2" charset="0"/>
              </a:rPr>
              <a:t>No effect: No clinical symptoms developed from the exposure</a:t>
            </a:r>
          </a:p>
          <a:p>
            <a:r>
              <a:rPr lang="en-US" sz="2200" dirty="0">
                <a:latin typeface="Roboto" panose="02000000000000000000" pitchFamily="2" charset="0"/>
                <a:ea typeface="Roboto" panose="02000000000000000000" pitchFamily="2" charset="0"/>
              </a:rPr>
              <a:t>Minor effect: Minimally bothersome symptoms resolved quickly </a:t>
            </a:r>
          </a:p>
          <a:p>
            <a:r>
              <a:rPr lang="en-US" sz="2200" dirty="0">
                <a:latin typeface="Roboto" panose="02000000000000000000" pitchFamily="2" charset="0"/>
                <a:ea typeface="Roboto" panose="02000000000000000000" pitchFamily="2" charset="0"/>
              </a:rPr>
              <a:t>Moderate effect: Pronounced or prolonged symptoms that require treatment but are not life </a:t>
            </a:r>
          </a:p>
          <a:p>
            <a:r>
              <a:rPr lang="en-US" sz="2200" dirty="0">
                <a:latin typeface="Roboto" panose="02000000000000000000" pitchFamily="2" charset="0"/>
                <a:ea typeface="Roboto" panose="02000000000000000000" pitchFamily="2" charset="0"/>
              </a:rPr>
              <a:t>Major effect: Life-threatening symptoms or those that result in significant disability</a:t>
            </a:r>
          </a:p>
          <a:p>
            <a:endParaRPr lang="en-US" sz="2200" dirty="0">
              <a:latin typeface="Roboto" panose="02000000000000000000" pitchFamily="2" charset="0"/>
              <a:ea typeface="Roboto" panose="02000000000000000000" pitchFamily="2" charset="0"/>
            </a:endParaRPr>
          </a:p>
        </p:txBody>
      </p:sp>
    </p:spTree>
    <p:extLst>
      <p:ext uri="{BB962C8B-B14F-4D97-AF65-F5344CB8AC3E}">
        <p14:creationId xmlns:p14="http://schemas.microsoft.com/office/powerpoint/2010/main" val="1515273619"/>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45</TotalTime>
  <Words>747</Words>
  <Application>Microsoft Office PowerPoint</Application>
  <PresentationFormat>Custom</PresentationFormat>
  <Paragraphs>121</Paragraphs>
  <Slides>1</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Arial</vt:lpstr>
      <vt:lpstr>Calibri</vt:lpstr>
      <vt:lpstr>Calibri Light</vt:lpstr>
      <vt:lpstr>Courier New</vt:lpstr>
      <vt:lpstr>Roboto</vt:lpstr>
      <vt:lpstr>Verdana</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Michienzi, Avery *HS</dc:creator>
  <cp:lastModifiedBy>Michienzi, Avery *HS</cp:lastModifiedBy>
  <cp:revision>6</cp:revision>
  <dcterms:created xsi:type="dcterms:W3CDTF">2026-04-22T15:22:54Z</dcterms:created>
  <dcterms:modified xsi:type="dcterms:W3CDTF">2026-04-22T16:08:32Z</dcterms:modified>
</cp:coreProperties>
</file>