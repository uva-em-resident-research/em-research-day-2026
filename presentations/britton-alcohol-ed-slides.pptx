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PUBLIC HEALTH  ·  EPIDEMIOLOGY  ·  SAEM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EAD5"/>
                </a:solidFill>
                <a:latin typeface="Inter"/>
              </a:rPr>
              <a:t>Temporal Trends of Alcohol-Related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EAD5"/>
                </a:solidFill>
                <a:latin typeface="Inter"/>
              </a:rPr>
              <a:t>ED Visits in the Collegiate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Inter"/>
              </a:rPr>
              <a:t>A 6-year retrospective at a university-affiliated ED  ·  9,809 visits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Matthew Britton, 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Submitted to SAEM 2026 as:  Rita Farah, Samy Kebaish, Sarah Wendel,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Moira Smith, Jacob Britton, Christopher Holstege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01  · 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6B7280"/>
                </a:solidFill>
                <a:latin typeface="Inter"/>
              </a:rPr>
              <a:t>Are alcohol-related collegiate ED visits random in time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32D4B"/>
                </a:solidFill>
                <a:latin typeface="Inter"/>
              </a:rPr>
              <a:t>or do they cluster in predictable windows?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303520" cy="329184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WHY THIS QUESTION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232D4B"/>
                </a:solidFill>
                <a:latin typeface="Inter"/>
              </a:rPr>
              <a:t>29% / 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of male / female full-time college students reported past-month binge drinking (2023 NSDUH).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Young U.S. adults are drinking less than decades prior — yet binge use stays high enough to drive real ED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THE OPEN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If alcohol-related ED visits arrive uniformly across the week, we plan capacity broadly and broadcast prevention messages broadly.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If they cluster in identifiable high-density windows, both ED operations and university partners can plan ahead — weekend nights, game-day surges, semester-boundary spikes.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This study tested which one is true at a university-affiliated 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02  · 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32D4B"/>
                </a:solidFill>
                <a:latin typeface="Inter"/>
              </a:rPr>
              <a:t>Retrospective cohort, 2018–2023.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7280"/>
                </a:solidFill>
                <a:latin typeface="Inter"/>
              </a:rPr>
              <a:t>Day-of-week and hour-of-day patterns + temporal-window density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Single university-affiliated emergency department.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Collegiate students presenting between 2018 and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Comparator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1752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Alcohol-related vs non-alcohol-related visits.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Analysis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56616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Day-of-week and hour-of-day distribution comparison (odds ratios).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Analysis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11480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Temporal-window density across 24h, 48h, and 72h horizons.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66344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Exhaustive rolling-count of alcohol events; windows ranked, top-95th percentile flagged.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Tooling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21208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Python  ·  SciKit-Learn  ·  NumPy.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03  ·  RESULTS  ·  DAY &amp;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32D4B"/>
                </a:solidFill>
                <a:latin typeface="Inter"/>
              </a:rPr>
              <a:t>Alcohol visits are not random across the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2286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FRI / SAT / SUN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F4EAD5"/>
                </a:solidFill>
                <a:latin typeface="Inter"/>
              </a:rPr>
              <a:t>85.1%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of alcohol visits land on a weekend day.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Weekend OR 5.8  (95% CI 5.3 – 6.4, p&lt;0.001)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486400" cy="22860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0000  –  0200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232D4B"/>
                </a:solidFill>
                <a:latin typeface="Inter"/>
              </a:rPr>
              <a:t>60.7%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>of alcohol visits land in a 2-hour overnight window.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>0000–0200 OR 6.9  (95% CI 6.2 – 7.7, p&lt;0.001)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WHILE THE COMPARATOR (NON-ALCOHOL VISITS) IS ROUGHLY UNIFORM ACROSS THE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11155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74151"/>
                </a:solidFill>
                <a:latin typeface="Inter"/>
              </a:rPr>
              <a:t>Non-alcohol collegiate visits show no comparable weekend or overnight skew. The temporal density signature is specific to the alcohol-related cohort — not a generic property of ED arrivals on this campus.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04  ·  RESULTS  ·  EVENT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And the high-density windows align with predictable campus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Inter"/>
              </a:rPr>
              <a:t>Top-95th percentile temporal windows mapped to known campus calendar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University home football games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232D4B"/>
                </a:solidFill>
                <a:latin typeface="Inter"/>
              </a:rPr>
              <a:t>40%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240280"/>
            <a:ext cx="7315200" cy="27432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2240280"/>
            <a:ext cx="5852160" cy="27432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First / last weekend of each 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97180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232D4B"/>
                </a:solidFill>
                <a:latin typeface="Inter"/>
              </a:rPr>
              <a:t>27%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17520"/>
            <a:ext cx="7315200" cy="27432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3017520"/>
            <a:ext cx="3950208" cy="27432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Halloween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74904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232D4B"/>
                </a:solidFill>
                <a:latin typeface="Inter"/>
              </a:rPr>
              <a:t>17%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794760"/>
            <a:ext cx="7315200" cy="27432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3794760"/>
            <a:ext cx="2487168" cy="27432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Identified Greek-life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52628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232D4B"/>
                </a:solidFill>
                <a:latin typeface="Inter"/>
              </a:rPr>
              <a:t>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572000"/>
            <a:ext cx="7315200" cy="27432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4572000"/>
            <a:ext cx="1463040" cy="27432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374151"/>
                </a:solidFill>
                <a:latin typeface="Inter"/>
              </a:rPr>
              <a:t>Together these four event types account for ~94% of alcohol-related collegiate ED visits in the top-density windows. The residual ~6% is unattributed.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05  ·  WHAT THIS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32D4B"/>
                </a:solidFill>
                <a:latin typeface="Inter"/>
              </a:rPr>
              <a:t>Two operational asks fall out of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DOWNSTREAM  ·  ED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32D4B"/>
                </a:solidFill>
                <a:latin typeface="Inter"/>
              </a:rPr>
              <a:t>Pre-position resources around</a:t>
            </a:r>
          </a:p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32D4B"/>
                </a:solidFill>
                <a:latin typeface="Inter"/>
              </a:rPr>
              <a:t>the predictable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292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>•  Targeted weekend-night staffing pattern (Fri / Sat 0000–0200).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>•  Surge planning for ~6–8 home football weekends per academic year.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>•  Anticipated bumps at semester boundaries and Halloween.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74151"/>
                </a:solidFill>
                <a:latin typeface="Inter"/>
              </a:rPr>
              <a:t>•  Tox + behavioral-health on-call coverage tracking the same calendar.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486400" cy="438912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UPSTREAM  ·  STUDENT AFFAIRS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EAD5"/>
                </a:solidFill>
                <a:latin typeface="Inter"/>
              </a:rPr>
              <a:t>Co-developed messaging</a:t>
            </a:r>
          </a:p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EAD5"/>
                </a:solidFill>
                <a:latin typeface="Inter"/>
              </a:rPr>
              <a:t>in the same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50292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•  Partner with Student Affairs / Student Health on the high-density events.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•  Pre-game and pre-Halloween outreach, not generic year-round messaging.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•  Greek-life partner programming around the identified clusters.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•  Joint after-action reviews following surge weekends.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06  · 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TAKE-HOME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4EAD5"/>
                </a:solidFill>
                <a:latin typeface="Inter"/>
              </a:rPr>
              <a:t>Alcohol-related collegiate ED visits cluster — clearly, not randomly — in time. The pattern is strong enough to plan around.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AUTHORS  ·  AS SUBMITTED TO SAEM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FFFFF"/>
                </a:solidFill>
                <a:latin typeface="Inter"/>
              </a:rPr>
              <a:t>Rita Farah  ·  Samy Kebaish  ·  Sarah Wendel  ·  Moira Smith</a:t>
            </a:r>
          </a:p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FFFFFF"/>
                </a:solidFill>
                <a:latin typeface="Inter"/>
              </a:rPr>
              <a:t>Jacob Britton  ·  Christopher Holstege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QUESTIONS WELCOME  ·  Matthew Britton, MD  ·  UVA Emergency Medicine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