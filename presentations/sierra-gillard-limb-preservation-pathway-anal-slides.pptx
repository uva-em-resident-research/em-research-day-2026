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Public Sans Bold" charset="1" panose="00000000000000000000"/>
      <p:regular r:id="rId23"/>
    </p:embeddedFont>
    <p:embeddedFont>
      <p:font typeface="Public Sans" charset="1" panose="000000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notesMasters/notesMaster1.xml" Type="http://schemas.openxmlformats.org/officeDocument/2006/relationships/notesMaster"/><Relationship Id="rId26" Target="theme/theme2.xml" Type="http://schemas.openxmlformats.org/officeDocument/2006/relationships/theme"/><Relationship Id="rId27" Target="notesSlides/notesSlide1.xml" Type="http://schemas.openxmlformats.org/officeDocument/2006/relationships/notesSlide"/><Relationship Id="rId28" Target="notesSlides/notesSlide2.xml" Type="http://schemas.openxmlformats.org/officeDocument/2006/relationships/notesSlide"/><Relationship Id="rId29" Target="notesSlides/notesSlide3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4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ICD 10 codes and CC match after discharge allowed to avoid the traumatic patient presentations to only include foot wound path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The standard deviation reflects variability in the patient's LOS. The ones that are relatively large indicate a wider range of hospital courses which is expected in a population like this (mild infection = shorter days more severe/surgical need = longer stays). However the variability appears to be lower in the EHR phase of implementation, which might suggest more standardization in patient care.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The standard deviation reflects variability in the patient's LOS. The ones that are relatively large indicate a wider range of hospital courses which is expected in a population like this (mild infection = shorter days more severe/surgical need = longer stays). However the variability appears to be lower in the EHR phase of implementation, which might suggest more standardization in patient care.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0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4551380" y="4970611"/>
            <a:ext cx="9185239" cy="0"/>
          </a:xfrm>
          <a:prstGeom prst="line">
            <a:avLst/>
          </a:prstGeom>
          <a:ln cap="flat" w="19050">
            <a:solidFill>
              <a:srgbClr val="124D9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187094" y="8281888"/>
            <a:ext cx="18662187" cy="1952824"/>
          </a:xfrm>
          <a:custGeom>
            <a:avLst/>
            <a:gdLst/>
            <a:ahLst/>
            <a:cxnLst/>
            <a:rect r="r" b="b" t="t" l="l"/>
            <a:pathLst>
              <a:path h="1952824" w="18662187">
                <a:moveTo>
                  <a:pt x="0" y="0"/>
                </a:moveTo>
                <a:lnTo>
                  <a:pt x="18662188" y="0"/>
                </a:lnTo>
                <a:lnTo>
                  <a:pt x="18662188" y="1952824"/>
                </a:lnTo>
                <a:lnTo>
                  <a:pt x="0" y="19528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3311" r="0" b="-13311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777021" y="5399236"/>
            <a:ext cx="12733958" cy="2390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E821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Jackson Ag</a:t>
            </a:r>
            <a:r>
              <a:rPr lang="en-US" b="true" sz="3399" u="none">
                <a:solidFill>
                  <a:srgbClr val="E821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raz, Pavel Chernyavsky, Genesis Gilliard, Moira Smith, Noel Mukubwa, Joshua Eby, Caroline Tippett, Robert Becker, Daniel Wolfe, Sarah Wendel</a:t>
            </a:r>
          </a:p>
          <a:p>
            <a:pPr algn="ctr" marL="0" indent="0" lvl="0">
              <a:lnSpc>
                <a:spcPts val="4759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292514" y="1359706"/>
            <a:ext cx="17702972" cy="4115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16"/>
              </a:lnSpc>
            </a:pPr>
            <a:r>
              <a:rPr lang="en-US" b="true" sz="5924" spc="-59">
                <a:solidFill>
                  <a:srgbClr val="1B4B9D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IMPACT OF AN ELECTRONIC HEALTH RECORD–INTEGRATED MULTIDISCIPLINARY FOOT WOUND PATHWAY IN THE EMERGENCY DEPARTMENT</a:t>
            </a:r>
          </a:p>
          <a:p>
            <a:pPr algn="ctr">
              <a:lnSpc>
                <a:spcPts val="6516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58833" y="1704975"/>
            <a:ext cx="13370334" cy="686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 b="true">
                <a:solidFill>
                  <a:srgbClr val="1B4B9D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 have nothing to disclose.</a:t>
            </a:r>
          </a:p>
          <a:p>
            <a:pPr algn="ctr">
              <a:lnSpc>
                <a:spcPts val="10800"/>
              </a:lnSpc>
            </a:pPr>
          </a:p>
          <a:p>
            <a:pPr algn="ctr" marL="0" indent="0" lvl="0">
              <a:lnSpc>
                <a:spcPts val="10800"/>
              </a:lnSpc>
              <a:spcBef>
                <a:spcPct val="0"/>
              </a:spcBef>
            </a:pPr>
            <a:r>
              <a:rPr lang="en-US" b="true" sz="9000">
                <a:solidFill>
                  <a:srgbClr val="1B4B9D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 have no conflicts of interest.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77421" y="874023"/>
            <a:ext cx="9887174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800"/>
              </a:lnSpc>
              <a:spcBef>
                <a:spcPct val="0"/>
              </a:spcBef>
            </a:pPr>
            <a:r>
              <a:rPr lang="en-US" b="true" sz="9000">
                <a:solidFill>
                  <a:srgbClr val="1B4B9D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Background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02326" y="3098801"/>
            <a:ext cx="5967415" cy="4751691"/>
            <a:chOff x="0" y="0"/>
            <a:chExt cx="7956554" cy="6335588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421573" y="0"/>
              <a:ext cx="7113408" cy="6335588"/>
              <a:chOff x="0" y="0"/>
              <a:chExt cx="4024843" cy="3584744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024843" cy="3584744"/>
              </a:xfrm>
              <a:custGeom>
                <a:avLst/>
                <a:gdLst/>
                <a:ahLst/>
                <a:cxnLst/>
                <a:rect r="r" b="b" t="t" l="l"/>
                <a:pathLst>
                  <a:path h="3584744" w="4024843">
                    <a:moveTo>
                      <a:pt x="43534" y="0"/>
                    </a:moveTo>
                    <a:lnTo>
                      <a:pt x="3981309" y="0"/>
                    </a:lnTo>
                    <a:cubicBezTo>
                      <a:pt x="3992855" y="0"/>
                      <a:pt x="4003928" y="4587"/>
                      <a:pt x="4012092" y="12751"/>
                    </a:cubicBezTo>
                    <a:cubicBezTo>
                      <a:pt x="4020257" y="20915"/>
                      <a:pt x="4024843" y="31988"/>
                      <a:pt x="4024843" y="43534"/>
                    </a:cubicBezTo>
                    <a:lnTo>
                      <a:pt x="4024843" y="3541210"/>
                    </a:lnTo>
                    <a:cubicBezTo>
                      <a:pt x="4024843" y="3552756"/>
                      <a:pt x="4020257" y="3563829"/>
                      <a:pt x="4012092" y="3571993"/>
                    </a:cubicBezTo>
                    <a:cubicBezTo>
                      <a:pt x="4003928" y="3580157"/>
                      <a:pt x="3992855" y="3584744"/>
                      <a:pt x="3981309" y="3584744"/>
                    </a:cubicBezTo>
                    <a:lnTo>
                      <a:pt x="43534" y="3584744"/>
                    </a:lnTo>
                    <a:cubicBezTo>
                      <a:pt x="31988" y="3584744"/>
                      <a:pt x="20915" y="3580157"/>
                      <a:pt x="12751" y="3571993"/>
                    </a:cubicBezTo>
                    <a:cubicBezTo>
                      <a:pt x="4587" y="3563829"/>
                      <a:pt x="0" y="3552756"/>
                      <a:pt x="0" y="3541210"/>
                    </a:cubicBezTo>
                    <a:lnTo>
                      <a:pt x="0" y="43534"/>
                    </a:lnTo>
                    <a:cubicBezTo>
                      <a:pt x="0" y="31988"/>
                      <a:pt x="4587" y="20915"/>
                      <a:pt x="12751" y="12751"/>
                    </a:cubicBezTo>
                    <a:cubicBezTo>
                      <a:pt x="20915" y="4587"/>
                      <a:pt x="31988" y="0"/>
                      <a:pt x="43534" y="0"/>
                    </a:cubicBezTo>
                    <a:close/>
                  </a:path>
                </a:pathLst>
              </a:custGeom>
              <a:solidFill>
                <a:srgbClr val="E82133"/>
              </a:solidFill>
              <a:ln cap="rnd">
                <a:noFill/>
                <a:prstDash val="sysDot"/>
                <a:round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4024843" cy="3622844"/>
              </a:xfrm>
              <a:prstGeom prst="rect">
                <a:avLst/>
              </a:prstGeom>
            </p:spPr>
            <p:txBody>
              <a:bodyPr anchor="ctr" rtlCol="false" tIns="254000" lIns="254000" bIns="254000" rIns="254000"/>
              <a:lstStyle/>
              <a:p>
                <a:pPr algn="l">
                  <a:lnSpc>
                    <a:spcPts val="2380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779285" y="361258"/>
              <a:ext cx="3017772" cy="9095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371"/>
                </a:lnSpc>
                <a:spcBef>
                  <a:spcPct val="0"/>
                </a:spcBef>
              </a:pPr>
              <a:r>
                <a:rPr lang="en-US" b="true" sz="4476">
                  <a:solidFill>
                    <a:srgbClr val="F9FCF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Burden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516183"/>
              <a:ext cx="7956554" cy="4020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936731" indent="-468366" lvl="1">
                <a:lnSpc>
                  <a:spcPts val="6074"/>
                </a:lnSpc>
                <a:buFont typeface="Arial"/>
                <a:buChar char="•"/>
              </a:pPr>
              <a:r>
                <a:rPr lang="en-US" sz="4338">
                  <a:solidFill>
                    <a:srgbClr val="F9FC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1.6M US patients/year</a:t>
              </a:r>
            </a:p>
            <a:p>
              <a:pPr algn="l" marL="936731" indent="-468366" lvl="1">
                <a:lnSpc>
                  <a:spcPts val="6074"/>
                </a:lnSpc>
                <a:buFont typeface="Arial"/>
                <a:buChar char="•"/>
              </a:pPr>
              <a:r>
                <a:rPr lang="en-US" sz="4338">
                  <a:solidFill>
                    <a:srgbClr val="F9FC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High infection + amputation risks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318382" y="3098801"/>
            <a:ext cx="5967415" cy="4751691"/>
            <a:chOff x="0" y="0"/>
            <a:chExt cx="7956554" cy="633558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421573" y="0"/>
              <a:ext cx="7113408" cy="6335588"/>
              <a:chOff x="0" y="0"/>
              <a:chExt cx="4024843" cy="3584744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4024843" cy="3584744"/>
              </a:xfrm>
              <a:custGeom>
                <a:avLst/>
                <a:gdLst/>
                <a:ahLst/>
                <a:cxnLst/>
                <a:rect r="r" b="b" t="t" l="l"/>
                <a:pathLst>
                  <a:path h="3584744" w="4024843">
                    <a:moveTo>
                      <a:pt x="43534" y="0"/>
                    </a:moveTo>
                    <a:lnTo>
                      <a:pt x="3981309" y="0"/>
                    </a:lnTo>
                    <a:cubicBezTo>
                      <a:pt x="3992855" y="0"/>
                      <a:pt x="4003928" y="4587"/>
                      <a:pt x="4012092" y="12751"/>
                    </a:cubicBezTo>
                    <a:cubicBezTo>
                      <a:pt x="4020257" y="20915"/>
                      <a:pt x="4024843" y="31988"/>
                      <a:pt x="4024843" y="43534"/>
                    </a:cubicBezTo>
                    <a:lnTo>
                      <a:pt x="4024843" y="3541210"/>
                    </a:lnTo>
                    <a:cubicBezTo>
                      <a:pt x="4024843" y="3552756"/>
                      <a:pt x="4020257" y="3563829"/>
                      <a:pt x="4012092" y="3571993"/>
                    </a:cubicBezTo>
                    <a:cubicBezTo>
                      <a:pt x="4003928" y="3580157"/>
                      <a:pt x="3992855" y="3584744"/>
                      <a:pt x="3981309" y="3584744"/>
                    </a:cubicBezTo>
                    <a:lnTo>
                      <a:pt x="43534" y="3584744"/>
                    </a:lnTo>
                    <a:cubicBezTo>
                      <a:pt x="31988" y="3584744"/>
                      <a:pt x="20915" y="3580157"/>
                      <a:pt x="12751" y="3571993"/>
                    </a:cubicBezTo>
                    <a:cubicBezTo>
                      <a:pt x="4587" y="3563829"/>
                      <a:pt x="0" y="3552756"/>
                      <a:pt x="0" y="3541210"/>
                    </a:cubicBezTo>
                    <a:lnTo>
                      <a:pt x="0" y="43534"/>
                    </a:lnTo>
                    <a:cubicBezTo>
                      <a:pt x="0" y="31988"/>
                      <a:pt x="4587" y="20915"/>
                      <a:pt x="12751" y="12751"/>
                    </a:cubicBezTo>
                    <a:cubicBezTo>
                      <a:pt x="20915" y="4587"/>
                      <a:pt x="31988" y="0"/>
                      <a:pt x="43534" y="0"/>
                    </a:cubicBezTo>
                    <a:close/>
                  </a:path>
                </a:pathLst>
              </a:custGeom>
              <a:solidFill>
                <a:srgbClr val="E82133"/>
              </a:solidFill>
              <a:ln cap="rnd">
                <a:noFill/>
                <a:prstDash val="sysDot"/>
                <a:round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4024843" cy="3622844"/>
              </a:xfrm>
              <a:prstGeom prst="rect">
                <a:avLst/>
              </a:prstGeom>
            </p:spPr>
            <p:txBody>
              <a:bodyPr anchor="ctr" rtlCol="false" tIns="254000" lIns="254000" bIns="254000" rIns="254000"/>
              <a:lstStyle/>
              <a:p>
                <a:pPr algn="l">
                  <a:lnSpc>
                    <a:spcPts val="2380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776928" y="369093"/>
              <a:ext cx="5838543" cy="901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371"/>
                </a:lnSpc>
                <a:spcBef>
                  <a:spcPct val="0"/>
                </a:spcBef>
              </a:pPr>
              <a:r>
                <a:rPr lang="en-US" b="true" sz="4476">
                  <a:solidFill>
                    <a:srgbClr val="F9FCF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ED Challenges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516183"/>
              <a:ext cx="7956554" cy="30000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936731" indent="-468366" lvl="1">
                <a:lnSpc>
                  <a:spcPts val="6074"/>
                </a:lnSpc>
                <a:buFont typeface="Arial"/>
                <a:buChar char="•"/>
              </a:pPr>
              <a:r>
                <a:rPr lang="en-US" sz="4338">
                  <a:solidFill>
                    <a:srgbClr val="F9FC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Complex</a:t>
              </a:r>
            </a:p>
            <a:p>
              <a:pPr algn="l" marL="936731" indent="-468366" lvl="1">
                <a:lnSpc>
                  <a:spcPts val="6074"/>
                </a:lnSpc>
                <a:buFont typeface="Arial"/>
                <a:buChar char="•"/>
              </a:pPr>
              <a:r>
                <a:rPr lang="en-US" sz="4338">
                  <a:solidFill>
                    <a:srgbClr val="F9FC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Multidisciplinary</a:t>
              </a:r>
            </a:p>
            <a:p>
              <a:pPr algn="l" marL="936731" indent="-468366" lvl="1">
                <a:lnSpc>
                  <a:spcPts val="6074"/>
                </a:lnSpc>
                <a:buFont typeface="Arial"/>
                <a:buChar char="•"/>
              </a:pPr>
              <a:r>
                <a:rPr lang="en-US" sz="4338">
                  <a:solidFill>
                    <a:srgbClr val="F9FC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Variable care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036293" y="3098801"/>
            <a:ext cx="5649381" cy="4751691"/>
            <a:chOff x="0" y="0"/>
            <a:chExt cx="7532508" cy="6335588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419100" y="0"/>
              <a:ext cx="7113408" cy="6335588"/>
              <a:chOff x="0" y="0"/>
              <a:chExt cx="4024843" cy="3584744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4024843" cy="3584744"/>
              </a:xfrm>
              <a:custGeom>
                <a:avLst/>
                <a:gdLst/>
                <a:ahLst/>
                <a:cxnLst/>
                <a:rect r="r" b="b" t="t" l="l"/>
                <a:pathLst>
                  <a:path h="3584744" w="4024843">
                    <a:moveTo>
                      <a:pt x="43534" y="0"/>
                    </a:moveTo>
                    <a:lnTo>
                      <a:pt x="3981309" y="0"/>
                    </a:lnTo>
                    <a:cubicBezTo>
                      <a:pt x="3992855" y="0"/>
                      <a:pt x="4003928" y="4587"/>
                      <a:pt x="4012092" y="12751"/>
                    </a:cubicBezTo>
                    <a:cubicBezTo>
                      <a:pt x="4020257" y="20915"/>
                      <a:pt x="4024843" y="31988"/>
                      <a:pt x="4024843" y="43534"/>
                    </a:cubicBezTo>
                    <a:lnTo>
                      <a:pt x="4024843" y="3541210"/>
                    </a:lnTo>
                    <a:cubicBezTo>
                      <a:pt x="4024843" y="3552756"/>
                      <a:pt x="4020257" y="3563829"/>
                      <a:pt x="4012092" y="3571993"/>
                    </a:cubicBezTo>
                    <a:cubicBezTo>
                      <a:pt x="4003928" y="3580157"/>
                      <a:pt x="3992855" y="3584744"/>
                      <a:pt x="3981309" y="3584744"/>
                    </a:cubicBezTo>
                    <a:lnTo>
                      <a:pt x="43534" y="3584744"/>
                    </a:lnTo>
                    <a:cubicBezTo>
                      <a:pt x="31988" y="3584744"/>
                      <a:pt x="20915" y="3580157"/>
                      <a:pt x="12751" y="3571993"/>
                    </a:cubicBezTo>
                    <a:cubicBezTo>
                      <a:pt x="4587" y="3563829"/>
                      <a:pt x="0" y="3552756"/>
                      <a:pt x="0" y="3541210"/>
                    </a:cubicBezTo>
                    <a:lnTo>
                      <a:pt x="0" y="43534"/>
                    </a:lnTo>
                    <a:cubicBezTo>
                      <a:pt x="0" y="31988"/>
                      <a:pt x="4587" y="20915"/>
                      <a:pt x="12751" y="12751"/>
                    </a:cubicBezTo>
                    <a:cubicBezTo>
                      <a:pt x="20915" y="4587"/>
                      <a:pt x="31988" y="0"/>
                      <a:pt x="43534" y="0"/>
                    </a:cubicBezTo>
                    <a:close/>
                  </a:path>
                </a:pathLst>
              </a:custGeom>
              <a:solidFill>
                <a:srgbClr val="E82133"/>
              </a:solidFill>
              <a:ln cap="rnd">
                <a:noFill/>
                <a:prstDash val="sysDot"/>
                <a:round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4024843" cy="3622844"/>
              </a:xfrm>
              <a:prstGeom prst="rect">
                <a:avLst/>
              </a:prstGeom>
            </p:spPr>
            <p:txBody>
              <a:bodyPr anchor="ctr" rtlCol="false" tIns="254000" lIns="254000" bIns="254000" rIns="254000"/>
              <a:lstStyle/>
              <a:p>
                <a:pPr algn="l">
                  <a:lnSpc>
                    <a:spcPts val="2380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774700" y="369093"/>
              <a:ext cx="5838543" cy="901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371"/>
                </a:lnSpc>
                <a:spcBef>
                  <a:spcPct val="0"/>
                </a:spcBef>
              </a:pPr>
              <a:r>
                <a:rPr lang="en-US" b="true" sz="4476">
                  <a:solidFill>
                    <a:srgbClr val="F9FCF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Impact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1516183"/>
              <a:ext cx="7532508" cy="30000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936731" indent="-468366" lvl="1">
                <a:lnSpc>
                  <a:spcPts val="6074"/>
                </a:lnSpc>
                <a:buFont typeface="Arial"/>
                <a:buChar char="•"/>
              </a:pPr>
              <a:r>
                <a:rPr lang="en-US" sz="4338">
                  <a:solidFill>
                    <a:srgbClr val="F9FC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Delays </a:t>
              </a:r>
            </a:p>
            <a:p>
              <a:pPr algn="l" marL="936731" indent="-468366" lvl="1">
                <a:lnSpc>
                  <a:spcPts val="6074"/>
                </a:lnSpc>
                <a:buFont typeface="Arial"/>
                <a:buChar char="•"/>
              </a:pPr>
              <a:r>
                <a:rPr lang="en-US" sz="4338">
                  <a:solidFill>
                    <a:srgbClr val="F9FC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Increased LOS</a:t>
              </a:r>
            </a:p>
            <a:p>
              <a:pPr algn="l" marL="936731" indent="-468366" lvl="1">
                <a:lnSpc>
                  <a:spcPts val="6074"/>
                </a:lnSpc>
                <a:buFont typeface="Arial"/>
                <a:buChar char="•"/>
              </a:pPr>
              <a:r>
                <a:rPr lang="en-US" sz="4338">
                  <a:solidFill>
                    <a:srgbClr val="F9FC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High cost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6753" y="8512733"/>
            <a:ext cx="18214494" cy="2251603"/>
            <a:chOff x="0" y="0"/>
            <a:chExt cx="13741276" cy="169864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741276" cy="1698642"/>
            </a:xfrm>
            <a:custGeom>
              <a:avLst/>
              <a:gdLst/>
              <a:ahLst/>
              <a:cxnLst/>
              <a:rect r="r" b="b" t="t" l="l"/>
              <a:pathLst>
                <a:path h="1698642" w="13741276">
                  <a:moveTo>
                    <a:pt x="12751" y="0"/>
                  </a:moveTo>
                  <a:lnTo>
                    <a:pt x="13728525" y="0"/>
                  </a:lnTo>
                  <a:cubicBezTo>
                    <a:pt x="13731906" y="0"/>
                    <a:pt x="13735149" y="1343"/>
                    <a:pt x="13737541" y="3735"/>
                  </a:cubicBezTo>
                  <a:cubicBezTo>
                    <a:pt x="13739932" y="6126"/>
                    <a:pt x="13741276" y="9369"/>
                    <a:pt x="13741276" y="12751"/>
                  </a:cubicBezTo>
                  <a:lnTo>
                    <a:pt x="13741276" y="1685891"/>
                  </a:lnTo>
                  <a:cubicBezTo>
                    <a:pt x="13741276" y="1692933"/>
                    <a:pt x="13735568" y="1698642"/>
                    <a:pt x="13728525" y="1698642"/>
                  </a:cubicBezTo>
                  <a:lnTo>
                    <a:pt x="12751" y="1698642"/>
                  </a:lnTo>
                  <a:cubicBezTo>
                    <a:pt x="9369" y="1698642"/>
                    <a:pt x="6126" y="1697299"/>
                    <a:pt x="3735" y="1694907"/>
                  </a:cubicBezTo>
                  <a:cubicBezTo>
                    <a:pt x="1343" y="1692516"/>
                    <a:pt x="0" y="1689273"/>
                    <a:pt x="0" y="1685891"/>
                  </a:cubicBezTo>
                  <a:lnTo>
                    <a:pt x="0" y="12751"/>
                  </a:lnTo>
                  <a:cubicBezTo>
                    <a:pt x="0" y="5709"/>
                    <a:pt x="5709" y="0"/>
                    <a:pt x="12751" y="0"/>
                  </a:cubicBezTo>
                  <a:close/>
                </a:path>
              </a:pathLst>
            </a:custGeom>
            <a:solidFill>
              <a:srgbClr val="1B4B9D"/>
            </a:solidFill>
            <a:ln cap="rnd">
              <a:noFill/>
              <a:prstDash val="sysDot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3741276" cy="1736742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2380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-150581" y="8966069"/>
            <a:ext cx="18589163" cy="655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b="true" sz="3799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Creates an opportunity for standardization at the point of ED decision-making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5726783" cy="10287000"/>
          </a:xfrm>
          <a:prstGeom prst="rect">
            <a:avLst/>
          </a:prstGeom>
          <a:solidFill>
            <a:srgbClr val="E82133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443061" y="4510087"/>
            <a:ext cx="4840660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840"/>
              </a:lnSpc>
              <a:spcBef>
                <a:spcPct val="0"/>
              </a:spcBef>
            </a:pPr>
            <a:r>
              <a:rPr lang="en-US" b="true" sz="8200">
                <a:solidFill>
                  <a:srgbClr val="F9FC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Objective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412408" y="942975"/>
            <a:ext cx="10846892" cy="2271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74"/>
              </a:lnSpc>
            </a:pPr>
            <a:r>
              <a:rPr lang="en-US" sz="4338">
                <a:solidFill>
                  <a:srgbClr val="1B4B9D"/>
                </a:solidFill>
                <a:latin typeface="Public Sans"/>
                <a:ea typeface="Public Sans"/>
                <a:cs typeface="Public Sans"/>
                <a:sym typeface="Public Sans"/>
              </a:rPr>
              <a:t>Evaluate whether a standardized limb preservation pathway reduces:</a:t>
            </a:r>
          </a:p>
          <a:p>
            <a:pPr algn="l">
              <a:lnSpc>
                <a:spcPts val="6074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6005859" y="3011234"/>
            <a:ext cx="11659990" cy="1090811"/>
            <a:chOff x="0" y="0"/>
            <a:chExt cx="15546653" cy="1454414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5546653" cy="1454414"/>
              <a:chOff x="0" y="0"/>
              <a:chExt cx="11769669" cy="110107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1770939" cy="1101071"/>
              </a:xfrm>
              <a:custGeom>
                <a:avLst/>
                <a:gdLst/>
                <a:ahLst/>
                <a:cxnLst/>
                <a:rect r="r" b="b" t="t" l="l"/>
                <a:pathLst>
                  <a:path h="1101071" w="11770939">
                    <a:moveTo>
                      <a:pt x="11217219" y="1101071"/>
                    </a:moveTo>
                    <a:lnTo>
                      <a:pt x="553720" y="1101071"/>
                    </a:lnTo>
                    <a:cubicBezTo>
                      <a:pt x="247650" y="1101071"/>
                      <a:pt x="0" y="854562"/>
                      <a:pt x="0" y="551167"/>
                    </a:cubicBezTo>
                    <a:cubicBezTo>
                      <a:pt x="0" y="246508"/>
                      <a:pt x="247650" y="0"/>
                      <a:pt x="553720" y="0"/>
                    </a:cubicBezTo>
                    <a:lnTo>
                      <a:pt x="11217219" y="0"/>
                    </a:lnTo>
                    <a:cubicBezTo>
                      <a:pt x="11523289" y="0"/>
                      <a:pt x="11770939" y="246508"/>
                      <a:pt x="11770939" y="551167"/>
                    </a:cubicBezTo>
                    <a:cubicBezTo>
                      <a:pt x="11769669" y="854562"/>
                      <a:pt x="11522019" y="1101071"/>
                      <a:pt x="11217219" y="1101071"/>
                    </a:cubicBezTo>
                    <a:close/>
                  </a:path>
                </a:pathLst>
              </a:custGeom>
              <a:solidFill>
                <a:srgbClr val="1B4B9D"/>
              </a:solidFill>
            </p:spPr>
          </p:sp>
        </p:grpSp>
        <p:sp>
          <p:nvSpPr>
            <p:cNvPr name="TextBox 8" id="8"/>
            <p:cNvSpPr txBox="true"/>
            <p:nvPr/>
          </p:nvSpPr>
          <p:spPr>
            <a:xfrm rot="0">
              <a:off x="1206666" y="238910"/>
              <a:ext cx="12929403" cy="8783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19"/>
                </a:lnSpc>
              </a:pPr>
              <a:r>
                <a:rPr lang="en-US" sz="394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Emergency department and hospital LOS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005859" y="4926616"/>
            <a:ext cx="11659990" cy="1090811"/>
            <a:chOff x="0" y="0"/>
            <a:chExt cx="15546653" cy="1454414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5546653" cy="1454414"/>
              <a:chOff x="0" y="0"/>
              <a:chExt cx="11769669" cy="1101071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1770939" cy="1101071"/>
              </a:xfrm>
              <a:custGeom>
                <a:avLst/>
                <a:gdLst/>
                <a:ahLst/>
                <a:cxnLst/>
                <a:rect r="r" b="b" t="t" l="l"/>
                <a:pathLst>
                  <a:path h="1101071" w="11770939">
                    <a:moveTo>
                      <a:pt x="11217219" y="1101071"/>
                    </a:moveTo>
                    <a:lnTo>
                      <a:pt x="553720" y="1101071"/>
                    </a:lnTo>
                    <a:cubicBezTo>
                      <a:pt x="247650" y="1101071"/>
                      <a:pt x="0" y="854562"/>
                      <a:pt x="0" y="551167"/>
                    </a:cubicBezTo>
                    <a:cubicBezTo>
                      <a:pt x="0" y="246508"/>
                      <a:pt x="247650" y="0"/>
                      <a:pt x="553720" y="0"/>
                    </a:cubicBezTo>
                    <a:lnTo>
                      <a:pt x="11217219" y="0"/>
                    </a:lnTo>
                    <a:cubicBezTo>
                      <a:pt x="11523289" y="0"/>
                      <a:pt x="11770939" y="246508"/>
                      <a:pt x="11770939" y="551167"/>
                    </a:cubicBezTo>
                    <a:cubicBezTo>
                      <a:pt x="11769669" y="854562"/>
                      <a:pt x="11522019" y="1101071"/>
                      <a:pt x="11217219" y="1101071"/>
                    </a:cubicBezTo>
                    <a:close/>
                  </a:path>
                </a:pathLst>
              </a:custGeom>
              <a:solidFill>
                <a:srgbClr val="1B4B9D"/>
              </a:solidFill>
            </p:spPr>
          </p:sp>
        </p:grpSp>
        <p:sp>
          <p:nvSpPr>
            <p:cNvPr name="TextBox 12" id="12"/>
            <p:cNvSpPr txBox="true"/>
            <p:nvPr/>
          </p:nvSpPr>
          <p:spPr>
            <a:xfrm rot="0">
              <a:off x="1206666" y="238910"/>
              <a:ext cx="12929403" cy="8783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19"/>
                </a:lnSpc>
              </a:pPr>
              <a:r>
                <a:rPr lang="en-US" sz="394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Specialty consultation patterns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005859" y="6846101"/>
            <a:ext cx="11659990" cy="1090811"/>
            <a:chOff x="0" y="0"/>
            <a:chExt cx="15546653" cy="1454414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15546653" cy="1454414"/>
              <a:chOff x="0" y="0"/>
              <a:chExt cx="11769669" cy="1101071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1770939" cy="1101071"/>
              </a:xfrm>
              <a:custGeom>
                <a:avLst/>
                <a:gdLst/>
                <a:ahLst/>
                <a:cxnLst/>
                <a:rect r="r" b="b" t="t" l="l"/>
                <a:pathLst>
                  <a:path h="1101071" w="11770939">
                    <a:moveTo>
                      <a:pt x="11217219" y="1101071"/>
                    </a:moveTo>
                    <a:lnTo>
                      <a:pt x="553720" y="1101071"/>
                    </a:lnTo>
                    <a:cubicBezTo>
                      <a:pt x="247650" y="1101071"/>
                      <a:pt x="0" y="854562"/>
                      <a:pt x="0" y="551167"/>
                    </a:cubicBezTo>
                    <a:cubicBezTo>
                      <a:pt x="0" y="246508"/>
                      <a:pt x="247650" y="0"/>
                      <a:pt x="553720" y="0"/>
                    </a:cubicBezTo>
                    <a:lnTo>
                      <a:pt x="11217219" y="0"/>
                    </a:lnTo>
                    <a:cubicBezTo>
                      <a:pt x="11523289" y="0"/>
                      <a:pt x="11770939" y="246508"/>
                      <a:pt x="11770939" y="551167"/>
                    </a:cubicBezTo>
                    <a:cubicBezTo>
                      <a:pt x="11769669" y="854562"/>
                      <a:pt x="11522019" y="1101071"/>
                      <a:pt x="11217219" y="1101071"/>
                    </a:cubicBezTo>
                    <a:close/>
                  </a:path>
                </a:pathLst>
              </a:custGeom>
              <a:solidFill>
                <a:srgbClr val="1B4B9D"/>
              </a:solidFill>
            </p:spPr>
          </p:sp>
        </p:grpSp>
        <p:sp>
          <p:nvSpPr>
            <p:cNvPr name="TextBox 16" id="16"/>
            <p:cNvSpPr txBox="true"/>
            <p:nvPr/>
          </p:nvSpPr>
          <p:spPr>
            <a:xfrm rot="0">
              <a:off x="1206666" y="238910"/>
              <a:ext cx="12929403" cy="8783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19"/>
                </a:lnSpc>
              </a:pPr>
              <a:r>
                <a:rPr lang="en-US" sz="394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Utilization of MRI 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2332719"/>
            <a:ext cx="8115300" cy="7514614"/>
          </a:xfrm>
          <a:prstGeom prst="rect">
            <a:avLst/>
          </a:prstGeom>
          <a:solidFill>
            <a:srgbClr val="E82133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10738727" y="1883942"/>
            <a:ext cx="6520573" cy="8160776"/>
          </a:xfrm>
          <a:custGeom>
            <a:avLst/>
            <a:gdLst/>
            <a:ahLst/>
            <a:cxnLst/>
            <a:rect r="r" b="b" t="t" l="l"/>
            <a:pathLst>
              <a:path h="8160776" w="6520573">
                <a:moveTo>
                  <a:pt x="0" y="0"/>
                </a:moveTo>
                <a:lnTo>
                  <a:pt x="6520573" y="0"/>
                </a:lnTo>
                <a:lnTo>
                  <a:pt x="6520573" y="8160776"/>
                </a:lnTo>
                <a:lnTo>
                  <a:pt x="0" y="81607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6" t="-13347" r="0" b="-12907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09740" y="798092"/>
            <a:ext cx="17268520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7000">
                <a:solidFill>
                  <a:srgbClr val="1B4B9D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What is the Limb Preservation Pathway?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4787" y="2646156"/>
            <a:ext cx="7243126" cy="6802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32358" indent="-466179" lvl="1">
              <a:lnSpc>
                <a:spcPts val="6045"/>
              </a:lnSpc>
              <a:buFont typeface="Arial"/>
              <a:buChar char="•"/>
            </a:pPr>
            <a:r>
              <a:rPr lang="en-US" sz="4318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Clinical decision support </a:t>
            </a:r>
          </a:p>
          <a:p>
            <a:pPr algn="l" marL="932358" indent="-466179" lvl="1">
              <a:lnSpc>
                <a:spcPts val="6045"/>
              </a:lnSpc>
              <a:buFont typeface="Arial"/>
              <a:buChar char="•"/>
            </a:pPr>
            <a:r>
              <a:rPr lang="en-US" sz="4318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Standardized:</a:t>
            </a:r>
          </a:p>
          <a:p>
            <a:pPr algn="l" marL="1864715" indent="-621572" lvl="2">
              <a:lnSpc>
                <a:spcPts val="6045"/>
              </a:lnSpc>
              <a:buFont typeface="Arial"/>
              <a:buChar char="⚬"/>
            </a:pPr>
            <a:r>
              <a:rPr lang="en-US" sz="4318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Diagnostic evaluation</a:t>
            </a:r>
          </a:p>
          <a:p>
            <a:pPr algn="l" marL="1864715" indent="-621572" lvl="2">
              <a:lnSpc>
                <a:spcPts val="6045"/>
              </a:lnSpc>
              <a:buFont typeface="Arial"/>
              <a:buChar char="⚬"/>
            </a:pPr>
            <a:r>
              <a:rPr lang="en-US" sz="4318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Disposition</a:t>
            </a:r>
          </a:p>
          <a:p>
            <a:pPr algn="l" marL="1864715" indent="-621572" lvl="2">
              <a:lnSpc>
                <a:spcPts val="6045"/>
              </a:lnSpc>
              <a:buFont typeface="Arial"/>
              <a:buChar char="⚬"/>
            </a:pPr>
            <a:r>
              <a:rPr lang="en-US" sz="4318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Early subspecialty involvement</a:t>
            </a:r>
          </a:p>
          <a:p>
            <a:pPr algn="l" marL="932358" indent="-466179" lvl="1">
              <a:lnSpc>
                <a:spcPts val="6045"/>
              </a:lnSpc>
              <a:buFont typeface="Arial"/>
              <a:buChar char="•"/>
            </a:pPr>
            <a:r>
              <a:rPr lang="en-US" sz="4318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Later integrated into the EHR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-5749980"/>
            <a:ext cx="5726783" cy="10287000"/>
          </a:xfrm>
          <a:prstGeom prst="rect">
            <a:avLst/>
          </a:prstGeom>
          <a:solidFill>
            <a:srgbClr val="1B4B9D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0" y="4271603"/>
            <a:ext cx="4616818" cy="6015397"/>
          </a:xfrm>
          <a:custGeom>
            <a:avLst/>
            <a:gdLst/>
            <a:ahLst/>
            <a:cxnLst/>
            <a:rect r="r" b="b" t="t" l="l"/>
            <a:pathLst>
              <a:path h="6015397" w="4616818">
                <a:moveTo>
                  <a:pt x="0" y="0"/>
                </a:moveTo>
                <a:lnTo>
                  <a:pt x="4616818" y="0"/>
                </a:lnTo>
                <a:lnTo>
                  <a:pt x="4616818" y="6015397"/>
                </a:lnTo>
                <a:lnTo>
                  <a:pt x="0" y="60153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68061" y="458849"/>
            <a:ext cx="4990661" cy="318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  <a:spcBef>
                <a:spcPct val="0"/>
              </a:spcBef>
            </a:pPr>
            <a:r>
              <a:rPr lang="en-US" b="true" sz="6999">
                <a:solidFill>
                  <a:srgbClr val="F9FC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Study Design and Population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68139" y="4907280"/>
            <a:ext cx="1788319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Pre pathway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51929" y="5425736"/>
            <a:ext cx="2220739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June - May 2024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88627" y="7222151"/>
            <a:ext cx="314734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June  - December 2024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32606" y="9022080"/>
            <a:ext cx="3659386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January - September 2025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89992" y="6726851"/>
            <a:ext cx="214461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Paper pathway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90872" y="8523266"/>
            <a:ext cx="360112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EHR- integrated pathway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726783" y="0"/>
            <a:ext cx="16639718" cy="9778337"/>
            <a:chOff x="0" y="0"/>
            <a:chExt cx="22186290" cy="13037783"/>
          </a:xfrm>
        </p:grpSpPr>
        <p:sp>
          <p:nvSpPr>
            <p:cNvPr name="AutoShape 12" id="12"/>
            <p:cNvSpPr/>
            <p:nvPr/>
          </p:nvSpPr>
          <p:spPr>
            <a:xfrm rot="0">
              <a:off x="0" y="0"/>
              <a:ext cx="22186290" cy="13037783"/>
            </a:xfrm>
            <a:prstGeom prst="rect">
              <a:avLst/>
            </a:prstGeom>
            <a:solidFill>
              <a:srgbClr val="E82133"/>
            </a:solid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320194" y="278149"/>
              <a:ext cx="16213464" cy="91444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706685" indent="-353343" lvl="1">
                <a:lnSpc>
                  <a:spcPts val="4582"/>
                </a:lnSpc>
                <a:buFont typeface="Arial"/>
                <a:buChar char="•"/>
              </a:pPr>
              <a:r>
                <a:rPr lang="en-US" sz="327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Patient encounters from the University fo Virginia Emergency Department (~75,000 ED annual visits)</a:t>
              </a:r>
            </a:p>
            <a:p>
              <a:pPr algn="l" marL="706685" indent="-353343" lvl="1">
                <a:lnSpc>
                  <a:spcPts val="4582"/>
                </a:lnSpc>
                <a:buFont typeface="Arial"/>
                <a:buChar char="•"/>
              </a:pPr>
              <a:r>
                <a:rPr lang="en-US" sz="327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Adults ≥ 18 years</a:t>
              </a:r>
            </a:p>
            <a:p>
              <a:pPr algn="l" marL="706685" indent="-353343" lvl="1">
                <a:lnSpc>
                  <a:spcPts val="4582"/>
                </a:lnSpc>
                <a:buFont typeface="Arial"/>
                <a:buChar char="•"/>
              </a:pPr>
              <a:r>
                <a:rPr lang="en-US" sz="327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Chief complaint of:</a:t>
              </a:r>
            </a:p>
            <a:p>
              <a:pPr algn="l" marL="1413370" indent="-471123" lvl="2">
                <a:lnSpc>
                  <a:spcPts val="4582"/>
                </a:lnSpc>
                <a:buFont typeface="Arial"/>
                <a:buChar char="⚬"/>
              </a:pPr>
              <a:r>
                <a:rPr lang="en-US" sz="327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foot wounds</a:t>
              </a:r>
            </a:p>
            <a:p>
              <a:pPr algn="l" marL="1413370" indent="-471123" lvl="2">
                <a:lnSpc>
                  <a:spcPts val="4582"/>
                </a:lnSpc>
                <a:buFont typeface="Arial"/>
                <a:buChar char="⚬"/>
              </a:pPr>
              <a:r>
                <a:rPr lang="en-US" sz="327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diabetic foot care</a:t>
              </a:r>
            </a:p>
            <a:p>
              <a:pPr algn="l" marL="1413370" indent="-471123" lvl="2">
                <a:lnSpc>
                  <a:spcPts val="4582"/>
                </a:lnSpc>
                <a:buFont typeface="Arial"/>
                <a:buChar char="⚬"/>
              </a:pPr>
              <a:r>
                <a:rPr lang="en-US" sz="327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lower extremity infections</a:t>
              </a:r>
            </a:p>
            <a:p>
              <a:pPr algn="l" marL="1413370" indent="-471123" lvl="2">
                <a:lnSpc>
                  <a:spcPts val="4582"/>
                </a:lnSpc>
                <a:buFont typeface="Arial"/>
                <a:buChar char="⚬"/>
              </a:pPr>
              <a:r>
                <a:rPr lang="en-US" sz="327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skin ulcers</a:t>
              </a:r>
            </a:p>
            <a:p>
              <a:pPr algn="l" marL="1413370" indent="-471123" lvl="2">
                <a:lnSpc>
                  <a:spcPts val="4582"/>
                </a:lnSpc>
                <a:buFont typeface="Arial"/>
                <a:buChar char="⚬"/>
              </a:pPr>
              <a:r>
                <a:rPr lang="en-US" sz="327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other wound-related presentations</a:t>
              </a:r>
            </a:p>
            <a:p>
              <a:pPr algn="l" marL="706685" indent="-353343" lvl="1">
                <a:lnSpc>
                  <a:spcPts val="4582"/>
                </a:lnSpc>
                <a:buFont typeface="Arial"/>
                <a:buChar char="•"/>
              </a:pPr>
              <a:r>
                <a:rPr lang="en-US" sz="327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ICD-10 related to foot infections AND chief complaint.  match</a:t>
              </a:r>
            </a:p>
            <a:p>
              <a:pPr algn="l" marL="706685" indent="-353343" lvl="1">
                <a:lnSpc>
                  <a:spcPts val="4582"/>
                </a:lnSpc>
                <a:buFont typeface="Arial"/>
                <a:buChar char="•"/>
              </a:pPr>
              <a:r>
                <a:rPr lang="en-US" sz="3273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Exclusions: LWBS, missing coding match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726783" y="7142141"/>
            <a:ext cx="12848639" cy="3144859"/>
            <a:chOff x="0" y="0"/>
            <a:chExt cx="1990590" cy="48722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90591" cy="487221"/>
            </a:xfrm>
            <a:custGeom>
              <a:avLst/>
              <a:gdLst/>
              <a:ahLst/>
              <a:cxnLst/>
              <a:rect r="r" b="b" t="t" l="l"/>
              <a:pathLst>
                <a:path h="487221" w="1990591">
                  <a:moveTo>
                    <a:pt x="0" y="0"/>
                  </a:moveTo>
                  <a:lnTo>
                    <a:pt x="1990591" y="0"/>
                  </a:lnTo>
                  <a:lnTo>
                    <a:pt x="1990591" y="487221"/>
                  </a:lnTo>
                  <a:lnTo>
                    <a:pt x="0" y="487221"/>
                  </a:lnTo>
                  <a:close/>
                </a:path>
              </a:pathLst>
            </a:custGeom>
            <a:solidFill>
              <a:srgbClr val="F1F1F1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990590" cy="5443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6570623" y="7373239"/>
            <a:ext cx="11160958" cy="2180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98145" indent="-449072" lvl="1">
              <a:lnSpc>
                <a:spcPts val="5824"/>
              </a:lnSpc>
              <a:buFont typeface="Arial"/>
              <a:buChar char="•"/>
            </a:pPr>
            <a:r>
              <a:rPr lang="en-US" sz="4160">
                <a:solidFill>
                  <a:srgbClr val="1B4B9D"/>
                </a:solidFill>
                <a:latin typeface="Public Sans"/>
                <a:ea typeface="Public Sans"/>
                <a:cs typeface="Public Sans"/>
                <a:sym typeface="Public Sans"/>
              </a:rPr>
              <a:t>1,287 total eligible encounters </a:t>
            </a:r>
          </a:p>
          <a:p>
            <a:pPr algn="l" marL="1796289" indent="-598763" lvl="2">
              <a:lnSpc>
                <a:spcPts val="5824"/>
              </a:lnSpc>
              <a:buFont typeface="Arial"/>
              <a:buChar char="⚬"/>
            </a:pPr>
            <a:r>
              <a:rPr lang="en-US" sz="4160">
                <a:solidFill>
                  <a:srgbClr val="1B4B9D"/>
                </a:solidFill>
                <a:latin typeface="Public Sans"/>
                <a:ea typeface="Public Sans"/>
                <a:cs typeface="Public Sans"/>
                <a:sym typeface="Public Sans"/>
              </a:rPr>
              <a:t>702 encounters were admitted </a:t>
            </a:r>
          </a:p>
          <a:p>
            <a:pPr algn="l">
              <a:lnSpc>
                <a:spcPts val="582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327122" y="2984264"/>
          <a:ext cx="15633756" cy="5334000"/>
        </p:xfrm>
        <a:graphic>
          <a:graphicData uri="http://schemas.openxmlformats.org/drawingml/2006/table">
            <a:tbl>
              <a:tblPr/>
              <a:tblGrid>
                <a:gridCol w="7816878"/>
                <a:gridCol w="7816878"/>
              </a:tblGrid>
              <a:tr h="13860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719"/>
                        </a:lnSpc>
                        <a:defRPr/>
                      </a:pPr>
                      <a:r>
                        <a:rPr lang="en-US" sz="4799" b="true">
                          <a:solidFill>
                            <a:srgbClr val="FFFFFF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Primary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213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719"/>
                        </a:lnSpc>
                        <a:defRPr/>
                      </a:pPr>
                      <a:r>
                        <a:rPr lang="en-US" sz="4800" b="true">
                          <a:solidFill>
                            <a:srgbClr val="FFFFFF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Secondary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2133"/>
                    </a:solidFill>
                  </a:tcPr>
                </a:tc>
              </a:tr>
              <a:tr h="3947925">
                <a:tc>
                  <a:txBody>
                    <a:bodyPr anchor="t" rtlCol="false"/>
                    <a:lstStyle/>
                    <a:p>
                      <a:pPr algn="l" marL="842002" indent="-421001" lvl="1">
                        <a:lnSpc>
                          <a:spcPts val="5459"/>
                        </a:lnSpc>
                        <a:buFont typeface="Arial"/>
                        <a:buChar char="•"/>
                        <a:defRPr/>
                      </a:pPr>
                      <a:r>
                        <a:rPr lang="en-US" b="true" sz="3899">
                          <a:solidFill>
                            <a:srgbClr val="1B4B9D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Hospital LOS</a:t>
                      </a:r>
                      <a:endParaRPr lang="en-US" sz="1100"/>
                    </a:p>
                    <a:p>
                      <a:pPr algn="l" marL="842002" indent="-421001" lvl="1">
                        <a:lnSpc>
                          <a:spcPts val="5459"/>
                        </a:lnSpc>
                        <a:buFont typeface="Arial"/>
                        <a:buChar char="•"/>
                      </a:pPr>
                      <a:r>
                        <a:rPr lang="en-US" b="true" sz="3899">
                          <a:solidFill>
                            <a:srgbClr val="1B4B9D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Admission rates</a:t>
                      </a:r>
                    </a:p>
                    <a:p>
                      <a:pPr algn="l" marL="842002" indent="-421001" lvl="1">
                        <a:lnSpc>
                          <a:spcPts val="5459"/>
                        </a:lnSpc>
                        <a:buFont typeface="Arial"/>
                        <a:buChar char="•"/>
                      </a:pPr>
                      <a:r>
                        <a:rPr lang="en-US" b="true" sz="3899">
                          <a:solidFill>
                            <a:srgbClr val="1B4B9D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ED LOS</a:t>
                      </a: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842002" indent="-421001" lvl="1">
                        <a:lnSpc>
                          <a:spcPts val="5459"/>
                        </a:lnSpc>
                        <a:buFont typeface="Arial"/>
                        <a:buChar char="•"/>
                        <a:defRPr/>
                      </a:pPr>
                      <a:r>
                        <a:rPr lang="en-US" b="true" sz="3899">
                          <a:solidFill>
                            <a:srgbClr val="1B4B9D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MRI utilization</a:t>
                      </a:r>
                      <a:endParaRPr lang="en-US" sz="1100"/>
                    </a:p>
                    <a:p>
                      <a:pPr algn="l" marL="842002" indent="-421001" lvl="1">
                        <a:lnSpc>
                          <a:spcPts val="5459"/>
                        </a:lnSpc>
                        <a:buFont typeface="Arial"/>
                        <a:buChar char="•"/>
                      </a:pPr>
                      <a:r>
                        <a:rPr lang="en-US" b="true" sz="3899">
                          <a:solidFill>
                            <a:srgbClr val="1B4B9D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Consultation patterns </a:t>
                      </a:r>
                    </a:p>
                    <a:p>
                      <a:pPr algn="l" marL="1684004" indent="-561335" lvl="2">
                        <a:lnSpc>
                          <a:spcPts val="5459"/>
                        </a:lnSpc>
                        <a:buFont typeface="Arial"/>
                        <a:buChar char="⚬"/>
                      </a:pPr>
                      <a:r>
                        <a:rPr lang="en-US" b="true" sz="3899">
                          <a:solidFill>
                            <a:srgbClr val="1B4B9D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Limb preservation service </a:t>
                      </a:r>
                    </a:p>
                    <a:p>
                      <a:pPr algn="l" marL="1684004" indent="-561335" lvl="2">
                        <a:lnSpc>
                          <a:spcPts val="5459"/>
                        </a:lnSpc>
                        <a:buFont typeface="Arial"/>
                        <a:buChar char="⚬"/>
                      </a:pPr>
                      <a:r>
                        <a:rPr lang="en-US" b="true" sz="3899">
                          <a:solidFill>
                            <a:srgbClr val="1B4B9D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O</a:t>
                      </a:r>
                      <a:r>
                        <a:rPr lang="en-US" b="true" sz="3899">
                          <a:solidFill>
                            <a:srgbClr val="1B4B9D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rthopedic surgery</a:t>
                      </a: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1327122" y="1019175"/>
            <a:ext cx="7888734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  <a:spcBef>
                <a:spcPct val="0"/>
              </a:spcBef>
            </a:pPr>
            <a:r>
              <a:rPr lang="en-US" b="true" sz="6999">
                <a:solidFill>
                  <a:srgbClr val="1B4B9D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Study Outcomes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9438" y="163538"/>
            <a:ext cx="9661423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280"/>
              </a:lnSpc>
              <a:spcBef>
                <a:spcPct val="0"/>
              </a:spcBef>
            </a:pPr>
            <a:r>
              <a:rPr lang="en-US" b="true" sz="6900">
                <a:solidFill>
                  <a:srgbClr val="E821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Results - Hospital LOS</a:t>
            </a:r>
          </a:p>
        </p:txBody>
      </p:sp>
      <p:sp>
        <p:nvSpPr>
          <p:cNvPr name="AutoShape 3" id="3"/>
          <p:cNvSpPr/>
          <p:nvPr/>
        </p:nvSpPr>
        <p:spPr>
          <a:xfrm>
            <a:off x="859438" y="1220813"/>
            <a:ext cx="9492161" cy="0"/>
          </a:xfrm>
          <a:prstGeom prst="line">
            <a:avLst/>
          </a:prstGeom>
          <a:ln cap="flat" w="85725">
            <a:solidFill>
              <a:srgbClr val="E8213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36753" y="8512733"/>
            <a:ext cx="18214494" cy="2251603"/>
            <a:chOff x="0" y="0"/>
            <a:chExt cx="13741276" cy="169864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41276" cy="1698642"/>
            </a:xfrm>
            <a:custGeom>
              <a:avLst/>
              <a:gdLst/>
              <a:ahLst/>
              <a:cxnLst/>
              <a:rect r="r" b="b" t="t" l="l"/>
              <a:pathLst>
                <a:path h="1698642" w="13741276">
                  <a:moveTo>
                    <a:pt x="12751" y="0"/>
                  </a:moveTo>
                  <a:lnTo>
                    <a:pt x="13728525" y="0"/>
                  </a:lnTo>
                  <a:cubicBezTo>
                    <a:pt x="13731906" y="0"/>
                    <a:pt x="13735149" y="1343"/>
                    <a:pt x="13737541" y="3735"/>
                  </a:cubicBezTo>
                  <a:cubicBezTo>
                    <a:pt x="13739932" y="6126"/>
                    <a:pt x="13741276" y="9369"/>
                    <a:pt x="13741276" y="12751"/>
                  </a:cubicBezTo>
                  <a:lnTo>
                    <a:pt x="13741276" y="1685891"/>
                  </a:lnTo>
                  <a:cubicBezTo>
                    <a:pt x="13741276" y="1692933"/>
                    <a:pt x="13735568" y="1698642"/>
                    <a:pt x="13728525" y="1698642"/>
                  </a:cubicBezTo>
                  <a:lnTo>
                    <a:pt x="12751" y="1698642"/>
                  </a:lnTo>
                  <a:cubicBezTo>
                    <a:pt x="9369" y="1698642"/>
                    <a:pt x="6126" y="1697299"/>
                    <a:pt x="3735" y="1694907"/>
                  </a:cubicBezTo>
                  <a:cubicBezTo>
                    <a:pt x="1343" y="1692516"/>
                    <a:pt x="0" y="1689273"/>
                    <a:pt x="0" y="1685891"/>
                  </a:cubicBezTo>
                  <a:lnTo>
                    <a:pt x="0" y="12751"/>
                  </a:lnTo>
                  <a:cubicBezTo>
                    <a:pt x="0" y="5709"/>
                    <a:pt x="5709" y="0"/>
                    <a:pt x="12751" y="0"/>
                  </a:cubicBezTo>
                  <a:close/>
                </a:path>
              </a:pathLst>
            </a:custGeom>
            <a:solidFill>
              <a:srgbClr val="E82133"/>
            </a:solidFill>
            <a:ln cap="rnd">
              <a:noFill/>
              <a:prstDash val="sysDot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3741276" cy="1736742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238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-150581" y="8738272"/>
            <a:ext cx="18589163" cy="1322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b="true" sz="3799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LOS decreased overall by ~2.6 days after the EHR integrated pathway was implemented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115714" y="110763"/>
            <a:ext cx="11658827" cy="945196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>
            <a:off x="690176" y="2022119"/>
            <a:ext cx="6681955" cy="5741697"/>
          </a:xfrm>
          <a:prstGeom prst="rect">
            <a:avLst/>
          </a:prstGeom>
          <a:solidFill>
            <a:srgbClr val="1B4B9D"/>
          </a:solidFill>
        </p:spPr>
      </p:sp>
      <p:sp>
        <p:nvSpPr>
          <p:cNvPr name="TextBox 10" id="10"/>
          <p:cNvSpPr txBox="true"/>
          <p:nvPr/>
        </p:nvSpPr>
        <p:spPr>
          <a:xfrm rot="0">
            <a:off x="859438" y="2132561"/>
            <a:ext cx="6343431" cy="5511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3"/>
              </a:lnSpc>
            </a:pPr>
            <a:r>
              <a:rPr lang="en-US" sz="3311" b="true">
                <a:solidFill>
                  <a:srgbClr val="F9FC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No Protocol:</a:t>
            </a:r>
          </a:p>
          <a:p>
            <a:pPr algn="l" marL="714944" indent="-357472" lvl="1">
              <a:lnSpc>
                <a:spcPts val="3973"/>
              </a:lnSpc>
              <a:buFont typeface="Arial"/>
              <a:buChar char="•"/>
            </a:pPr>
            <a:r>
              <a:rPr lang="en-US" b="true" sz="3311">
                <a:solidFill>
                  <a:srgbClr val="F9FC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Mean LOS = 8.93 days</a:t>
            </a:r>
          </a:p>
          <a:p>
            <a:pPr algn="l" marL="714944" indent="-357472" lvl="1">
              <a:lnSpc>
                <a:spcPts val="3973"/>
              </a:lnSpc>
              <a:buFont typeface="Arial"/>
              <a:buChar char="•"/>
            </a:pPr>
            <a:r>
              <a:rPr lang="en-US" b="true" sz="3311">
                <a:solidFill>
                  <a:srgbClr val="F9FC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SD = 8.87</a:t>
            </a:r>
          </a:p>
          <a:p>
            <a:pPr algn="l">
              <a:lnSpc>
                <a:spcPts val="3973"/>
              </a:lnSpc>
            </a:pPr>
          </a:p>
          <a:p>
            <a:pPr algn="l">
              <a:lnSpc>
                <a:spcPts val="3973"/>
              </a:lnSpc>
            </a:pPr>
            <a:r>
              <a:rPr lang="en-US" sz="3311" b="true">
                <a:solidFill>
                  <a:srgbClr val="F9FC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Paper Protocol:</a:t>
            </a:r>
          </a:p>
          <a:p>
            <a:pPr algn="l" marL="714944" indent="-357472" lvl="1">
              <a:lnSpc>
                <a:spcPts val="3973"/>
              </a:lnSpc>
              <a:buFont typeface="Arial"/>
              <a:buChar char="•"/>
            </a:pPr>
            <a:r>
              <a:rPr lang="en-US" b="true" sz="3311">
                <a:solidFill>
                  <a:srgbClr val="F9FC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Mean LOS = 7.99 days</a:t>
            </a:r>
          </a:p>
          <a:p>
            <a:pPr algn="l" marL="714944" indent="-357472" lvl="1">
              <a:lnSpc>
                <a:spcPts val="3973"/>
              </a:lnSpc>
              <a:buFont typeface="Arial"/>
              <a:buChar char="•"/>
            </a:pPr>
            <a:r>
              <a:rPr lang="en-US" b="true" sz="3311">
                <a:solidFill>
                  <a:srgbClr val="F9FC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SD = 10.3</a:t>
            </a:r>
          </a:p>
          <a:p>
            <a:pPr algn="l">
              <a:lnSpc>
                <a:spcPts val="3973"/>
              </a:lnSpc>
            </a:pPr>
          </a:p>
          <a:p>
            <a:pPr algn="l">
              <a:lnSpc>
                <a:spcPts val="3973"/>
              </a:lnSpc>
            </a:pPr>
            <a:r>
              <a:rPr lang="en-US" sz="3311" b="true">
                <a:solidFill>
                  <a:srgbClr val="F9FC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EHR-integrated:</a:t>
            </a:r>
          </a:p>
          <a:p>
            <a:pPr algn="l" marL="714944" indent="-357472" lvl="1">
              <a:lnSpc>
                <a:spcPts val="3973"/>
              </a:lnSpc>
              <a:buFont typeface="Arial"/>
              <a:buChar char="•"/>
            </a:pPr>
            <a:r>
              <a:rPr lang="en-US" b="true" sz="3311">
                <a:solidFill>
                  <a:srgbClr val="F9FC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Mean LOS = 6.34 days</a:t>
            </a:r>
          </a:p>
          <a:p>
            <a:pPr algn="l" marL="714944" indent="-357472" lvl="1">
              <a:lnSpc>
                <a:spcPts val="397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311">
                <a:solidFill>
                  <a:srgbClr val="F9FC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SD = 5.33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0176" y="98069"/>
            <a:ext cx="11416332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280"/>
              </a:lnSpc>
              <a:spcBef>
                <a:spcPct val="0"/>
              </a:spcBef>
            </a:pPr>
            <a:r>
              <a:rPr lang="en-US" b="true" sz="6900" u="sng">
                <a:solidFill>
                  <a:srgbClr val="E821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Results - Admission Rates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36753" y="9161198"/>
            <a:ext cx="18214494" cy="2251603"/>
            <a:chOff x="0" y="0"/>
            <a:chExt cx="13741276" cy="169864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741276" cy="1698642"/>
            </a:xfrm>
            <a:custGeom>
              <a:avLst/>
              <a:gdLst/>
              <a:ahLst/>
              <a:cxnLst/>
              <a:rect r="r" b="b" t="t" l="l"/>
              <a:pathLst>
                <a:path h="1698642" w="13741276">
                  <a:moveTo>
                    <a:pt x="12751" y="0"/>
                  </a:moveTo>
                  <a:lnTo>
                    <a:pt x="13728525" y="0"/>
                  </a:lnTo>
                  <a:cubicBezTo>
                    <a:pt x="13731906" y="0"/>
                    <a:pt x="13735149" y="1343"/>
                    <a:pt x="13737541" y="3735"/>
                  </a:cubicBezTo>
                  <a:cubicBezTo>
                    <a:pt x="13739932" y="6126"/>
                    <a:pt x="13741276" y="9369"/>
                    <a:pt x="13741276" y="12751"/>
                  </a:cubicBezTo>
                  <a:lnTo>
                    <a:pt x="13741276" y="1685891"/>
                  </a:lnTo>
                  <a:cubicBezTo>
                    <a:pt x="13741276" y="1692933"/>
                    <a:pt x="13735568" y="1698642"/>
                    <a:pt x="13728525" y="1698642"/>
                  </a:cubicBezTo>
                  <a:lnTo>
                    <a:pt x="12751" y="1698642"/>
                  </a:lnTo>
                  <a:cubicBezTo>
                    <a:pt x="9369" y="1698642"/>
                    <a:pt x="6126" y="1697299"/>
                    <a:pt x="3735" y="1694907"/>
                  </a:cubicBezTo>
                  <a:cubicBezTo>
                    <a:pt x="1343" y="1692516"/>
                    <a:pt x="0" y="1689273"/>
                    <a:pt x="0" y="1685891"/>
                  </a:cubicBezTo>
                  <a:lnTo>
                    <a:pt x="0" y="12751"/>
                  </a:lnTo>
                  <a:cubicBezTo>
                    <a:pt x="0" y="5709"/>
                    <a:pt x="5709" y="0"/>
                    <a:pt x="12751" y="0"/>
                  </a:cubicBezTo>
                  <a:close/>
                </a:path>
              </a:pathLst>
            </a:custGeom>
            <a:solidFill>
              <a:srgbClr val="E82133"/>
            </a:solidFill>
            <a:ln cap="rnd">
              <a:noFill/>
              <a:prstDash val="sysDot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3741276" cy="1736742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2380"/>
                </a:lnSpc>
              </a:pPr>
            </a:p>
          </p:txBody>
        </p:sp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282769" y="411389"/>
            <a:ext cx="11732399" cy="9464222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 rot="0">
            <a:off x="690176" y="1648976"/>
            <a:ext cx="7163281" cy="6989049"/>
            <a:chOff x="0" y="0"/>
            <a:chExt cx="9551041" cy="9318732"/>
          </a:xfrm>
        </p:grpSpPr>
        <p:sp>
          <p:nvSpPr>
            <p:cNvPr name="AutoShape 8" id="8"/>
            <p:cNvSpPr/>
            <p:nvPr/>
          </p:nvSpPr>
          <p:spPr>
            <a:xfrm rot="0">
              <a:off x="0" y="0"/>
              <a:ext cx="9551041" cy="9318732"/>
            </a:xfrm>
            <a:prstGeom prst="rect">
              <a:avLst/>
            </a:prstGeom>
            <a:solidFill>
              <a:srgbClr val="1B4B9D"/>
            </a:solidFill>
          </p:spPr>
        </p:sp>
        <p:sp>
          <p:nvSpPr>
            <p:cNvPr name="TextBox 9" id="9"/>
            <p:cNvSpPr txBox="true"/>
            <p:nvPr/>
          </p:nvSpPr>
          <p:spPr>
            <a:xfrm rot="0">
              <a:off x="514865" y="456378"/>
              <a:ext cx="8521311" cy="83964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974" b="true">
                  <a:solidFill>
                    <a:srgbClr val="F9FCF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No Protocol:</a:t>
              </a:r>
            </a:p>
            <a:p>
              <a:pPr algn="l" marL="642242" indent="-321121" lvl="1">
                <a:lnSpc>
                  <a:spcPts val="3569"/>
                </a:lnSpc>
                <a:buFont typeface="Arial"/>
                <a:buChar char="•"/>
              </a:pPr>
              <a:r>
                <a:rPr lang="en-US" b="true" sz="2974">
                  <a:solidFill>
                    <a:srgbClr val="F9FCF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270 admitted Patients</a:t>
              </a:r>
            </a:p>
            <a:p>
              <a:pPr algn="l" marL="642242" indent="-321121" lvl="1">
                <a:lnSpc>
                  <a:spcPts val="3569"/>
                </a:lnSpc>
                <a:buFont typeface="Arial"/>
                <a:buChar char="•"/>
              </a:pPr>
              <a:r>
                <a:rPr lang="en-US" b="true" sz="2974">
                  <a:solidFill>
                    <a:srgbClr val="F9FCF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12 month period</a:t>
              </a:r>
            </a:p>
            <a:p>
              <a:pPr algn="l" marL="642242" indent="-321121" lvl="1">
                <a:lnSpc>
                  <a:spcPts val="3569"/>
                </a:lnSpc>
                <a:buFont typeface="Arial"/>
                <a:buChar char="•"/>
              </a:pPr>
              <a:r>
                <a:rPr lang="en-US" b="true" sz="2974">
                  <a:solidFill>
                    <a:srgbClr val="F9FCF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Average = 22.5 patients/month</a:t>
              </a:r>
            </a:p>
            <a:p>
              <a:pPr algn="l">
                <a:lnSpc>
                  <a:spcPts val="3569"/>
                </a:lnSpc>
              </a:pPr>
            </a:p>
            <a:p>
              <a:pPr algn="l">
                <a:lnSpc>
                  <a:spcPts val="3569"/>
                </a:lnSpc>
              </a:pPr>
              <a:r>
                <a:rPr lang="en-US" sz="2974" b="true">
                  <a:solidFill>
                    <a:srgbClr val="F9FCF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Paper Protocol:</a:t>
              </a:r>
            </a:p>
            <a:p>
              <a:pPr algn="l" marL="642242" indent="-321121" lvl="1">
                <a:lnSpc>
                  <a:spcPts val="3569"/>
                </a:lnSpc>
                <a:buFont typeface="Arial"/>
                <a:buChar char="•"/>
              </a:pPr>
              <a:r>
                <a:rPr lang="en-US" b="true" sz="2974">
                  <a:solidFill>
                    <a:srgbClr val="F9FCF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239 admitted patients</a:t>
              </a:r>
            </a:p>
            <a:p>
              <a:pPr algn="l" marL="642242" indent="-321121" lvl="1">
                <a:lnSpc>
                  <a:spcPts val="3569"/>
                </a:lnSpc>
                <a:buFont typeface="Arial"/>
                <a:buChar char="•"/>
              </a:pPr>
              <a:r>
                <a:rPr lang="en-US" b="true" sz="2974">
                  <a:solidFill>
                    <a:srgbClr val="F9FCF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9 month period</a:t>
              </a:r>
            </a:p>
            <a:p>
              <a:pPr algn="l" marL="642242" indent="-321121" lvl="1">
                <a:lnSpc>
                  <a:spcPts val="3569"/>
                </a:lnSpc>
                <a:buFont typeface="Arial"/>
                <a:buChar char="•"/>
              </a:pPr>
              <a:r>
                <a:rPr lang="en-US" b="true" sz="2974">
                  <a:solidFill>
                    <a:srgbClr val="F9FCF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Average = 26.6 patients/month</a:t>
              </a:r>
            </a:p>
            <a:p>
              <a:pPr algn="l">
                <a:lnSpc>
                  <a:spcPts val="3569"/>
                </a:lnSpc>
              </a:pPr>
            </a:p>
            <a:p>
              <a:pPr algn="l">
                <a:lnSpc>
                  <a:spcPts val="3569"/>
                </a:lnSpc>
              </a:pPr>
              <a:r>
                <a:rPr lang="en-US" sz="2974" b="true">
                  <a:solidFill>
                    <a:srgbClr val="F9FCF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EHR-integrated:</a:t>
              </a:r>
            </a:p>
            <a:p>
              <a:pPr algn="l" marL="642242" indent="-321121" lvl="1">
                <a:lnSpc>
                  <a:spcPts val="3569"/>
                </a:lnSpc>
                <a:buFont typeface="Arial"/>
                <a:buChar char="•"/>
              </a:pPr>
              <a:r>
                <a:rPr lang="en-US" b="true" sz="2974">
                  <a:solidFill>
                    <a:srgbClr val="F9FCF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193 admitted patients</a:t>
              </a:r>
            </a:p>
            <a:p>
              <a:pPr algn="l" marL="642242" indent="-321121" lvl="1">
                <a:lnSpc>
                  <a:spcPts val="3569"/>
                </a:lnSpc>
                <a:buFont typeface="Arial"/>
                <a:buChar char="•"/>
              </a:pPr>
              <a:r>
                <a:rPr lang="en-US" b="true" sz="2974">
                  <a:solidFill>
                    <a:srgbClr val="F9FCF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7 month period</a:t>
              </a:r>
            </a:p>
            <a:p>
              <a:pPr algn="l" marL="642242" indent="-321121" lvl="1">
                <a:lnSpc>
                  <a:spcPts val="356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2974">
                  <a:solidFill>
                    <a:srgbClr val="F9FCF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Average = 27.6 patients/month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561098" y="206401"/>
            <a:ext cx="7401741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280"/>
              </a:lnSpc>
              <a:spcBef>
                <a:spcPct val="0"/>
              </a:spcBef>
            </a:pPr>
            <a:r>
              <a:rPr lang="en-US" b="true" sz="6900">
                <a:solidFill>
                  <a:srgbClr val="1B4B9D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Results - Imaging</a:t>
            </a:r>
          </a:p>
        </p:txBody>
      </p:sp>
      <p:sp>
        <p:nvSpPr>
          <p:cNvPr name="AutoShape 3" id="3"/>
          <p:cNvSpPr/>
          <p:nvPr/>
        </p:nvSpPr>
        <p:spPr>
          <a:xfrm>
            <a:off x="5194068" y="1263676"/>
            <a:ext cx="8097548" cy="0"/>
          </a:xfrm>
          <a:prstGeom prst="line">
            <a:avLst/>
          </a:prstGeom>
          <a:ln cap="flat" w="85725">
            <a:solidFill>
              <a:srgbClr val="1B4B9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36753" y="8933051"/>
            <a:ext cx="18214494" cy="2251603"/>
            <a:chOff x="0" y="0"/>
            <a:chExt cx="13741276" cy="169864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41276" cy="1698642"/>
            </a:xfrm>
            <a:custGeom>
              <a:avLst/>
              <a:gdLst/>
              <a:ahLst/>
              <a:cxnLst/>
              <a:rect r="r" b="b" t="t" l="l"/>
              <a:pathLst>
                <a:path h="1698642" w="13741276">
                  <a:moveTo>
                    <a:pt x="12751" y="0"/>
                  </a:moveTo>
                  <a:lnTo>
                    <a:pt x="13728525" y="0"/>
                  </a:lnTo>
                  <a:cubicBezTo>
                    <a:pt x="13731906" y="0"/>
                    <a:pt x="13735149" y="1343"/>
                    <a:pt x="13737541" y="3735"/>
                  </a:cubicBezTo>
                  <a:cubicBezTo>
                    <a:pt x="13739932" y="6126"/>
                    <a:pt x="13741276" y="9369"/>
                    <a:pt x="13741276" y="12751"/>
                  </a:cubicBezTo>
                  <a:lnTo>
                    <a:pt x="13741276" y="1685891"/>
                  </a:lnTo>
                  <a:cubicBezTo>
                    <a:pt x="13741276" y="1692933"/>
                    <a:pt x="13735568" y="1698642"/>
                    <a:pt x="13728525" y="1698642"/>
                  </a:cubicBezTo>
                  <a:lnTo>
                    <a:pt x="12751" y="1698642"/>
                  </a:lnTo>
                  <a:cubicBezTo>
                    <a:pt x="9369" y="1698642"/>
                    <a:pt x="6126" y="1697299"/>
                    <a:pt x="3735" y="1694907"/>
                  </a:cubicBezTo>
                  <a:cubicBezTo>
                    <a:pt x="1343" y="1692516"/>
                    <a:pt x="0" y="1689273"/>
                    <a:pt x="0" y="1685891"/>
                  </a:cubicBezTo>
                  <a:lnTo>
                    <a:pt x="0" y="12751"/>
                  </a:lnTo>
                  <a:cubicBezTo>
                    <a:pt x="0" y="5709"/>
                    <a:pt x="5709" y="0"/>
                    <a:pt x="12751" y="0"/>
                  </a:cubicBezTo>
                  <a:close/>
                </a:path>
              </a:pathLst>
            </a:custGeom>
            <a:solidFill>
              <a:srgbClr val="1B4B9D"/>
            </a:solidFill>
            <a:ln cap="rnd">
              <a:noFill/>
              <a:prstDash val="sysDot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3741276" cy="1736742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238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-150581" y="9172575"/>
            <a:ext cx="18589163" cy="655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b="true" sz="3799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No changes to image ordering practices throughout pathway implementation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69917" y="1713916"/>
            <a:ext cx="16548165" cy="6811758"/>
            <a:chOff x="0" y="0"/>
            <a:chExt cx="22064220" cy="9082344"/>
          </a:xfrm>
        </p:grpSpPr>
        <p:pic>
          <p:nvPicPr>
            <p:cNvPr name="Picture 9" id="9"/>
            <p:cNvPicPr>
              <a:picLocks noChangeAspect="true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0">
              <a:off x="6956979" y="1230438"/>
              <a:ext cx="7656901" cy="5664731"/>
            </a:xfrm>
            <a:prstGeom prst="rect">
              <a:avLst/>
            </a:prstGeom>
          </p:spPr>
        </p:pic>
        <p:pic>
          <p:nvPicPr>
            <p:cNvPr name="Picture 16" id="16"/>
            <p:cNvPicPr>
              <a:picLocks noChangeAspect="true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0">
              <a:off x="-613677" y="1233499"/>
              <a:ext cx="7620166" cy="5658609"/>
            </a:xfrm>
            <a:prstGeom prst="rect">
              <a:avLst/>
            </a:prstGeom>
          </p:spPr>
        </p:pic>
        <p:pic>
          <p:nvPicPr>
            <p:cNvPr name="Picture 17" id="17"/>
            <p:cNvPicPr>
              <a:picLocks noChangeAspect="true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0">
              <a:off x="14854643" y="1196684"/>
              <a:ext cx="7766000" cy="5682914"/>
            </a:xfrm>
            <a:prstGeom prst="rect">
              <a:avLst/>
            </a:prstGeom>
          </p:spPr>
        </p:pic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11558301" y="0"/>
          <a:ext cx="4989865" cy="1382889"/>
        </p:xfrm>
        <a:graphic>
          <a:graphicData uri="http://schemas.openxmlformats.org/drawingml/2006/table">
            <a:tbl>
              <a:tblPr/>
              <a:tblGrid>
                <a:gridCol w="4761389"/>
              </a:tblGrid>
              <a:tr h="13828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637"/>
                        </a:lnSpc>
                        <a:defRPr/>
                      </a:pPr>
                      <a:r>
                        <a:rPr lang="en-US" sz="4740" b="true">
                          <a:solidFill>
                            <a:srgbClr val="FFFFFF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EHR-integrated</a:t>
                      </a:r>
                      <a:endParaRPr lang="en-US" sz="1100"/>
                    </a:p>
                  </a:txBody>
                  <a:tcPr marL="188148" marR="188148" marT="188148" marB="188148" anchor="ctr">
                    <a:lnL cmpd="sng" algn="ctr" cap="flat" w="1881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881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881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881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2133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5696291" y="0"/>
          <a:ext cx="4790086" cy="1382889"/>
        </p:xfrm>
        <a:graphic>
          <a:graphicData uri="http://schemas.openxmlformats.org/drawingml/2006/table">
            <a:tbl>
              <a:tblPr/>
              <a:tblGrid>
                <a:gridCol w="4790086"/>
              </a:tblGrid>
              <a:tr h="13828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636"/>
                        </a:lnSpc>
                        <a:defRPr/>
                      </a:pPr>
                      <a:r>
                        <a:rPr lang="en-US" sz="4740" b="true">
                          <a:solidFill>
                            <a:srgbClr val="FFFFFF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Paper Protocol</a:t>
                      </a:r>
                      <a:endParaRPr lang="en-US" sz="1100"/>
                    </a:p>
                  </a:txBody>
                  <a:tcPr marL="188148" marR="188148" marT="188148" marB="188148" anchor="ctr">
                    <a:lnL cmpd="sng" algn="ctr" cap="flat" w="1881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881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881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881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2133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0" y="0"/>
          <a:ext cx="4790086" cy="1382889"/>
        </p:xfrm>
        <a:graphic>
          <a:graphicData uri="http://schemas.openxmlformats.org/drawingml/2006/table">
            <a:tbl>
              <a:tblPr/>
              <a:tblGrid>
                <a:gridCol w="4790086"/>
              </a:tblGrid>
              <a:tr h="13828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636"/>
                        </a:lnSpc>
                        <a:defRPr/>
                      </a:pPr>
                      <a:r>
                        <a:rPr lang="en-US" sz="4740" b="true">
                          <a:solidFill>
                            <a:srgbClr val="FFFFFF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No Protocol</a:t>
                      </a:r>
                      <a:endParaRPr lang="en-US" sz="1100"/>
                    </a:p>
                  </a:txBody>
                  <a:tcPr marL="188148" marR="188148" marT="188148" marB="188148" anchor="ctr">
                    <a:lnL cmpd="sng" algn="ctr" cap="flat" w="1881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881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881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881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2133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5672006" y="4692821"/>
          <a:ext cx="4809847" cy="2060684"/>
        </p:xfrm>
        <a:graphic>
          <a:graphicData uri="http://schemas.openxmlformats.org/drawingml/2006/table">
            <a:tbl>
              <a:tblPr/>
              <a:tblGrid>
                <a:gridCol w="4809847"/>
              </a:tblGrid>
              <a:tr h="206068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18"/>
                        </a:lnSpc>
                        <a:defRPr/>
                      </a:pPr>
                      <a:r>
                        <a:rPr lang="en-US" sz="2370" b="true">
                          <a:solidFill>
                            <a:srgbClr val="1B4B9D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MRI Obtained:</a:t>
                      </a:r>
                      <a:endParaRPr lang="en-US" sz="1100"/>
                    </a:p>
                    <a:p>
                      <a:pPr algn="l" marL="511763" indent="-255881" lvl="1">
                        <a:lnSpc>
                          <a:spcPts val="3318"/>
                        </a:lnSpc>
                        <a:buFont typeface="Arial"/>
                        <a:buChar char="•"/>
                      </a:pPr>
                      <a:r>
                        <a:rPr lang="en-US" b="true" sz="2370">
                          <a:solidFill>
                            <a:srgbClr val="E82133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Yes = 87 patients (45.1%)</a:t>
                      </a:r>
                    </a:p>
                    <a:p>
                      <a:pPr algn="l" marL="511763" indent="-255881" lvl="1">
                        <a:lnSpc>
                          <a:spcPts val="3318"/>
                        </a:lnSpc>
                        <a:buFont typeface="Arial"/>
                        <a:buChar char="•"/>
                      </a:pPr>
                      <a:r>
                        <a:rPr lang="en-US" b="true" sz="2370">
                          <a:solidFill>
                            <a:srgbClr val="1B4B9D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No = 106 patients (54.9%)</a:t>
                      </a:r>
                    </a:p>
                  </a:txBody>
                  <a:tcPr marL="188148" marR="188148" marT="188148" marB="188148" anchor="ctr">
                    <a:lnL cmpd="sng" algn="ctr" cap="flat" w="1881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881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881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881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14" id="14"/>
          <p:cNvGraphicFramePr>
            <a:graphicFrameLocks noGrp="true"/>
          </p:cNvGraphicFramePr>
          <p:nvPr/>
        </p:nvGraphicFramePr>
        <p:xfrm>
          <a:off x="11648309" y="4751074"/>
          <a:ext cx="4809847" cy="2060684"/>
        </p:xfrm>
        <a:graphic>
          <a:graphicData uri="http://schemas.openxmlformats.org/drawingml/2006/table">
            <a:tbl>
              <a:tblPr/>
              <a:tblGrid>
                <a:gridCol w="4809847"/>
              </a:tblGrid>
              <a:tr h="206068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18"/>
                        </a:lnSpc>
                        <a:defRPr/>
                      </a:pPr>
                      <a:r>
                        <a:rPr lang="en-US" sz="2370" b="true">
                          <a:solidFill>
                            <a:srgbClr val="1B4B9D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MRI Obtained:</a:t>
                      </a:r>
                      <a:endParaRPr lang="en-US" sz="1100"/>
                    </a:p>
                    <a:p>
                      <a:pPr algn="l" marL="511763" indent="-255881" lvl="1">
                        <a:lnSpc>
                          <a:spcPts val="3318"/>
                        </a:lnSpc>
                        <a:buFont typeface="Arial"/>
                        <a:buChar char="•"/>
                      </a:pPr>
                      <a:r>
                        <a:rPr lang="en-US" b="true" sz="2370">
                          <a:solidFill>
                            <a:srgbClr val="E82133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Yes = 109 patients (44.9%)</a:t>
                      </a:r>
                    </a:p>
                    <a:p>
                      <a:pPr algn="l" marL="511763" indent="-255881" lvl="1">
                        <a:lnSpc>
                          <a:spcPts val="3318"/>
                        </a:lnSpc>
                        <a:buFont typeface="Arial"/>
                        <a:buChar char="•"/>
                      </a:pPr>
                      <a:r>
                        <a:rPr lang="en-US" b="true" sz="2370">
                          <a:solidFill>
                            <a:srgbClr val="1B4B9D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No = 130 patients (55.1%)</a:t>
                      </a:r>
                    </a:p>
                  </a:txBody>
                  <a:tcPr marL="188148" marR="188148" marT="188148" marB="188148" anchor="ctr">
                    <a:lnL cmpd="sng" algn="ctr" cap="flat" w="1881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881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881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881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15" id="15"/>
          <p:cNvGraphicFramePr>
            <a:graphicFrameLocks noGrp="true"/>
          </p:cNvGraphicFramePr>
          <p:nvPr/>
        </p:nvGraphicFramePr>
        <p:xfrm>
          <a:off x="4523" y="4692821"/>
          <a:ext cx="4809847" cy="2060684"/>
        </p:xfrm>
        <a:graphic>
          <a:graphicData uri="http://schemas.openxmlformats.org/drawingml/2006/table">
            <a:tbl>
              <a:tblPr/>
              <a:tblGrid>
                <a:gridCol w="4809847"/>
              </a:tblGrid>
              <a:tr h="206068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18"/>
                        </a:lnSpc>
                        <a:defRPr/>
                      </a:pPr>
                      <a:r>
                        <a:rPr lang="en-US" sz="2370" b="true">
                          <a:solidFill>
                            <a:srgbClr val="1B4B9D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MRI Obtained:</a:t>
                      </a:r>
                      <a:endParaRPr lang="en-US" sz="1100"/>
                    </a:p>
                    <a:p>
                      <a:pPr algn="l" marL="511763" indent="-255881" lvl="1">
                        <a:lnSpc>
                          <a:spcPts val="3318"/>
                        </a:lnSpc>
                        <a:buFont typeface="Arial"/>
                        <a:buChar char="•"/>
                      </a:pPr>
                      <a:r>
                        <a:rPr lang="en-US" b="true" sz="2370">
                          <a:solidFill>
                            <a:srgbClr val="E82133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Yes = 119 patients (44.1%)</a:t>
                      </a:r>
                    </a:p>
                    <a:p>
                      <a:pPr algn="l" marL="511763" indent="-255881" lvl="1">
                        <a:lnSpc>
                          <a:spcPts val="3318"/>
                        </a:lnSpc>
                        <a:buFont typeface="Arial"/>
                        <a:buChar char="•"/>
                      </a:pPr>
                      <a:r>
                        <a:rPr lang="en-US" b="true" sz="2370">
                          <a:solidFill>
                            <a:srgbClr val="1B4B9D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No = 151 patients (55.9%)</a:t>
                      </a:r>
                    </a:p>
                  </a:txBody>
                  <a:tcPr marL="188148" marR="188148" marT="188148" marB="188148" anchor="ctr">
                    <a:lnL cmpd="sng" algn="ctr" cap="flat" w="1881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881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881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881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523767" y="3943464"/>
            <a:ext cx="4071600" cy="4680982"/>
          </a:xfrm>
          <a:prstGeom prst="rect">
            <a:avLst/>
          </a:prstGeom>
        </p:spPr>
      </p:pic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2269435" y="2898601"/>
          <a:ext cx="4989865" cy="1382889"/>
        </p:xfrm>
        <a:graphic>
          <a:graphicData uri="http://schemas.openxmlformats.org/drawingml/2006/table">
            <a:tbl>
              <a:tblPr/>
              <a:tblGrid>
                <a:gridCol w="4761389"/>
              </a:tblGrid>
              <a:tr h="13828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637"/>
                        </a:lnSpc>
                        <a:defRPr/>
                      </a:pPr>
                      <a:r>
                        <a:rPr lang="en-US" sz="4740" b="true">
                          <a:solidFill>
                            <a:srgbClr val="FFFFFF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EHR-integrated</a:t>
                      </a:r>
                      <a:endParaRPr lang="en-US" sz="1100"/>
                    </a:p>
                  </a:txBody>
                  <a:tcPr marL="188148" marR="188148" marT="188148" marB="188148" anchor="ctr">
                    <a:lnL cmpd="sng" algn="ctr" cap="flat" w="1881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881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881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881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2133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6407425" y="2898601"/>
          <a:ext cx="4790086" cy="1382889"/>
        </p:xfrm>
        <a:graphic>
          <a:graphicData uri="http://schemas.openxmlformats.org/drawingml/2006/table">
            <a:tbl>
              <a:tblPr/>
              <a:tblGrid>
                <a:gridCol w="4790086"/>
              </a:tblGrid>
              <a:tr h="13828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636"/>
                        </a:lnSpc>
                        <a:defRPr/>
                      </a:pPr>
                      <a:r>
                        <a:rPr lang="en-US" sz="4740" b="true">
                          <a:solidFill>
                            <a:srgbClr val="FFFFFF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Paper Protocol</a:t>
                      </a:r>
                      <a:endParaRPr lang="en-US" sz="1100"/>
                    </a:p>
                  </a:txBody>
                  <a:tcPr marL="188148" marR="188148" marT="188148" marB="188148" anchor="ctr">
                    <a:lnL cmpd="sng" algn="ctr" cap="flat" w="1881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881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881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881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2133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711135" y="2898601"/>
          <a:ext cx="4790086" cy="1382889"/>
        </p:xfrm>
        <a:graphic>
          <a:graphicData uri="http://schemas.openxmlformats.org/drawingml/2006/table">
            <a:tbl>
              <a:tblPr/>
              <a:tblGrid>
                <a:gridCol w="4790086"/>
              </a:tblGrid>
              <a:tr h="13828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636"/>
                        </a:lnSpc>
                        <a:defRPr/>
                      </a:pPr>
                      <a:r>
                        <a:rPr lang="en-US" sz="4740" b="true">
                          <a:solidFill>
                            <a:srgbClr val="FFFFFF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No Protocol</a:t>
                      </a:r>
                      <a:endParaRPr lang="en-US" sz="1100"/>
                    </a:p>
                  </a:txBody>
                  <a:tcPr marL="188148" marR="188148" marT="188148" marB="188148" anchor="ctr">
                    <a:lnL cmpd="sng" algn="ctr" cap="flat" w="1881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881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881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881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2133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6387664" y="8234365"/>
          <a:ext cx="4809847" cy="1375787"/>
        </p:xfrm>
        <a:graphic>
          <a:graphicData uri="http://schemas.openxmlformats.org/drawingml/2006/table">
            <a:tbl>
              <a:tblPr/>
              <a:tblGrid>
                <a:gridCol w="4809847"/>
              </a:tblGrid>
              <a:tr h="915066">
                <a:tc>
                  <a:txBody>
                    <a:bodyPr anchor="t" rtlCol="false"/>
                    <a:lstStyle/>
                    <a:p>
                      <a:pPr algn="l" marL="511762" indent="-255881" lvl="1">
                        <a:lnSpc>
                          <a:spcPts val="3318"/>
                        </a:lnSpc>
                        <a:buFont typeface="Arial"/>
                        <a:buChar char="•"/>
                        <a:defRPr/>
                      </a:pPr>
                      <a:r>
                        <a:rPr lang="en-US" b="true" sz="2370">
                          <a:solidFill>
                            <a:srgbClr val="E82133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Yes - 36 patients (18.7%)</a:t>
                      </a:r>
                      <a:endParaRPr lang="en-US" sz="1100"/>
                    </a:p>
                    <a:p>
                      <a:pPr algn="l" marL="511762" indent="-255881" lvl="1">
                        <a:lnSpc>
                          <a:spcPts val="3318"/>
                        </a:lnSpc>
                        <a:buFont typeface="Arial"/>
                        <a:buChar char="•"/>
                      </a:pPr>
                      <a:r>
                        <a:rPr lang="en-US" b="true" sz="2370">
                          <a:solidFill>
                            <a:srgbClr val="1B4B9D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No = 157 patients (81.3%)</a:t>
                      </a:r>
                    </a:p>
                  </a:txBody>
                  <a:tcPr marL="188148" marR="188148" marT="188148" marB="188148" anchor="ctr">
                    <a:lnL cmpd="sng" algn="ctr" cap="flat" w="1881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881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881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881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12359444" y="8220626"/>
          <a:ext cx="4809847" cy="1389526"/>
        </p:xfrm>
        <a:graphic>
          <a:graphicData uri="http://schemas.openxmlformats.org/drawingml/2006/table">
            <a:tbl>
              <a:tblPr/>
              <a:tblGrid>
                <a:gridCol w="4809847"/>
              </a:tblGrid>
              <a:tr h="933561">
                <a:tc>
                  <a:txBody>
                    <a:bodyPr anchor="t" rtlCol="false"/>
                    <a:lstStyle/>
                    <a:p>
                      <a:pPr algn="l" marL="511762" indent="-255881" lvl="1">
                        <a:lnSpc>
                          <a:spcPts val="3318"/>
                        </a:lnSpc>
                        <a:buFont typeface="Arial"/>
                        <a:buChar char="•"/>
                        <a:defRPr/>
                      </a:pPr>
                      <a:r>
                        <a:rPr lang="en-US" b="true" sz="2370">
                          <a:solidFill>
                            <a:srgbClr val="E82133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Yes - 88 patients (36.8%)</a:t>
                      </a:r>
                      <a:endParaRPr lang="en-US" sz="1100"/>
                    </a:p>
                    <a:p>
                      <a:pPr algn="l" marL="511762" indent="-255881" lvl="1">
                        <a:lnSpc>
                          <a:spcPts val="3318"/>
                        </a:lnSpc>
                        <a:buFont typeface="Arial"/>
                        <a:buChar char="•"/>
                      </a:pPr>
                      <a:r>
                        <a:rPr lang="en-US" b="true" sz="2370">
                          <a:solidFill>
                            <a:srgbClr val="1B4B9D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No = 151 patients (63.2%)</a:t>
                      </a:r>
                    </a:p>
                  </a:txBody>
                  <a:tcPr marL="188148" marR="188148" marT="188148" marB="188148" anchor="ctr">
                    <a:lnL cmpd="sng" algn="ctr" cap="flat" w="1881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881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881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881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983843" y="3818069"/>
            <a:ext cx="5561050" cy="4218278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265450" y="206401"/>
            <a:ext cx="15804725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280"/>
              </a:lnSpc>
              <a:spcBef>
                <a:spcPct val="0"/>
              </a:spcBef>
            </a:pPr>
            <a:r>
              <a:rPr lang="en-US" b="true" sz="6900">
                <a:solidFill>
                  <a:srgbClr val="1B4B9D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Results - Limb Preservation Consults</a:t>
            </a:r>
          </a:p>
        </p:txBody>
      </p:sp>
      <p:sp>
        <p:nvSpPr>
          <p:cNvPr name="AutoShape 10" id="10"/>
          <p:cNvSpPr/>
          <p:nvPr/>
        </p:nvSpPr>
        <p:spPr>
          <a:xfrm>
            <a:off x="1265450" y="1263676"/>
            <a:ext cx="15757100" cy="0"/>
          </a:xfrm>
          <a:prstGeom prst="line">
            <a:avLst/>
          </a:prstGeom>
          <a:ln cap="flat" w="85725">
            <a:solidFill>
              <a:srgbClr val="1B4B9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-150581" y="1821034"/>
            <a:ext cx="18589163" cy="655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b="true" sz="3799">
                <a:solidFill>
                  <a:srgbClr val="E821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Was the Limb Preservation Consult used during patient care?</a:t>
            </a:r>
          </a:p>
        </p:txBody>
      </p: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715658" y="4281490"/>
          <a:ext cx="4785563" cy="3952875"/>
        </p:xfrm>
        <a:graphic>
          <a:graphicData uri="http://schemas.openxmlformats.org/drawingml/2006/table">
            <a:tbl>
              <a:tblPr/>
              <a:tblGrid>
                <a:gridCol w="4188719"/>
              </a:tblGrid>
              <a:tr h="395287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459"/>
                        </a:lnSpc>
                        <a:defRPr/>
                      </a:pPr>
                      <a:r>
                        <a:rPr lang="en-US" sz="3899" b="true">
                          <a:solidFill>
                            <a:srgbClr val="1B4B9D"/>
                          </a:solidFill>
                          <a:latin typeface="Public Sans Bold"/>
                          <a:ea typeface="Public Sans Bold"/>
                          <a:cs typeface="Public Sans Bold"/>
                          <a:sym typeface="Public Sans Bold"/>
                        </a:rPr>
                        <a:t>Limb preservation consultation service was not established during this phase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-710244" y="0"/>
            <a:ext cx="5726783" cy="10287000"/>
          </a:xfrm>
          <a:prstGeom prst="rect">
            <a:avLst/>
          </a:prstGeom>
          <a:solidFill>
            <a:srgbClr val="E82133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285229" y="4092519"/>
            <a:ext cx="4367165" cy="2505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840"/>
              </a:lnSpc>
              <a:spcBef>
                <a:spcPct val="0"/>
              </a:spcBef>
            </a:pPr>
            <a:r>
              <a:rPr lang="en-US" b="true" sz="8200">
                <a:solidFill>
                  <a:srgbClr val="F9FC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Key Findings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566554" y="778460"/>
            <a:ext cx="8538601" cy="737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74"/>
              </a:lnSpc>
            </a:pPr>
            <a:r>
              <a:rPr lang="en-US" sz="4338" b="true">
                <a:solidFill>
                  <a:srgbClr val="1B4B9D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The Limb Preservation Pathway: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005859" y="2153984"/>
            <a:ext cx="11659990" cy="1090811"/>
            <a:chOff x="0" y="0"/>
            <a:chExt cx="15546653" cy="1454414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5546653" cy="1454414"/>
              <a:chOff x="0" y="0"/>
              <a:chExt cx="11769669" cy="110107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1770939" cy="1101071"/>
              </a:xfrm>
              <a:custGeom>
                <a:avLst/>
                <a:gdLst/>
                <a:ahLst/>
                <a:cxnLst/>
                <a:rect r="r" b="b" t="t" l="l"/>
                <a:pathLst>
                  <a:path h="1101071" w="11770939">
                    <a:moveTo>
                      <a:pt x="11217219" y="1101071"/>
                    </a:moveTo>
                    <a:lnTo>
                      <a:pt x="553720" y="1101071"/>
                    </a:lnTo>
                    <a:cubicBezTo>
                      <a:pt x="247650" y="1101071"/>
                      <a:pt x="0" y="854562"/>
                      <a:pt x="0" y="551167"/>
                    </a:cubicBezTo>
                    <a:cubicBezTo>
                      <a:pt x="0" y="246508"/>
                      <a:pt x="247650" y="0"/>
                      <a:pt x="553720" y="0"/>
                    </a:cubicBezTo>
                    <a:lnTo>
                      <a:pt x="11217219" y="0"/>
                    </a:lnTo>
                    <a:cubicBezTo>
                      <a:pt x="11523289" y="0"/>
                      <a:pt x="11770939" y="246508"/>
                      <a:pt x="11770939" y="551167"/>
                    </a:cubicBezTo>
                    <a:cubicBezTo>
                      <a:pt x="11769669" y="854562"/>
                      <a:pt x="11522019" y="1101071"/>
                      <a:pt x="11217219" y="1101071"/>
                    </a:cubicBezTo>
                    <a:close/>
                  </a:path>
                </a:pathLst>
              </a:custGeom>
              <a:solidFill>
                <a:srgbClr val="1B4B9D"/>
              </a:solidFill>
            </p:spPr>
          </p:sp>
        </p:grpSp>
        <p:sp>
          <p:nvSpPr>
            <p:cNvPr name="TextBox 8" id="8"/>
            <p:cNvSpPr txBox="true"/>
            <p:nvPr/>
          </p:nvSpPr>
          <p:spPr>
            <a:xfrm rot="0">
              <a:off x="1206666" y="238910"/>
              <a:ext cx="12929403" cy="8783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19"/>
                </a:lnSpc>
              </a:pPr>
              <a:r>
                <a:rPr lang="en-US" sz="394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Decreased hospital LOS 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005859" y="8174218"/>
            <a:ext cx="11659990" cy="1084082"/>
            <a:chOff x="0" y="0"/>
            <a:chExt cx="15546653" cy="1445442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5546653" cy="1445442"/>
              <a:chOff x="0" y="0"/>
              <a:chExt cx="11769669" cy="1094279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1770939" cy="1094279"/>
              </a:xfrm>
              <a:custGeom>
                <a:avLst/>
                <a:gdLst/>
                <a:ahLst/>
                <a:cxnLst/>
                <a:rect r="r" b="b" t="t" l="l"/>
                <a:pathLst>
                  <a:path h="1094279" w="11770939">
                    <a:moveTo>
                      <a:pt x="11217219" y="1094279"/>
                    </a:moveTo>
                    <a:lnTo>
                      <a:pt x="553720" y="1094279"/>
                    </a:lnTo>
                    <a:cubicBezTo>
                      <a:pt x="247650" y="1094279"/>
                      <a:pt x="0" y="849290"/>
                      <a:pt x="0" y="547767"/>
                    </a:cubicBezTo>
                    <a:cubicBezTo>
                      <a:pt x="0" y="244987"/>
                      <a:pt x="247650" y="0"/>
                      <a:pt x="553720" y="0"/>
                    </a:cubicBezTo>
                    <a:lnTo>
                      <a:pt x="11217219" y="0"/>
                    </a:lnTo>
                    <a:cubicBezTo>
                      <a:pt x="11523289" y="0"/>
                      <a:pt x="11770939" y="244987"/>
                      <a:pt x="11770939" y="547767"/>
                    </a:cubicBezTo>
                    <a:cubicBezTo>
                      <a:pt x="11769669" y="849290"/>
                      <a:pt x="11522019" y="1094279"/>
                      <a:pt x="11217219" y="1094279"/>
                    </a:cubicBezTo>
                    <a:close/>
                  </a:path>
                </a:pathLst>
              </a:custGeom>
              <a:solidFill>
                <a:srgbClr val="1B4B9D"/>
              </a:solidFill>
            </p:spPr>
          </p:sp>
        </p:grpSp>
        <p:sp>
          <p:nvSpPr>
            <p:cNvPr name="TextBox 12" id="12"/>
            <p:cNvSpPr txBox="true"/>
            <p:nvPr/>
          </p:nvSpPr>
          <p:spPr>
            <a:xfrm rot="0">
              <a:off x="1242862" y="240675"/>
              <a:ext cx="13060929" cy="8783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19"/>
                </a:lnSpc>
              </a:pPr>
              <a:r>
                <a:rPr lang="en-US" sz="394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Increased limb preservation consultations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005859" y="6052189"/>
            <a:ext cx="11659990" cy="1090811"/>
            <a:chOff x="0" y="0"/>
            <a:chExt cx="15546653" cy="1454414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15546653" cy="1454414"/>
              <a:chOff x="0" y="0"/>
              <a:chExt cx="11769669" cy="1101071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1770939" cy="1101071"/>
              </a:xfrm>
              <a:custGeom>
                <a:avLst/>
                <a:gdLst/>
                <a:ahLst/>
                <a:cxnLst/>
                <a:rect r="r" b="b" t="t" l="l"/>
                <a:pathLst>
                  <a:path h="1101071" w="11770939">
                    <a:moveTo>
                      <a:pt x="11217219" y="1101071"/>
                    </a:moveTo>
                    <a:lnTo>
                      <a:pt x="553720" y="1101071"/>
                    </a:lnTo>
                    <a:cubicBezTo>
                      <a:pt x="247650" y="1101071"/>
                      <a:pt x="0" y="854562"/>
                      <a:pt x="0" y="551167"/>
                    </a:cubicBezTo>
                    <a:cubicBezTo>
                      <a:pt x="0" y="246508"/>
                      <a:pt x="247650" y="0"/>
                      <a:pt x="553720" y="0"/>
                    </a:cubicBezTo>
                    <a:lnTo>
                      <a:pt x="11217219" y="0"/>
                    </a:lnTo>
                    <a:cubicBezTo>
                      <a:pt x="11523289" y="0"/>
                      <a:pt x="11770939" y="246508"/>
                      <a:pt x="11770939" y="551167"/>
                    </a:cubicBezTo>
                    <a:cubicBezTo>
                      <a:pt x="11769669" y="854562"/>
                      <a:pt x="11522019" y="1101071"/>
                      <a:pt x="11217219" y="1101071"/>
                    </a:cubicBezTo>
                    <a:close/>
                  </a:path>
                </a:pathLst>
              </a:custGeom>
              <a:solidFill>
                <a:srgbClr val="1B4B9D"/>
              </a:solidFill>
            </p:spPr>
          </p:sp>
        </p:grpSp>
        <p:sp>
          <p:nvSpPr>
            <p:cNvPr name="TextBox 16" id="16"/>
            <p:cNvSpPr txBox="true"/>
            <p:nvPr/>
          </p:nvSpPr>
          <p:spPr>
            <a:xfrm rot="0">
              <a:off x="1206666" y="238910"/>
              <a:ext cx="12929403" cy="8783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19"/>
                </a:lnSpc>
              </a:pPr>
              <a:r>
                <a:rPr lang="en-US" sz="394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No changes in MRI ordering practice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005859" y="4102044"/>
            <a:ext cx="11659990" cy="1090811"/>
            <a:chOff x="0" y="0"/>
            <a:chExt cx="15546653" cy="1454414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15546653" cy="1454414"/>
              <a:chOff x="0" y="0"/>
              <a:chExt cx="11769669" cy="1101071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1770939" cy="1101071"/>
              </a:xfrm>
              <a:custGeom>
                <a:avLst/>
                <a:gdLst/>
                <a:ahLst/>
                <a:cxnLst/>
                <a:rect r="r" b="b" t="t" l="l"/>
                <a:pathLst>
                  <a:path h="1101071" w="11770939">
                    <a:moveTo>
                      <a:pt x="11217219" y="1101071"/>
                    </a:moveTo>
                    <a:lnTo>
                      <a:pt x="553720" y="1101071"/>
                    </a:lnTo>
                    <a:cubicBezTo>
                      <a:pt x="247650" y="1101071"/>
                      <a:pt x="0" y="854562"/>
                      <a:pt x="0" y="551167"/>
                    </a:cubicBezTo>
                    <a:cubicBezTo>
                      <a:pt x="0" y="246508"/>
                      <a:pt x="247650" y="0"/>
                      <a:pt x="553720" y="0"/>
                    </a:cubicBezTo>
                    <a:lnTo>
                      <a:pt x="11217219" y="0"/>
                    </a:lnTo>
                    <a:cubicBezTo>
                      <a:pt x="11523289" y="0"/>
                      <a:pt x="11770939" y="246508"/>
                      <a:pt x="11770939" y="551167"/>
                    </a:cubicBezTo>
                    <a:cubicBezTo>
                      <a:pt x="11769669" y="854562"/>
                      <a:pt x="11522019" y="1101071"/>
                      <a:pt x="11217219" y="1101071"/>
                    </a:cubicBezTo>
                    <a:close/>
                  </a:path>
                </a:pathLst>
              </a:custGeom>
              <a:solidFill>
                <a:srgbClr val="1B4B9D"/>
              </a:solidFill>
            </p:spPr>
          </p:sp>
        </p:grpSp>
        <p:sp>
          <p:nvSpPr>
            <p:cNvPr name="TextBox 20" id="20"/>
            <p:cNvSpPr txBox="true"/>
            <p:nvPr/>
          </p:nvSpPr>
          <p:spPr>
            <a:xfrm rot="0">
              <a:off x="1206666" y="238910"/>
              <a:ext cx="12929403" cy="8783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19"/>
                </a:lnSpc>
              </a:pPr>
              <a:r>
                <a:rPr lang="en-US" sz="394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Unchanged admission rates and ED LOS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60106" y="871393"/>
            <a:ext cx="17567787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800"/>
              </a:lnSpc>
              <a:spcBef>
                <a:spcPct val="0"/>
              </a:spcBef>
            </a:pPr>
            <a:r>
              <a:rPr lang="en-US" b="true" sz="9000">
                <a:solidFill>
                  <a:srgbClr val="E821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Why Did Hospital LOS Improve?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83367" y="3042783"/>
            <a:ext cx="15133308" cy="6219171"/>
            <a:chOff x="0" y="0"/>
            <a:chExt cx="20177744" cy="8292228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0177744" cy="8292228"/>
              <a:chOff x="0" y="0"/>
              <a:chExt cx="8816907" cy="3623389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816908" cy="3623389"/>
              </a:xfrm>
              <a:custGeom>
                <a:avLst/>
                <a:gdLst/>
                <a:ahLst/>
                <a:cxnLst/>
                <a:rect r="r" b="b" t="t" l="l"/>
                <a:pathLst>
                  <a:path h="3623389" w="8816908">
                    <a:moveTo>
                      <a:pt x="19873" y="0"/>
                    </a:moveTo>
                    <a:lnTo>
                      <a:pt x="8797034" y="0"/>
                    </a:lnTo>
                    <a:cubicBezTo>
                      <a:pt x="8802305" y="0"/>
                      <a:pt x="8807360" y="2094"/>
                      <a:pt x="8811087" y="5821"/>
                    </a:cubicBezTo>
                    <a:cubicBezTo>
                      <a:pt x="8814814" y="9548"/>
                      <a:pt x="8816908" y="14602"/>
                      <a:pt x="8816908" y="19873"/>
                    </a:cubicBezTo>
                    <a:lnTo>
                      <a:pt x="8816908" y="3603516"/>
                    </a:lnTo>
                    <a:cubicBezTo>
                      <a:pt x="8816908" y="3608786"/>
                      <a:pt x="8814814" y="3613841"/>
                      <a:pt x="8811087" y="3617568"/>
                    </a:cubicBezTo>
                    <a:cubicBezTo>
                      <a:pt x="8807360" y="3621295"/>
                      <a:pt x="8802305" y="3623389"/>
                      <a:pt x="8797034" y="3623389"/>
                    </a:cubicBezTo>
                    <a:lnTo>
                      <a:pt x="19873" y="3623389"/>
                    </a:lnTo>
                    <a:cubicBezTo>
                      <a:pt x="14602" y="3623389"/>
                      <a:pt x="9548" y="3621295"/>
                      <a:pt x="5821" y="3617568"/>
                    </a:cubicBezTo>
                    <a:cubicBezTo>
                      <a:pt x="2094" y="3613841"/>
                      <a:pt x="0" y="3608786"/>
                      <a:pt x="0" y="3603516"/>
                    </a:cubicBezTo>
                    <a:lnTo>
                      <a:pt x="0" y="19873"/>
                    </a:lnTo>
                    <a:cubicBezTo>
                      <a:pt x="0" y="14602"/>
                      <a:pt x="2094" y="9548"/>
                      <a:pt x="5821" y="5821"/>
                    </a:cubicBezTo>
                    <a:cubicBezTo>
                      <a:pt x="9548" y="2094"/>
                      <a:pt x="14602" y="0"/>
                      <a:pt x="19873" y="0"/>
                    </a:cubicBezTo>
                    <a:close/>
                  </a:path>
                </a:pathLst>
              </a:custGeom>
              <a:solidFill>
                <a:srgbClr val="1B4B9D"/>
              </a:solidFill>
              <a:ln cap="rnd">
                <a:noFill/>
                <a:prstDash val="sysDot"/>
                <a:round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8816907" cy="3661489"/>
              </a:xfrm>
              <a:prstGeom prst="rect">
                <a:avLst/>
              </a:prstGeom>
            </p:spPr>
            <p:txBody>
              <a:bodyPr anchor="ctr" rtlCol="false" tIns="254000" lIns="254000" bIns="254000" rIns="254000"/>
              <a:lstStyle/>
              <a:p>
                <a:pPr algn="l">
                  <a:lnSpc>
                    <a:spcPts val="23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1036887" y="640914"/>
              <a:ext cx="18103970" cy="701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55"/>
                </a:lnSpc>
              </a:pPr>
              <a:r>
                <a:rPr lang="en-US" sz="5795" b="true">
                  <a:solidFill>
                    <a:srgbClr val="F9FCF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Improvements to:</a:t>
              </a:r>
            </a:p>
            <a:p>
              <a:pPr algn="l" marL="1251340" indent="-625670" lvl="1">
                <a:lnSpc>
                  <a:spcPts val="6955"/>
                </a:lnSpc>
                <a:buFont typeface="Arial"/>
                <a:buChar char="•"/>
              </a:pPr>
              <a:r>
                <a:rPr lang="en-US" sz="5795">
                  <a:solidFill>
                    <a:srgbClr val="F9FC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Diagnostic evaluation</a:t>
              </a:r>
            </a:p>
            <a:p>
              <a:pPr algn="l" marL="1251340" indent="-625670" lvl="1">
                <a:lnSpc>
                  <a:spcPts val="6955"/>
                </a:lnSpc>
                <a:buFont typeface="Arial"/>
                <a:buChar char="•"/>
              </a:pPr>
              <a:r>
                <a:rPr lang="en-US" sz="5795">
                  <a:solidFill>
                    <a:srgbClr val="F9FC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Standardized early decision-making</a:t>
              </a:r>
            </a:p>
            <a:p>
              <a:pPr algn="l" marL="1251340" indent="-625670" lvl="1">
                <a:lnSpc>
                  <a:spcPts val="6955"/>
                </a:lnSpc>
                <a:buFont typeface="Arial"/>
                <a:buChar char="•"/>
              </a:pPr>
              <a:r>
                <a:rPr lang="en-US" sz="5795">
                  <a:solidFill>
                    <a:srgbClr val="F9FC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Early specialty involvement</a:t>
              </a:r>
            </a:p>
            <a:p>
              <a:pPr algn="l" marL="1251340" indent="-625670" lvl="1">
                <a:lnSpc>
                  <a:spcPts val="695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5795">
                  <a:solidFill>
                    <a:srgbClr val="F9FC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Streamlined disposition pathways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77421" y="874023"/>
            <a:ext cx="9887174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800"/>
              </a:lnSpc>
              <a:spcBef>
                <a:spcPct val="0"/>
              </a:spcBef>
            </a:pPr>
            <a:r>
              <a:rPr lang="en-US" b="true" sz="9000">
                <a:solidFill>
                  <a:srgbClr val="1B4B9D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Why This Matters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83367" y="2700218"/>
            <a:ext cx="14921266" cy="6314161"/>
            <a:chOff x="0" y="0"/>
            <a:chExt cx="19895022" cy="8418881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9895022" cy="8418881"/>
              <a:chOff x="0" y="0"/>
              <a:chExt cx="8471263" cy="3584744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471264" cy="3584744"/>
              </a:xfrm>
              <a:custGeom>
                <a:avLst/>
                <a:gdLst/>
                <a:ahLst/>
                <a:cxnLst/>
                <a:rect r="r" b="b" t="t" l="l"/>
                <a:pathLst>
                  <a:path h="3584744" w="8471264">
                    <a:moveTo>
                      <a:pt x="20684" y="0"/>
                    </a:moveTo>
                    <a:lnTo>
                      <a:pt x="8450580" y="0"/>
                    </a:lnTo>
                    <a:cubicBezTo>
                      <a:pt x="8462003" y="0"/>
                      <a:pt x="8471264" y="9260"/>
                      <a:pt x="8471264" y="20684"/>
                    </a:cubicBezTo>
                    <a:lnTo>
                      <a:pt x="8471264" y="3564060"/>
                    </a:lnTo>
                    <a:cubicBezTo>
                      <a:pt x="8471264" y="3575484"/>
                      <a:pt x="8462003" y="3584744"/>
                      <a:pt x="8450580" y="3584744"/>
                    </a:cubicBezTo>
                    <a:lnTo>
                      <a:pt x="20684" y="3584744"/>
                    </a:lnTo>
                    <a:cubicBezTo>
                      <a:pt x="9260" y="3584744"/>
                      <a:pt x="0" y="3575484"/>
                      <a:pt x="0" y="3564060"/>
                    </a:cubicBezTo>
                    <a:lnTo>
                      <a:pt x="0" y="20684"/>
                    </a:lnTo>
                    <a:cubicBezTo>
                      <a:pt x="0" y="9260"/>
                      <a:pt x="9260" y="0"/>
                      <a:pt x="20684" y="0"/>
                    </a:cubicBezTo>
                    <a:close/>
                  </a:path>
                </a:pathLst>
              </a:custGeom>
              <a:solidFill>
                <a:srgbClr val="E82133"/>
              </a:solidFill>
              <a:ln cap="rnd">
                <a:noFill/>
                <a:prstDash val="sysDot"/>
                <a:round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8471263" cy="3622844"/>
              </a:xfrm>
              <a:prstGeom prst="rect">
                <a:avLst/>
              </a:prstGeom>
            </p:spPr>
            <p:txBody>
              <a:bodyPr anchor="ctr" rtlCol="false" tIns="254000" lIns="254000" bIns="254000" rIns="254000"/>
              <a:lstStyle/>
              <a:p>
                <a:pPr algn="l">
                  <a:lnSpc>
                    <a:spcPts val="23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994554" y="480934"/>
              <a:ext cx="16329435" cy="12077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137"/>
                </a:lnSpc>
                <a:spcBef>
                  <a:spcPct val="0"/>
                </a:spcBef>
              </a:pPr>
              <a:r>
                <a:rPr lang="en-US" b="true" sz="5947">
                  <a:solidFill>
                    <a:srgbClr val="F9FCF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Impact of the Pathway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254396" y="4277018"/>
            <a:ext cx="15004904" cy="3484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66268" indent="-533134" lvl="1">
              <a:lnSpc>
                <a:spcPts val="6914"/>
              </a:lnSpc>
              <a:buFont typeface="Arial"/>
              <a:buChar char="•"/>
            </a:pPr>
            <a:r>
              <a:rPr lang="en-US" sz="4938">
                <a:solidFill>
                  <a:srgbClr val="F9FCFF"/>
                </a:solidFill>
                <a:latin typeface="Public Sans"/>
                <a:ea typeface="Public Sans"/>
                <a:cs typeface="Public Sans"/>
                <a:sym typeface="Public Sans"/>
              </a:rPr>
              <a:t>Reduction in hospital resource burden</a:t>
            </a:r>
          </a:p>
          <a:p>
            <a:pPr algn="l" marL="1066268" indent="-533134" lvl="1">
              <a:lnSpc>
                <a:spcPts val="6914"/>
              </a:lnSpc>
              <a:buFont typeface="Arial"/>
              <a:buChar char="•"/>
            </a:pPr>
            <a:r>
              <a:rPr lang="en-US" sz="4938">
                <a:solidFill>
                  <a:srgbClr val="F9FCFF"/>
                </a:solidFill>
                <a:latin typeface="Public Sans"/>
                <a:ea typeface="Public Sans"/>
                <a:cs typeface="Public Sans"/>
                <a:sym typeface="Public Sans"/>
              </a:rPr>
              <a:t>Improves ED throughput </a:t>
            </a:r>
          </a:p>
          <a:p>
            <a:pPr algn="l" marL="1066268" indent="-533134" lvl="1">
              <a:lnSpc>
                <a:spcPts val="6914"/>
              </a:lnSpc>
              <a:buFont typeface="Arial"/>
              <a:buChar char="•"/>
            </a:pPr>
            <a:r>
              <a:rPr lang="en-US" sz="4938">
                <a:solidFill>
                  <a:srgbClr val="F9FCFF"/>
                </a:solidFill>
                <a:latin typeface="Public Sans"/>
                <a:ea typeface="Public Sans"/>
                <a:cs typeface="Public Sans"/>
                <a:sym typeface="Public Sans"/>
              </a:rPr>
              <a:t>Standardizes complex wound care</a:t>
            </a:r>
          </a:p>
          <a:p>
            <a:pPr algn="l" marL="1066268" indent="-533134" lvl="1">
              <a:lnSpc>
                <a:spcPts val="6914"/>
              </a:lnSpc>
              <a:buFont typeface="Arial"/>
              <a:buChar char="•"/>
            </a:pPr>
            <a:r>
              <a:rPr lang="en-US" sz="4938">
                <a:solidFill>
                  <a:srgbClr val="F9FCFF"/>
                </a:solidFill>
                <a:latin typeface="Public Sans"/>
                <a:ea typeface="Public Sans"/>
                <a:cs typeface="Public Sans"/>
                <a:sym typeface="Public Sans"/>
              </a:rPr>
              <a:t>Scalable CDS model for other conditions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942315" y="525641"/>
            <a:ext cx="6403370" cy="136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799"/>
              </a:lnSpc>
              <a:spcBef>
                <a:spcPct val="0"/>
              </a:spcBef>
            </a:pPr>
            <a:r>
              <a:rPr lang="en-US" b="true" sz="8999">
                <a:solidFill>
                  <a:srgbClr val="E821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Limitations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4088833" y="2154589"/>
            <a:ext cx="10110334" cy="42862"/>
          </a:xfrm>
          <a:prstGeom prst="line">
            <a:avLst/>
          </a:prstGeom>
          <a:ln cap="flat" w="95250">
            <a:solidFill>
              <a:srgbClr val="E8213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2676248" y="3013053"/>
            <a:ext cx="12935503" cy="1090811"/>
            <a:chOff x="0" y="0"/>
            <a:chExt cx="17247338" cy="1454414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7247338" cy="1454414"/>
              <a:chOff x="0" y="0"/>
              <a:chExt cx="13057181" cy="1101071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3058451" cy="1101071"/>
              </a:xfrm>
              <a:custGeom>
                <a:avLst/>
                <a:gdLst/>
                <a:ahLst/>
                <a:cxnLst/>
                <a:rect r="r" b="b" t="t" l="l"/>
                <a:pathLst>
                  <a:path h="1101071" w="13058451">
                    <a:moveTo>
                      <a:pt x="12504731" y="1101071"/>
                    </a:moveTo>
                    <a:lnTo>
                      <a:pt x="553720" y="1101071"/>
                    </a:lnTo>
                    <a:cubicBezTo>
                      <a:pt x="247650" y="1101071"/>
                      <a:pt x="0" y="854562"/>
                      <a:pt x="0" y="551167"/>
                    </a:cubicBezTo>
                    <a:cubicBezTo>
                      <a:pt x="0" y="246508"/>
                      <a:pt x="247650" y="0"/>
                      <a:pt x="553720" y="0"/>
                    </a:cubicBezTo>
                    <a:lnTo>
                      <a:pt x="12504731" y="0"/>
                    </a:lnTo>
                    <a:cubicBezTo>
                      <a:pt x="12810801" y="0"/>
                      <a:pt x="13058451" y="246508"/>
                      <a:pt x="13058451" y="551167"/>
                    </a:cubicBezTo>
                    <a:cubicBezTo>
                      <a:pt x="13057181" y="854562"/>
                      <a:pt x="12809531" y="1101071"/>
                      <a:pt x="12504731" y="1101071"/>
                    </a:cubicBezTo>
                    <a:close/>
                  </a:path>
                </a:pathLst>
              </a:custGeom>
              <a:solidFill>
                <a:srgbClr val="1B4B9D"/>
              </a:solidFill>
            </p:spPr>
          </p:sp>
        </p:grpSp>
        <p:sp>
          <p:nvSpPr>
            <p:cNvPr name="TextBox 7" id="7"/>
            <p:cNvSpPr txBox="true"/>
            <p:nvPr/>
          </p:nvSpPr>
          <p:spPr>
            <a:xfrm rot="0">
              <a:off x="1338667" y="238910"/>
              <a:ext cx="14343780" cy="8783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19"/>
                </a:lnSpc>
              </a:pPr>
              <a:r>
                <a:rPr lang="en-US" sz="394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Single-center academic ED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676248" y="4665839"/>
            <a:ext cx="12935503" cy="1084082"/>
            <a:chOff x="0" y="0"/>
            <a:chExt cx="17247338" cy="1445442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7247338" cy="1445442"/>
              <a:chOff x="0" y="0"/>
              <a:chExt cx="13057181" cy="109427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3058451" cy="1094279"/>
              </a:xfrm>
              <a:custGeom>
                <a:avLst/>
                <a:gdLst/>
                <a:ahLst/>
                <a:cxnLst/>
                <a:rect r="r" b="b" t="t" l="l"/>
                <a:pathLst>
                  <a:path h="1094279" w="13058451">
                    <a:moveTo>
                      <a:pt x="12504731" y="1094279"/>
                    </a:moveTo>
                    <a:lnTo>
                      <a:pt x="553720" y="1094279"/>
                    </a:lnTo>
                    <a:cubicBezTo>
                      <a:pt x="247650" y="1094279"/>
                      <a:pt x="0" y="849290"/>
                      <a:pt x="0" y="547767"/>
                    </a:cubicBezTo>
                    <a:cubicBezTo>
                      <a:pt x="0" y="244987"/>
                      <a:pt x="247650" y="0"/>
                      <a:pt x="553720" y="0"/>
                    </a:cubicBezTo>
                    <a:lnTo>
                      <a:pt x="12504731" y="0"/>
                    </a:lnTo>
                    <a:cubicBezTo>
                      <a:pt x="12810801" y="0"/>
                      <a:pt x="13058451" y="244987"/>
                      <a:pt x="13058451" y="547767"/>
                    </a:cubicBezTo>
                    <a:cubicBezTo>
                      <a:pt x="13057181" y="849290"/>
                      <a:pt x="12809531" y="1094279"/>
                      <a:pt x="12504731" y="1094279"/>
                    </a:cubicBezTo>
                    <a:close/>
                  </a:path>
                </a:pathLst>
              </a:custGeom>
              <a:solidFill>
                <a:srgbClr val="1B4B9D"/>
              </a:solidFill>
            </p:spPr>
          </p:sp>
        </p:grpSp>
        <p:sp>
          <p:nvSpPr>
            <p:cNvPr name="TextBox 11" id="11"/>
            <p:cNvSpPr txBox="true"/>
            <p:nvPr/>
          </p:nvSpPr>
          <p:spPr>
            <a:xfrm rot="0">
              <a:off x="689411" y="240675"/>
              <a:ext cx="15868516" cy="8783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19"/>
                </a:lnSpc>
              </a:pPr>
              <a:r>
                <a:rPr lang="en-US" sz="394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ICD-10 + chief complaint identification bias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676248" y="6311896"/>
            <a:ext cx="12935503" cy="1090811"/>
            <a:chOff x="0" y="0"/>
            <a:chExt cx="17247338" cy="1454414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7247338" cy="1454414"/>
              <a:chOff x="0" y="0"/>
              <a:chExt cx="13057181" cy="1101071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3058451" cy="1101071"/>
              </a:xfrm>
              <a:custGeom>
                <a:avLst/>
                <a:gdLst/>
                <a:ahLst/>
                <a:cxnLst/>
                <a:rect r="r" b="b" t="t" l="l"/>
                <a:pathLst>
                  <a:path h="1101071" w="13058451">
                    <a:moveTo>
                      <a:pt x="12504731" y="1101071"/>
                    </a:moveTo>
                    <a:lnTo>
                      <a:pt x="553720" y="1101071"/>
                    </a:lnTo>
                    <a:cubicBezTo>
                      <a:pt x="247650" y="1101071"/>
                      <a:pt x="0" y="854562"/>
                      <a:pt x="0" y="551167"/>
                    </a:cubicBezTo>
                    <a:cubicBezTo>
                      <a:pt x="0" y="246508"/>
                      <a:pt x="247650" y="0"/>
                      <a:pt x="553720" y="0"/>
                    </a:cubicBezTo>
                    <a:lnTo>
                      <a:pt x="12504731" y="0"/>
                    </a:lnTo>
                    <a:cubicBezTo>
                      <a:pt x="12810801" y="0"/>
                      <a:pt x="13058451" y="246508"/>
                      <a:pt x="13058451" y="551167"/>
                    </a:cubicBezTo>
                    <a:cubicBezTo>
                      <a:pt x="13057181" y="854562"/>
                      <a:pt x="12809531" y="1101071"/>
                      <a:pt x="12504731" y="1101071"/>
                    </a:cubicBezTo>
                    <a:close/>
                  </a:path>
                </a:pathLst>
              </a:custGeom>
              <a:solidFill>
                <a:srgbClr val="1B4B9D"/>
              </a:solidFill>
            </p:spPr>
          </p:sp>
        </p:grpSp>
        <p:sp>
          <p:nvSpPr>
            <p:cNvPr name="TextBox 15" id="15"/>
            <p:cNvSpPr txBox="true"/>
            <p:nvPr/>
          </p:nvSpPr>
          <p:spPr>
            <a:xfrm rot="0">
              <a:off x="669333" y="245161"/>
              <a:ext cx="15908671" cy="8783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19"/>
                </a:lnSpc>
              </a:pPr>
              <a:r>
                <a:rPr lang="en-US" sz="394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Concurrent expansion of limb preservation service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676248" y="7964681"/>
            <a:ext cx="12935503" cy="1785423"/>
            <a:chOff x="0" y="0"/>
            <a:chExt cx="17247338" cy="2380564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17247338" cy="2380564"/>
              <a:chOff x="0" y="0"/>
              <a:chExt cx="13057181" cy="1802218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3058451" cy="1802218"/>
              </a:xfrm>
              <a:custGeom>
                <a:avLst/>
                <a:gdLst/>
                <a:ahLst/>
                <a:cxnLst/>
                <a:rect r="r" b="b" t="t" l="l"/>
                <a:pathLst>
                  <a:path h="1802218" w="13058451">
                    <a:moveTo>
                      <a:pt x="12504731" y="1802218"/>
                    </a:moveTo>
                    <a:lnTo>
                      <a:pt x="553720" y="1802218"/>
                    </a:lnTo>
                    <a:cubicBezTo>
                      <a:pt x="247650" y="1802218"/>
                      <a:pt x="0" y="1398835"/>
                      <a:pt x="0" y="902207"/>
                    </a:cubicBezTo>
                    <a:cubicBezTo>
                      <a:pt x="0" y="403510"/>
                      <a:pt x="247650" y="0"/>
                      <a:pt x="553720" y="0"/>
                    </a:cubicBezTo>
                    <a:lnTo>
                      <a:pt x="12504731" y="0"/>
                    </a:lnTo>
                    <a:cubicBezTo>
                      <a:pt x="12810801" y="0"/>
                      <a:pt x="13058451" y="403510"/>
                      <a:pt x="13058451" y="902207"/>
                    </a:cubicBezTo>
                    <a:cubicBezTo>
                      <a:pt x="13057181" y="1398835"/>
                      <a:pt x="12809531" y="1802218"/>
                      <a:pt x="12504731" y="1802218"/>
                    </a:cubicBezTo>
                    <a:close/>
                  </a:path>
                </a:pathLst>
              </a:custGeom>
              <a:solidFill>
                <a:srgbClr val="1B4B9D"/>
              </a:solidFill>
            </p:spPr>
          </p:sp>
        </p:grpSp>
        <p:sp>
          <p:nvSpPr>
            <p:cNvPr name="TextBox 19" id="19"/>
            <p:cNvSpPr txBox="true"/>
            <p:nvPr/>
          </p:nvSpPr>
          <p:spPr>
            <a:xfrm rot="0">
              <a:off x="1338667" y="238910"/>
              <a:ext cx="14343780" cy="18045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19"/>
                </a:lnSpc>
              </a:pPr>
              <a:r>
                <a:rPr lang="en-US" sz="3942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Lack of patient-centered outcomes (amputation, readmission, etc.)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6421143" cy="10287000"/>
          </a:xfrm>
          <a:prstGeom prst="rect">
            <a:avLst/>
          </a:prstGeom>
          <a:solidFill>
            <a:srgbClr val="1B4B9D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107990" y="4510087"/>
            <a:ext cx="6205163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840"/>
              </a:lnSpc>
              <a:spcBef>
                <a:spcPct val="0"/>
              </a:spcBef>
            </a:pPr>
            <a:r>
              <a:rPr lang="en-US" b="true" sz="8200">
                <a:solidFill>
                  <a:srgbClr val="F9FC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Conclusions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858756" y="1421917"/>
            <a:ext cx="11214964" cy="3721583"/>
            <a:chOff x="0" y="0"/>
            <a:chExt cx="14953286" cy="496211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4953286" cy="4962110"/>
              <a:chOff x="0" y="0"/>
              <a:chExt cx="11769669" cy="3905657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1770939" cy="3905657"/>
              </a:xfrm>
              <a:custGeom>
                <a:avLst/>
                <a:gdLst/>
                <a:ahLst/>
                <a:cxnLst/>
                <a:rect r="r" b="b" t="t" l="l"/>
                <a:pathLst>
                  <a:path h="3905657" w="11770939">
                    <a:moveTo>
                      <a:pt x="11217219" y="3905657"/>
                    </a:moveTo>
                    <a:lnTo>
                      <a:pt x="553720" y="3905657"/>
                    </a:lnTo>
                    <a:cubicBezTo>
                      <a:pt x="247650" y="3905657"/>
                      <a:pt x="0" y="3031655"/>
                      <a:pt x="0" y="1955328"/>
                    </a:cubicBezTo>
                    <a:cubicBezTo>
                      <a:pt x="0" y="874516"/>
                      <a:pt x="247650" y="0"/>
                      <a:pt x="553720" y="0"/>
                    </a:cubicBezTo>
                    <a:lnTo>
                      <a:pt x="11217219" y="0"/>
                    </a:lnTo>
                    <a:cubicBezTo>
                      <a:pt x="11523289" y="0"/>
                      <a:pt x="11770939" y="874516"/>
                      <a:pt x="11770939" y="1955328"/>
                    </a:cubicBezTo>
                    <a:cubicBezTo>
                      <a:pt x="11769669" y="3031655"/>
                      <a:pt x="11522019" y="3905657"/>
                      <a:pt x="11217219" y="3905657"/>
                    </a:cubicBezTo>
                    <a:close/>
                  </a:path>
                </a:pathLst>
              </a:custGeom>
              <a:solidFill>
                <a:srgbClr val="E82133"/>
              </a:solidFill>
            </p:spPr>
          </p:sp>
        </p:grpSp>
        <p:sp>
          <p:nvSpPr>
            <p:cNvPr name="TextBox 7" id="7"/>
            <p:cNvSpPr txBox="true"/>
            <p:nvPr/>
          </p:nvSpPr>
          <p:spPr>
            <a:xfrm rot="0">
              <a:off x="1160612" y="226520"/>
              <a:ext cx="12435928" cy="44113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308"/>
                </a:lnSpc>
              </a:pPr>
              <a:r>
                <a:rPr lang="en-US" sz="3791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The EHR-integrated pathway was associated with reduced hospital LOS and improved multidisciplinary coordination without increasing resource utilization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58756" y="5967756"/>
            <a:ext cx="11214964" cy="2385380"/>
            <a:chOff x="0" y="0"/>
            <a:chExt cx="14953286" cy="3180507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4953286" cy="3180507"/>
              <a:chOff x="0" y="0"/>
              <a:chExt cx="11769669" cy="2503364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1770939" cy="2503364"/>
              </a:xfrm>
              <a:custGeom>
                <a:avLst/>
                <a:gdLst/>
                <a:ahLst/>
                <a:cxnLst/>
                <a:rect r="r" b="b" t="t" l="l"/>
                <a:pathLst>
                  <a:path h="2503364" w="11770939">
                    <a:moveTo>
                      <a:pt x="11217219" y="2503364"/>
                    </a:moveTo>
                    <a:lnTo>
                      <a:pt x="553720" y="2503364"/>
                    </a:lnTo>
                    <a:cubicBezTo>
                      <a:pt x="247650" y="2503364"/>
                      <a:pt x="0" y="1943109"/>
                      <a:pt x="0" y="1253248"/>
                    </a:cubicBezTo>
                    <a:cubicBezTo>
                      <a:pt x="0" y="560512"/>
                      <a:pt x="247650" y="0"/>
                      <a:pt x="553720" y="0"/>
                    </a:cubicBezTo>
                    <a:lnTo>
                      <a:pt x="11217219" y="0"/>
                    </a:lnTo>
                    <a:cubicBezTo>
                      <a:pt x="11523289" y="0"/>
                      <a:pt x="11770939" y="560512"/>
                      <a:pt x="11770939" y="1253248"/>
                    </a:cubicBezTo>
                    <a:cubicBezTo>
                      <a:pt x="11769669" y="1943109"/>
                      <a:pt x="11522019" y="2503364"/>
                      <a:pt x="11217219" y="2503364"/>
                    </a:cubicBezTo>
                    <a:close/>
                  </a:path>
                </a:pathLst>
              </a:custGeom>
              <a:solidFill>
                <a:srgbClr val="E82133"/>
              </a:solidFill>
            </p:spPr>
          </p:sp>
        </p:grpSp>
        <p:sp>
          <p:nvSpPr>
            <p:cNvPr name="TextBox 11" id="11"/>
            <p:cNvSpPr txBox="true"/>
            <p:nvPr/>
          </p:nvSpPr>
          <p:spPr>
            <a:xfrm rot="0">
              <a:off x="1160612" y="226520"/>
              <a:ext cx="12435928" cy="26297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308"/>
                </a:lnSpc>
              </a:pPr>
              <a:r>
                <a:rPr lang="en-US" sz="3791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Embedded CDS tools for provider workflows can meaningfully improve complex care delivery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1028700"/>
            <a:ext cx="16230600" cy="8229600"/>
          </a:xfrm>
          <a:prstGeom prst="rect">
            <a:avLst/>
          </a:prstGeom>
          <a:solidFill>
            <a:srgbClr val="F1F1F1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2906841" y="4180103"/>
            <a:ext cx="12474317" cy="2795044"/>
            <a:chOff x="0" y="0"/>
            <a:chExt cx="16632423" cy="3726726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0" y="-9525"/>
              <a:ext cx="16632404" cy="1838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0800"/>
                </a:lnSpc>
                <a:spcBef>
                  <a:spcPct val="0"/>
                </a:spcBef>
              </a:pPr>
              <a:r>
                <a:rPr lang="en-US" b="true" sz="9000">
                  <a:solidFill>
                    <a:srgbClr val="1B4B9D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Thank you!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5" y="3126016"/>
              <a:ext cx="16632413" cy="600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79"/>
                </a:lnSpc>
              </a:pPr>
              <a:r>
                <a:rPr lang="en-US" sz="2700">
                  <a:solidFill>
                    <a:srgbClr val="1B4B9D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Q</a:t>
              </a:r>
              <a:r>
                <a:rPr lang="en-US" sz="2700">
                  <a:solidFill>
                    <a:srgbClr val="1B4B9D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uestions?</a:t>
              </a:r>
            </a:p>
          </p:txBody>
        </p:sp>
        <p:sp>
          <p:nvSpPr>
            <p:cNvPr name="AutoShape 6" id="6"/>
            <p:cNvSpPr/>
            <p:nvPr/>
          </p:nvSpPr>
          <p:spPr>
            <a:xfrm>
              <a:off x="10" y="2499633"/>
              <a:ext cx="16632404" cy="12700"/>
            </a:xfrm>
            <a:prstGeom prst="line">
              <a:avLst/>
            </a:prstGeom>
            <a:ln cap="flat" w="25400">
              <a:solidFill>
                <a:srgbClr val="124D96"/>
              </a:solidFill>
              <a:prstDash val="solid"/>
              <a:headEnd type="none" len="sm" w="sm"/>
              <a:tailEnd type="none" len="sm" w="sm"/>
            </a:ln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DAHGLoamECM</dc:identifier>
  <dcterms:modified xsi:type="dcterms:W3CDTF">2011-08-01T06:04:30Z</dcterms:modified>
  <cp:revision>1</cp:revision>
  <dc:title>Gilliard - 8722</dc:title>
</cp:coreProperties>
</file>