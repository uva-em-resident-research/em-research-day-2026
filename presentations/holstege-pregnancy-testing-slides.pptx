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96" r:id="rId4"/>
    <p:sldId id="297" r:id="rId5"/>
    <p:sldId id="287" r:id="rId6"/>
    <p:sldId id="289" r:id="rId7"/>
    <p:sldId id="298" r:id="rId8"/>
    <p:sldId id="290" r:id="rId9"/>
    <p:sldId id="291" r:id="rId10"/>
    <p:sldId id="292" r:id="rId11"/>
    <p:sldId id="3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71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915"/>
    <p:restoredTop sz="96327"/>
  </p:normalViewPr>
  <p:slideViewPr>
    <p:cSldViewPr snapToGrid="0">
      <p:cViewPr varScale="1">
        <p:scale>
          <a:sx n="86" d="100"/>
          <a:sy n="86" d="100"/>
        </p:scale>
        <p:origin x="23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garetholstege/Desktop/Desktop%20-%20Margaret&#8217;s%20MacBook%20Pro/ED_hCG%20Part%202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rgbClr val="232D4B"/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>
                <a:solidFill>
                  <a:srgbClr val="232D4B"/>
                </a:solidFill>
              </a:rPr>
              <a:t>Pre-Intervention </a:t>
            </a:r>
          </a:p>
          <a:p>
            <a:pPr>
              <a:defRPr sz="2000" b="1">
                <a:solidFill>
                  <a:srgbClr val="232D4B"/>
                </a:solidFill>
              </a:defRPr>
            </a:pPr>
            <a:r>
              <a:rPr lang="en-US" sz="2000" b="1" dirty="0">
                <a:solidFill>
                  <a:srgbClr val="232D4B"/>
                </a:solidFill>
              </a:rPr>
              <a:t>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rgbClr val="232D4B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FA-734F-85A0-C73117039E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FA-734F-85A0-C73117039E2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5FA-734F-85A0-C73117039E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5FA-734F-85A0-C73117039E2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rgbClr val="232D4B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3688508744676"/>
                      <c:h val="0.3323993509364093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5FA-734F-85A0-C73117039E2E}"/>
                </c:ext>
              </c:extLst>
            </c:dLbl>
            <c:dLbl>
              <c:idx val="1"/>
              <c:layout>
                <c:manualLayout>
                  <c:x val="-2.8084617227631503E-2"/>
                  <c:y val="0.2064079427076561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473277568790298"/>
                      <c:h val="0.3186938635406210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5FA-734F-85A0-C73117039E2E}"/>
                </c:ext>
              </c:extLst>
            </c:dLbl>
            <c:dLbl>
              <c:idx val="2"/>
              <c:layout>
                <c:manualLayout>
                  <c:x val="-0.16838966188565868"/>
                  <c:y val="5.614296041648244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42657918704536"/>
                      <c:h val="0.267900996999121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5FA-734F-85A0-C73117039E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POCT urine qualitative hCG</c:v>
                </c:pt>
                <c:pt idx="1">
                  <c:v>Serum quantitative hCG</c:v>
                </c:pt>
                <c:pt idx="2">
                  <c:v>Serum qualitative hCG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20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5FA-734F-85A0-C73117039E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rgbClr val="232D4B"/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>
                <a:solidFill>
                  <a:srgbClr val="232D4B"/>
                </a:solidFill>
              </a:rPr>
              <a:t>Post-Intervention</a:t>
            </a:r>
          </a:p>
          <a:p>
            <a:pPr>
              <a:defRPr sz="2000" b="1">
                <a:solidFill>
                  <a:srgbClr val="232D4B"/>
                </a:solidFill>
              </a:defRPr>
            </a:pPr>
            <a:r>
              <a:rPr lang="en-US" sz="2000" b="1" dirty="0">
                <a:solidFill>
                  <a:srgbClr val="232D4B"/>
                </a:solidFill>
              </a:rPr>
              <a:t> Distribution</a:t>
            </a:r>
          </a:p>
        </c:rich>
      </c:tx>
      <c:layout>
        <c:manualLayout>
          <c:xMode val="edge"/>
          <c:yMode val="edge"/>
          <c:x val="0.30942043902917588"/>
          <c:y val="1.3896441963753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rgbClr val="232D4B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1952323245644367"/>
          <c:y val="0.22540241422531032"/>
          <c:w val="0.54563483766792487"/>
          <c:h val="0.7057846232258668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86-604C-973D-EBD51F31D3B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86-604C-973D-EBD51F31D3B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86-604C-973D-EBD51F31D3B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186-604C-973D-EBD51F31D3B1}"/>
              </c:ext>
            </c:extLst>
          </c:dPt>
          <c:dLbls>
            <c:dLbl>
              <c:idx val="0"/>
              <c:layout>
                <c:manualLayout>
                  <c:x val="1.2663148711407324E-2"/>
                  <c:y val="-0.1321455504298486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rgbClr val="232D4B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454620944539304"/>
                      <c:h val="0.3054643553825200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186-604C-973D-EBD51F31D3B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298068773410573"/>
                      <c:h val="0.2031054156243336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186-604C-973D-EBD51F31D3B1}"/>
                </c:ext>
              </c:extLst>
            </c:dLbl>
            <c:dLbl>
              <c:idx val="2"/>
              <c:layout>
                <c:manualLayout>
                  <c:x val="2.0867246406365225E-2"/>
                  <c:y val="-0.21306526521632854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820061517429938"/>
                      <c:h val="0.267900996999121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186-604C-973D-EBD51F31D3B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POCT urine qualitative hCG</c:v>
                </c:pt>
                <c:pt idx="1">
                  <c:v>Serum quantitative hCG</c:v>
                </c:pt>
                <c:pt idx="2">
                  <c:v>Serum qualitative hCG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35.200000000000003</c:v>
                </c:pt>
                <c:pt idx="1">
                  <c:v>10.3</c:v>
                </c:pt>
                <c:pt idx="2">
                  <c:v>54.5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86-604C-973D-EBD51F31D3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Number of Each Type of hCG</a:t>
            </a:r>
            <a:r>
              <a:rPr lang="en-US" sz="2400" b="1" baseline="0" dirty="0"/>
              <a:t> Test</a:t>
            </a:r>
          </a:p>
          <a:p>
            <a:pPr>
              <a:defRPr sz="2400" b="1"/>
            </a:pPr>
            <a:r>
              <a:rPr lang="en-US" sz="2400" b="1" dirty="0"/>
              <a:t> Ordered</a:t>
            </a:r>
            <a:r>
              <a:rPr lang="en-US" sz="2400" b="1" baseline="0" dirty="0"/>
              <a:t> per Month</a:t>
            </a:r>
            <a:endParaRPr lang="en-US" sz="2400" b="1" dirty="0"/>
          </a:p>
        </c:rich>
      </c:tx>
      <c:layout>
        <c:manualLayout>
          <c:xMode val="edge"/>
          <c:yMode val="edge"/>
          <c:x val="0.23033483124928347"/>
          <c:y val="3.92609664071424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Monthly!$H$1</c:f>
              <c:strCache>
                <c:ptCount val="1"/>
                <c:pt idx="0">
                  <c:v>hcg_quant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Monthly!$G$2:$G$16</c:f>
              <c:numCache>
                <c:formatCode>m/d/yy</c:formatCode>
                <c:ptCount val="15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  <c:pt idx="6">
                  <c:v>45658</c:v>
                </c:pt>
                <c:pt idx="7">
                  <c:v>45689</c:v>
                </c:pt>
                <c:pt idx="8">
                  <c:v>45717</c:v>
                </c:pt>
                <c:pt idx="9">
                  <c:v>45748</c:v>
                </c:pt>
                <c:pt idx="10">
                  <c:v>45778</c:v>
                </c:pt>
                <c:pt idx="11">
                  <c:v>45809</c:v>
                </c:pt>
                <c:pt idx="12">
                  <c:v>45901</c:v>
                </c:pt>
                <c:pt idx="13">
                  <c:v>45931</c:v>
                </c:pt>
                <c:pt idx="14">
                  <c:v>45962</c:v>
                </c:pt>
              </c:numCache>
            </c:numRef>
          </c:cat>
          <c:val>
            <c:numRef>
              <c:f>Monthly!$H$2:$H$16</c:f>
              <c:numCache>
                <c:formatCode>General</c:formatCode>
                <c:ptCount val="15"/>
                <c:pt idx="0">
                  <c:v>114</c:v>
                </c:pt>
                <c:pt idx="1">
                  <c:v>114</c:v>
                </c:pt>
                <c:pt idx="2">
                  <c:v>105</c:v>
                </c:pt>
                <c:pt idx="3">
                  <c:v>100</c:v>
                </c:pt>
                <c:pt idx="4">
                  <c:v>129</c:v>
                </c:pt>
                <c:pt idx="5">
                  <c:v>128</c:v>
                </c:pt>
                <c:pt idx="6">
                  <c:v>128</c:v>
                </c:pt>
                <c:pt idx="7">
                  <c:v>119</c:v>
                </c:pt>
                <c:pt idx="8">
                  <c:v>138</c:v>
                </c:pt>
                <c:pt idx="9">
                  <c:v>175</c:v>
                </c:pt>
                <c:pt idx="10">
                  <c:v>127</c:v>
                </c:pt>
                <c:pt idx="11">
                  <c:v>139</c:v>
                </c:pt>
                <c:pt idx="12">
                  <c:v>75</c:v>
                </c:pt>
                <c:pt idx="13">
                  <c:v>85</c:v>
                </c:pt>
                <c:pt idx="14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1F-194E-8C5F-6C54351F4FA1}"/>
            </c:ext>
          </c:extLst>
        </c:ser>
        <c:ser>
          <c:idx val="1"/>
          <c:order val="1"/>
          <c:tx>
            <c:strRef>
              <c:f>Monthly!$I$1</c:f>
              <c:strCache>
                <c:ptCount val="1"/>
                <c:pt idx="0">
                  <c:v>hcg_qual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Monthly!$G$2:$G$16</c:f>
              <c:numCache>
                <c:formatCode>m/d/yy</c:formatCode>
                <c:ptCount val="15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  <c:pt idx="6">
                  <c:v>45658</c:v>
                </c:pt>
                <c:pt idx="7">
                  <c:v>45689</c:v>
                </c:pt>
                <c:pt idx="8">
                  <c:v>45717</c:v>
                </c:pt>
                <c:pt idx="9">
                  <c:v>45748</c:v>
                </c:pt>
                <c:pt idx="10">
                  <c:v>45778</c:v>
                </c:pt>
                <c:pt idx="11">
                  <c:v>45809</c:v>
                </c:pt>
                <c:pt idx="12">
                  <c:v>45901</c:v>
                </c:pt>
                <c:pt idx="13">
                  <c:v>45931</c:v>
                </c:pt>
                <c:pt idx="14">
                  <c:v>45962</c:v>
                </c:pt>
              </c:numCache>
            </c:numRef>
          </c:cat>
          <c:val>
            <c:numRef>
              <c:f>Monthly!$I$2:$I$16</c:f>
              <c:numCache>
                <c:formatCode>General</c:formatCode>
                <c:ptCount val="15"/>
                <c:pt idx="0">
                  <c:v>37</c:v>
                </c:pt>
                <c:pt idx="1">
                  <c:v>28</c:v>
                </c:pt>
                <c:pt idx="2">
                  <c:v>32</c:v>
                </c:pt>
                <c:pt idx="3">
                  <c:v>63</c:v>
                </c:pt>
                <c:pt idx="4">
                  <c:v>45</c:v>
                </c:pt>
                <c:pt idx="5">
                  <c:v>52</c:v>
                </c:pt>
                <c:pt idx="6">
                  <c:v>67</c:v>
                </c:pt>
                <c:pt idx="7">
                  <c:v>85</c:v>
                </c:pt>
                <c:pt idx="8">
                  <c:v>62</c:v>
                </c:pt>
                <c:pt idx="9">
                  <c:v>70</c:v>
                </c:pt>
                <c:pt idx="10">
                  <c:v>47</c:v>
                </c:pt>
                <c:pt idx="11">
                  <c:v>52</c:v>
                </c:pt>
                <c:pt idx="12">
                  <c:v>437</c:v>
                </c:pt>
                <c:pt idx="13">
                  <c:v>464</c:v>
                </c:pt>
                <c:pt idx="14">
                  <c:v>441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1F-194E-8C5F-6C54351F4FA1}"/>
            </c:ext>
          </c:extLst>
        </c:ser>
        <c:ser>
          <c:idx val="2"/>
          <c:order val="2"/>
          <c:tx>
            <c:strRef>
              <c:f>Monthly!$J$1</c:f>
              <c:strCache>
                <c:ptCount val="1"/>
                <c:pt idx="0">
                  <c:v>POCT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Monthly!$G$2:$G$16</c:f>
              <c:numCache>
                <c:formatCode>m/d/yy</c:formatCode>
                <c:ptCount val="15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  <c:pt idx="6">
                  <c:v>45658</c:v>
                </c:pt>
                <c:pt idx="7">
                  <c:v>45689</c:v>
                </c:pt>
                <c:pt idx="8">
                  <c:v>45717</c:v>
                </c:pt>
                <c:pt idx="9">
                  <c:v>45748</c:v>
                </c:pt>
                <c:pt idx="10">
                  <c:v>45778</c:v>
                </c:pt>
                <c:pt idx="11">
                  <c:v>45809</c:v>
                </c:pt>
                <c:pt idx="12">
                  <c:v>45901</c:v>
                </c:pt>
                <c:pt idx="13">
                  <c:v>45931</c:v>
                </c:pt>
                <c:pt idx="14">
                  <c:v>45962</c:v>
                </c:pt>
              </c:numCache>
            </c:numRef>
          </c:cat>
          <c:val>
            <c:numRef>
              <c:f>Monthly!$J$2:$J$16</c:f>
              <c:numCache>
                <c:formatCode>General</c:formatCode>
                <c:ptCount val="15"/>
                <c:pt idx="0">
                  <c:v>667</c:v>
                </c:pt>
                <c:pt idx="1">
                  <c:v>641</c:v>
                </c:pt>
                <c:pt idx="2">
                  <c:v>726</c:v>
                </c:pt>
                <c:pt idx="3">
                  <c:v>635</c:v>
                </c:pt>
                <c:pt idx="4">
                  <c:v>580</c:v>
                </c:pt>
                <c:pt idx="5">
                  <c:v>601</c:v>
                </c:pt>
                <c:pt idx="6">
                  <c:v>604</c:v>
                </c:pt>
                <c:pt idx="7">
                  <c:v>637</c:v>
                </c:pt>
                <c:pt idx="8">
                  <c:v>670</c:v>
                </c:pt>
                <c:pt idx="9">
                  <c:v>658</c:v>
                </c:pt>
                <c:pt idx="10">
                  <c:v>641</c:v>
                </c:pt>
                <c:pt idx="11">
                  <c:v>556</c:v>
                </c:pt>
                <c:pt idx="12">
                  <c:v>457</c:v>
                </c:pt>
                <c:pt idx="13">
                  <c:v>394</c:v>
                </c:pt>
                <c:pt idx="14">
                  <c:v>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1F-194E-8C5F-6C54351F4F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0087279"/>
        <c:axId val="1127530015"/>
      </c:lineChart>
      <c:dateAx>
        <c:axId val="740087279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7530015"/>
        <c:crosses val="autoZero"/>
        <c:auto val="1"/>
        <c:lblOffset val="100"/>
        <c:baseTimeUnit val="months"/>
      </c:dateAx>
      <c:valAx>
        <c:axId val="112753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087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Order</a:t>
            </a:r>
            <a:r>
              <a:rPr lang="en-US" sz="2400" b="1" baseline="0" dirty="0"/>
              <a:t>-to-Result Time (Minutes)</a:t>
            </a:r>
            <a:endParaRPr lang="en-US" sz="2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Post-Intervention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Serum qualitative hCG</c:v>
                </c:pt>
                <c:pt idx="1">
                  <c:v>POCT urine hCG</c:v>
                </c:pt>
                <c:pt idx="2">
                  <c:v>Serum quantitative hCG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79</c:v>
                </c:pt>
                <c:pt idx="1">
                  <c:v>78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45-0C4B-BC28-14DDCD9C8D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Pre-Intervention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Serum qualitative hCG</c:v>
                </c:pt>
                <c:pt idx="1">
                  <c:v>POCT urine hCG</c:v>
                </c:pt>
                <c:pt idx="2">
                  <c:v>Serum quantitative hCG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76</c:v>
                </c:pt>
                <c:pt idx="1">
                  <c:v>92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45-0C4B-BC28-14DDCD9C8D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27575600"/>
        <c:axId val="1341279744"/>
      </c:barChart>
      <c:catAx>
        <c:axId val="17275756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1279744"/>
        <c:crosses val="autoZero"/>
        <c:auto val="1"/>
        <c:lblAlgn val="ctr"/>
        <c:lblOffset val="100"/>
        <c:noMultiLvlLbl val="0"/>
      </c:catAx>
      <c:valAx>
        <c:axId val="1341279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575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baseline="0" dirty="0"/>
              <a:t>Potentially Avoidable Serum Quantitative hCG </a:t>
            </a:r>
            <a:endParaRPr lang="en-US" sz="2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Potentially Avoidable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Pre-Intervention</c:v>
                </c:pt>
                <c:pt idx="1">
                  <c:v>Post-Intervention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0.42299999999999999</c:v>
                </c:pt>
                <c:pt idx="1">
                  <c:v>0.28599999999999998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3E-C44A-8252-E8DB6253DF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Appropriate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Pre-Intervention</c:v>
                </c:pt>
                <c:pt idx="1">
                  <c:v>Post-Intervention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0">
                  <c:v>0.57699999999999996</c:v>
                </c:pt>
                <c:pt idx="1">
                  <c:v>0.71399999999999997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3E-C44A-8252-E8DB6253DF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1347535"/>
        <c:axId val="1770260608"/>
      </c:barChart>
      <c:catAx>
        <c:axId val="161347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0260608"/>
        <c:crosses val="autoZero"/>
        <c:auto val="1"/>
        <c:lblAlgn val="ctr"/>
        <c:lblOffset val="100"/>
        <c:noMultiLvlLbl val="0"/>
      </c:catAx>
      <c:valAx>
        <c:axId val="177026060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3475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Weighted</a:t>
            </a:r>
            <a:r>
              <a:rPr lang="en-US" sz="2400" b="1" baseline="0" dirty="0"/>
              <a:t> Average Cost per Patient</a:t>
            </a:r>
          </a:p>
          <a:p>
            <a:pPr>
              <a:defRPr sz="2000" b="1"/>
            </a:pPr>
            <a:r>
              <a:rPr lang="en-US" sz="2400" b="1" baseline="0" dirty="0"/>
              <a:t>(Pre- vs Post- Intervention)</a:t>
            </a:r>
            <a:endParaRPr lang="en-US" sz="2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Pre-Intervention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Average Cost per Patient ($)</c:v>
                </c:pt>
              </c:strCache>
            </c:strRef>
          </c:cat>
          <c:val>
            <c:numRef>
              <c:f>Sheet1!$B$2</c:f>
              <c:numCache>
                <c:formatCode>_("$"* #,##0.00_);_("$"* \(#,##0.00\);_("$"* "-"??_);_(@_)</c:formatCode>
                <c:ptCount val="1"/>
                <c:pt idx="0">
                  <c:v>211.64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CE-1146-9489-86DD046D6D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Post-Intervention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Average Cost per Patient ($)</c:v>
                </c:pt>
              </c:strCache>
            </c:strRef>
          </c:cat>
          <c:val>
            <c:numRef>
              <c:f>Sheet1!$C$2</c:f>
              <c:numCache>
                <c:formatCode>_("$"* #,##0.00_);_("$"* \(#,##0.00\);_("$"* "-"??_);_(@_)</c:formatCode>
                <c:ptCount val="1"/>
                <c:pt idx="0">
                  <c:v>147.93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CE-1146-9489-86DD046D6D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9734303"/>
        <c:axId val="329736015"/>
      </c:barChart>
      <c:catAx>
        <c:axId val="3297343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29736015"/>
        <c:crosses val="autoZero"/>
        <c:auto val="1"/>
        <c:lblAlgn val="ctr"/>
        <c:lblOffset val="100"/>
        <c:noMultiLvlLbl val="0"/>
      </c:catAx>
      <c:valAx>
        <c:axId val="329736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_);_(@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734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4CE0D-D4E7-412C-A51C-2C32F9C3ECC6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A22340F-97A3-4FFE-8728-E51BE444A4A2}">
      <dgm:prSet custT="1"/>
      <dgm:spPr/>
      <dgm:t>
        <a:bodyPr/>
        <a:lstStyle/>
        <a:p>
          <a:r>
            <a:rPr lang="en-US" sz="2800" b="1" baseline="0" dirty="0">
              <a:solidFill>
                <a:schemeClr val="accent2"/>
              </a:solidFill>
            </a:rPr>
            <a:t>Frequently Ordered Serum Quantitative hCG </a:t>
          </a:r>
          <a:r>
            <a:rPr lang="en-US" sz="1800" baseline="0" dirty="0">
              <a:solidFill>
                <a:schemeClr val="accent2"/>
              </a:solidFill>
            </a:rPr>
            <a:t>without clear indications for ectopic pregnancy or miscarriage</a:t>
          </a:r>
          <a:endParaRPr lang="en-US" sz="1800" dirty="0">
            <a:solidFill>
              <a:schemeClr val="accent2"/>
            </a:solidFill>
          </a:endParaRPr>
        </a:p>
      </dgm:t>
    </dgm:pt>
    <dgm:pt modelId="{DB4A9DD6-46E1-450D-8BF4-9C7FC4925232}" type="parTrans" cxnId="{E780C50E-E32D-4996-8F32-C9442F0D880E}">
      <dgm:prSet/>
      <dgm:spPr/>
      <dgm:t>
        <a:bodyPr/>
        <a:lstStyle/>
        <a:p>
          <a:endParaRPr lang="en-US"/>
        </a:p>
      </dgm:t>
    </dgm:pt>
    <dgm:pt modelId="{A4677191-D5BF-4A6B-9D10-2494DBBCB716}" type="sibTrans" cxnId="{E780C50E-E32D-4996-8F32-C9442F0D880E}">
      <dgm:prSet/>
      <dgm:spPr/>
      <dgm:t>
        <a:bodyPr/>
        <a:lstStyle/>
        <a:p>
          <a:endParaRPr lang="en-US"/>
        </a:p>
      </dgm:t>
    </dgm:pt>
    <dgm:pt modelId="{D781C127-51E1-46F0-BE19-7997D079CA27}">
      <dgm:prSet custT="1"/>
      <dgm:spPr/>
      <dgm:t>
        <a:bodyPr/>
        <a:lstStyle/>
        <a:p>
          <a:r>
            <a:rPr lang="en-US" sz="2800" b="1" baseline="0" dirty="0">
              <a:solidFill>
                <a:schemeClr val="accent2"/>
              </a:solidFill>
            </a:rPr>
            <a:t>Delayed POCT urine hCG </a:t>
          </a:r>
          <a:r>
            <a:rPr lang="en-US" sz="1800" b="0" baseline="0" dirty="0">
              <a:solidFill>
                <a:schemeClr val="accent2"/>
              </a:solidFill>
            </a:rPr>
            <a:t>with</a:t>
          </a:r>
          <a:r>
            <a:rPr lang="en-US" sz="1800" baseline="0" dirty="0">
              <a:solidFill>
                <a:schemeClr val="accent2"/>
              </a:solidFill>
            </a:rPr>
            <a:t> long average order-to-result time likely due to urine collection delays</a:t>
          </a:r>
          <a:endParaRPr lang="en-US" sz="1800" dirty="0">
            <a:solidFill>
              <a:schemeClr val="accent2"/>
            </a:solidFill>
          </a:endParaRPr>
        </a:p>
      </dgm:t>
    </dgm:pt>
    <dgm:pt modelId="{5C288EE5-18DD-4B16-A669-47709BD91081}" type="parTrans" cxnId="{02108A54-5DBB-4C44-B019-184839C4CE73}">
      <dgm:prSet/>
      <dgm:spPr/>
      <dgm:t>
        <a:bodyPr/>
        <a:lstStyle/>
        <a:p>
          <a:endParaRPr lang="en-US"/>
        </a:p>
      </dgm:t>
    </dgm:pt>
    <dgm:pt modelId="{A0F65B26-55CB-4A81-A5A0-0B09771242B6}" type="sibTrans" cxnId="{02108A54-5DBB-4C44-B019-184839C4CE73}">
      <dgm:prSet/>
      <dgm:spPr/>
      <dgm:t>
        <a:bodyPr/>
        <a:lstStyle/>
        <a:p>
          <a:endParaRPr lang="en-US"/>
        </a:p>
      </dgm:t>
    </dgm:pt>
    <dgm:pt modelId="{F81362D2-D569-4B18-9EE6-411B54EF813C}">
      <dgm:prSet custT="1"/>
      <dgm:spPr/>
      <dgm:t>
        <a:bodyPr/>
        <a:lstStyle/>
        <a:p>
          <a:r>
            <a:rPr lang="en-US" sz="2800" b="1" baseline="0" dirty="0">
              <a:solidFill>
                <a:schemeClr val="accent2"/>
              </a:solidFill>
            </a:rPr>
            <a:t>Underutilized Serum Qualitative hCG </a:t>
          </a:r>
          <a:r>
            <a:rPr lang="en-US" sz="1800" b="0" baseline="0" dirty="0">
              <a:solidFill>
                <a:schemeClr val="accent2"/>
              </a:solidFill>
            </a:rPr>
            <a:t>although it is the </a:t>
          </a:r>
          <a:r>
            <a:rPr lang="en-US" sz="1800" baseline="0" dirty="0">
              <a:solidFill>
                <a:schemeClr val="accent2"/>
              </a:solidFill>
            </a:rPr>
            <a:t>least expensive test and has the shortest average order-to-result time</a:t>
          </a:r>
          <a:endParaRPr lang="en-US" sz="1800" dirty="0">
            <a:solidFill>
              <a:schemeClr val="accent2"/>
            </a:solidFill>
          </a:endParaRPr>
        </a:p>
      </dgm:t>
    </dgm:pt>
    <dgm:pt modelId="{B535CBFA-6AC8-4FEA-AE25-FDFA6ACC47F6}" type="parTrans" cxnId="{A20C2667-D522-4051-8FDA-38E38E88CDDA}">
      <dgm:prSet/>
      <dgm:spPr/>
      <dgm:t>
        <a:bodyPr/>
        <a:lstStyle/>
        <a:p>
          <a:endParaRPr lang="en-US"/>
        </a:p>
      </dgm:t>
    </dgm:pt>
    <dgm:pt modelId="{A3BC7551-77C8-4E54-B7E9-3C1729FC771C}" type="sibTrans" cxnId="{A20C2667-D522-4051-8FDA-38E38E88CDDA}">
      <dgm:prSet/>
      <dgm:spPr/>
      <dgm:t>
        <a:bodyPr/>
        <a:lstStyle/>
        <a:p>
          <a:endParaRPr lang="en-US"/>
        </a:p>
      </dgm:t>
    </dgm:pt>
    <dgm:pt modelId="{FD3CA4F5-1FC8-454E-92DE-BB951396BF1F}" type="pres">
      <dgm:prSet presAssocID="{1B24CE0D-D4E7-412C-A51C-2C32F9C3ECC6}" presName="vert0" presStyleCnt="0">
        <dgm:presLayoutVars>
          <dgm:dir/>
          <dgm:animOne val="branch"/>
          <dgm:animLvl val="lvl"/>
        </dgm:presLayoutVars>
      </dgm:prSet>
      <dgm:spPr/>
    </dgm:pt>
    <dgm:pt modelId="{9F6D6E61-4550-5B42-94FD-5BD7401EF7E2}" type="pres">
      <dgm:prSet presAssocID="{2A22340F-97A3-4FFE-8728-E51BE444A4A2}" presName="thickLine" presStyleLbl="alignNode1" presStyleIdx="0" presStyleCnt="3"/>
      <dgm:spPr/>
    </dgm:pt>
    <dgm:pt modelId="{F2D3218D-F373-8E47-B2AF-F98BF87AFF96}" type="pres">
      <dgm:prSet presAssocID="{2A22340F-97A3-4FFE-8728-E51BE444A4A2}" presName="horz1" presStyleCnt="0"/>
      <dgm:spPr/>
    </dgm:pt>
    <dgm:pt modelId="{A88F385C-6A43-1545-8DEA-3457EC972DFF}" type="pres">
      <dgm:prSet presAssocID="{2A22340F-97A3-4FFE-8728-E51BE444A4A2}" presName="tx1" presStyleLbl="revTx" presStyleIdx="0" presStyleCnt="3"/>
      <dgm:spPr/>
    </dgm:pt>
    <dgm:pt modelId="{92AE2893-4167-A04E-AFB9-A8F27DC81FB3}" type="pres">
      <dgm:prSet presAssocID="{2A22340F-97A3-4FFE-8728-E51BE444A4A2}" presName="vert1" presStyleCnt="0"/>
      <dgm:spPr/>
    </dgm:pt>
    <dgm:pt modelId="{E0BD20E1-2DF5-0643-942D-0BA8CF8E268A}" type="pres">
      <dgm:prSet presAssocID="{D781C127-51E1-46F0-BE19-7997D079CA27}" presName="thickLine" presStyleLbl="alignNode1" presStyleIdx="1" presStyleCnt="3"/>
      <dgm:spPr/>
    </dgm:pt>
    <dgm:pt modelId="{ED7C7072-4456-CB42-B675-C5660C4D1549}" type="pres">
      <dgm:prSet presAssocID="{D781C127-51E1-46F0-BE19-7997D079CA27}" presName="horz1" presStyleCnt="0"/>
      <dgm:spPr/>
    </dgm:pt>
    <dgm:pt modelId="{7B7A4E5F-3C0E-F149-8338-D2172127DFA3}" type="pres">
      <dgm:prSet presAssocID="{D781C127-51E1-46F0-BE19-7997D079CA27}" presName="tx1" presStyleLbl="revTx" presStyleIdx="1" presStyleCnt="3"/>
      <dgm:spPr/>
    </dgm:pt>
    <dgm:pt modelId="{8F1CEBDF-6C68-954A-A628-EEF0309FE83C}" type="pres">
      <dgm:prSet presAssocID="{D781C127-51E1-46F0-BE19-7997D079CA27}" presName="vert1" presStyleCnt="0"/>
      <dgm:spPr/>
    </dgm:pt>
    <dgm:pt modelId="{BD9D64DF-57AB-334F-8161-E749DE662806}" type="pres">
      <dgm:prSet presAssocID="{F81362D2-D569-4B18-9EE6-411B54EF813C}" presName="thickLine" presStyleLbl="alignNode1" presStyleIdx="2" presStyleCnt="3"/>
      <dgm:spPr/>
    </dgm:pt>
    <dgm:pt modelId="{39D8214B-BBC9-7241-886D-E0B6F9E83AC0}" type="pres">
      <dgm:prSet presAssocID="{F81362D2-D569-4B18-9EE6-411B54EF813C}" presName="horz1" presStyleCnt="0"/>
      <dgm:spPr/>
    </dgm:pt>
    <dgm:pt modelId="{1B044544-0414-6B4B-896F-9CA3B03AFB56}" type="pres">
      <dgm:prSet presAssocID="{F81362D2-D569-4B18-9EE6-411B54EF813C}" presName="tx1" presStyleLbl="revTx" presStyleIdx="2" presStyleCnt="3"/>
      <dgm:spPr/>
    </dgm:pt>
    <dgm:pt modelId="{C694F2CA-9B10-214D-AC25-B78FCEF7628A}" type="pres">
      <dgm:prSet presAssocID="{F81362D2-D569-4B18-9EE6-411B54EF813C}" presName="vert1" presStyleCnt="0"/>
      <dgm:spPr/>
    </dgm:pt>
  </dgm:ptLst>
  <dgm:cxnLst>
    <dgm:cxn modelId="{E780C50E-E32D-4996-8F32-C9442F0D880E}" srcId="{1B24CE0D-D4E7-412C-A51C-2C32F9C3ECC6}" destId="{2A22340F-97A3-4FFE-8728-E51BE444A4A2}" srcOrd="0" destOrd="0" parTransId="{DB4A9DD6-46E1-450D-8BF4-9C7FC4925232}" sibTransId="{A4677191-D5BF-4A6B-9D10-2494DBBCB716}"/>
    <dgm:cxn modelId="{03D14717-D042-DD49-A6A3-143AD48CAB08}" type="presOf" srcId="{F81362D2-D569-4B18-9EE6-411B54EF813C}" destId="{1B044544-0414-6B4B-896F-9CA3B03AFB56}" srcOrd="0" destOrd="0" presId="urn:microsoft.com/office/officeart/2008/layout/LinedList"/>
    <dgm:cxn modelId="{313BCF1F-077D-E440-B17A-B555A2D00DBE}" type="presOf" srcId="{D781C127-51E1-46F0-BE19-7997D079CA27}" destId="{7B7A4E5F-3C0E-F149-8338-D2172127DFA3}" srcOrd="0" destOrd="0" presId="urn:microsoft.com/office/officeart/2008/layout/LinedList"/>
    <dgm:cxn modelId="{02108A54-5DBB-4C44-B019-184839C4CE73}" srcId="{1B24CE0D-D4E7-412C-A51C-2C32F9C3ECC6}" destId="{D781C127-51E1-46F0-BE19-7997D079CA27}" srcOrd="1" destOrd="0" parTransId="{5C288EE5-18DD-4B16-A669-47709BD91081}" sibTransId="{A0F65B26-55CB-4A81-A5A0-0B09771242B6}"/>
    <dgm:cxn modelId="{A20C2667-D522-4051-8FDA-38E38E88CDDA}" srcId="{1B24CE0D-D4E7-412C-A51C-2C32F9C3ECC6}" destId="{F81362D2-D569-4B18-9EE6-411B54EF813C}" srcOrd="2" destOrd="0" parTransId="{B535CBFA-6AC8-4FEA-AE25-FDFA6ACC47F6}" sibTransId="{A3BC7551-77C8-4E54-B7E9-3C1729FC771C}"/>
    <dgm:cxn modelId="{7F1EA7DC-65CF-7244-B1E8-8263ADB9B88B}" type="presOf" srcId="{2A22340F-97A3-4FFE-8728-E51BE444A4A2}" destId="{A88F385C-6A43-1545-8DEA-3457EC972DFF}" srcOrd="0" destOrd="0" presId="urn:microsoft.com/office/officeart/2008/layout/LinedList"/>
    <dgm:cxn modelId="{2022B4FD-6636-D54B-B8CF-E8CFF35150F8}" type="presOf" srcId="{1B24CE0D-D4E7-412C-A51C-2C32F9C3ECC6}" destId="{FD3CA4F5-1FC8-454E-92DE-BB951396BF1F}" srcOrd="0" destOrd="0" presId="urn:microsoft.com/office/officeart/2008/layout/LinedList"/>
    <dgm:cxn modelId="{8FEE2DB2-593A-D24B-B382-E6B9B82F7626}" type="presParOf" srcId="{FD3CA4F5-1FC8-454E-92DE-BB951396BF1F}" destId="{9F6D6E61-4550-5B42-94FD-5BD7401EF7E2}" srcOrd="0" destOrd="0" presId="urn:microsoft.com/office/officeart/2008/layout/LinedList"/>
    <dgm:cxn modelId="{9D5207E6-0F99-B349-8C1A-3949440C6AF1}" type="presParOf" srcId="{FD3CA4F5-1FC8-454E-92DE-BB951396BF1F}" destId="{F2D3218D-F373-8E47-B2AF-F98BF87AFF96}" srcOrd="1" destOrd="0" presId="urn:microsoft.com/office/officeart/2008/layout/LinedList"/>
    <dgm:cxn modelId="{3885B340-2502-6F4E-82E2-CAB6AEB36A06}" type="presParOf" srcId="{F2D3218D-F373-8E47-B2AF-F98BF87AFF96}" destId="{A88F385C-6A43-1545-8DEA-3457EC972DFF}" srcOrd="0" destOrd="0" presId="urn:microsoft.com/office/officeart/2008/layout/LinedList"/>
    <dgm:cxn modelId="{769BF063-B596-0347-AD28-D6A268781542}" type="presParOf" srcId="{F2D3218D-F373-8E47-B2AF-F98BF87AFF96}" destId="{92AE2893-4167-A04E-AFB9-A8F27DC81FB3}" srcOrd="1" destOrd="0" presId="urn:microsoft.com/office/officeart/2008/layout/LinedList"/>
    <dgm:cxn modelId="{7C044B8B-BC5A-A440-A17F-A229336584B4}" type="presParOf" srcId="{FD3CA4F5-1FC8-454E-92DE-BB951396BF1F}" destId="{E0BD20E1-2DF5-0643-942D-0BA8CF8E268A}" srcOrd="2" destOrd="0" presId="urn:microsoft.com/office/officeart/2008/layout/LinedList"/>
    <dgm:cxn modelId="{EEEA3A38-0767-6641-ACBA-9A1EDD565AF9}" type="presParOf" srcId="{FD3CA4F5-1FC8-454E-92DE-BB951396BF1F}" destId="{ED7C7072-4456-CB42-B675-C5660C4D1549}" srcOrd="3" destOrd="0" presId="urn:microsoft.com/office/officeart/2008/layout/LinedList"/>
    <dgm:cxn modelId="{3197F9FF-B771-9C43-B3A9-23392B66D03C}" type="presParOf" srcId="{ED7C7072-4456-CB42-B675-C5660C4D1549}" destId="{7B7A4E5F-3C0E-F149-8338-D2172127DFA3}" srcOrd="0" destOrd="0" presId="urn:microsoft.com/office/officeart/2008/layout/LinedList"/>
    <dgm:cxn modelId="{13A18006-DD4A-A34F-B9CA-3539D2105E4A}" type="presParOf" srcId="{ED7C7072-4456-CB42-B675-C5660C4D1549}" destId="{8F1CEBDF-6C68-954A-A628-EEF0309FE83C}" srcOrd="1" destOrd="0" presId="urn:microsoft.com/office/officeart/2008/layout/LinedList"/>
    <dgm:cxn modelId="{91B01575-3F3B-4D41-94BA-5D2E2CFD2B57}" type="presParOf" srcId="{FD3CA4F5-1FC8-454E-92DE-BB951396BF1F}" destId="{BD9D64DF-57AB-334F-8161-E749DE662806}" srcOrd="4" destOrd="0" presId="urn:microsoft.com/office/officeart/2008/layout/LinedList"/>
    <dgm:cxn modelId="{EEABE9F4-CFCD-D941-B1B3-E1C75E475178}" type="presParOf" srcId="{FD3CA4F5-1FC8-454E-92DE-BB951396BF1F}" destId="{39D8214B-BBC9-7241-886D-E0B6F9E83AC0}" srcOrd="5" destOrd="0" presId="urn:microsoft.com/office/officeart/2008/layout/LinedList"/>
    <dgm:cxn modelId="{FAA4E60B-BE9D-D247-BB28-147DBFFDEAFD}" type="presParOf" srcId="{39D8214B-BBC9-7241-886D-E0B6F9E83AC0}" destId="{1B044544-0414-6B4B-896F-9CA3B03AFB56}" srcOrd="0" destOrd="0" presId="urn:microsoft.com/office/officeart/2008/layout/LinedList"/>
    <dgm:cxn modelId="{B071E90F-0DE1-144D-A5D1-7089ED37EAD8}" type="presParOf" srcId="{39D8214B-BBC9-7241-886D-E0B6F9E83AC0}" destId="{C694F2CA-9B10-214D-AC25-B78FCEF7628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EA8364-671F-4988-897D-5BEED3C02F22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009816E-2723-47A6-82F3-DCF6F3644B69}">
      <dgm:prSet/>
      <dgm:spPr/>
      <dgm:t>
        <a:bodyPr/>
        <a:lstStyle/>
        <a:p>
          <a:r>
            <a:rPr lang="en-US" baseline="0" dirty="0">
              <a:solidFill>
                <a:schemeClr val="accent2"/>
              </a:solidFill>
            </a:rPr>
            <a:t>Departmental staff education</a:t>
          </a:r>
          <a:endParaRPr lang="en-US" dirty="0">
            <a:solidFill>
              <a:schemeClr val="accent2"/>
            </a:solidFill>
          </a:endParaRPr>
        </a:p>
      </dgm:t>
    </dgm:pt>
    <dgm:pt modelId="{8B7CECAC-D0DB-4666-9359-55176861A786}" type="parTrans" cxnId="{C5CDC330-4B97-4E0B-9E56-F1812DBE2DC5}">
      <dgm:prSet/>
      <dgm:spPr/>
      <dgm:t>
        <a:bodyPr/>
        <a:lstStyle/>
        <a:p>
          <a:endParaRPr lang="en-US"/>
        </a:p>
      </dgm:t>
    </dgm:pt>
    <dgm:pt modelId="{849769A8-EC35-416D-8BA8-9EA299A32A8C}" type="sibTrans" cxnId="{C5CDC330-4B97-4E0B-9E56-F1812DBE2DC5}">
      <dgm:prSet/>
      <dgm:spPr/>
      <dgm:t>
        <a:bodyPr/>
        <a:lstStyle/>
        <a:p>
          <a:endParaRPr lang="en-US"/>
        </a:p>
      </dgm:t>
    </dgm:pt>
    <dgm:pt modelId="{6A9A8C86-C6CF-422D-88E7-E932CB0DD770}">
      <dgm:prSet/>
      <dgm:spPr/>
      <dgm:t>
        <a:bodyPr/>
        <a:lstStyle/>
        <a:p>
          <a:r>
            <a:rPr lang="en-US" baseline="0" dirty="0">
              <a:solidFill>
                <a:schemeClr val="accent2"/>
              </a:solidFill>
            </a:rPr>
            <a:t>Modifications to EHR order sets promoting serum qualitative hCG</a:t>
          </a:r>
          <a:endParaRPr lang="en-US" dirty="0">
            <a:solidFill>
              <a:schemeClr val="accent2"/>
            </a:solidFill>
          </a:endParaRPr>
        </a:p>
      </dgm:t>
    </dgm:pt>
    <dgm:pt modelId="{A21D5D25-9BCC-457D-AE60-6E9BBAF9F145}" type="parTrans" cxnId="{9CB5A49F-8CE6-4F6E-BACE-2921567A4152}">
      <dgm:prSet/>
      <dgm:spPr/>
      <dgm:t>
        <a:bodyPr/>
        <a:lstStyle/>
        <a:p>
          <a:endParaRPr lang="en-US"/>
        </a:p>
      </dgm:t>
    </dgm:pt>
    <dgm:pt modelId="{BAD27032-0416-4F19-A2B1-BCCA5AEC5BB6}" type="sibTrans" cxnId="{9CB5A49F-8CE6-4F6E-BACE-2921567A4152}">
      <dgm:prSet/>
      <dgm:spPr/>
      <dgm:t>
        <a:bodyPr/>
        <a:lstStyle/>
        <a:p>
          <a:endParaRPr lang="en-US"/>
        </a:p>
      </dgm:t>
    </dgm:pt>
    <dgm:pt modelId="{BDE8C91E-CB68-E345-ADB2-529C1940E3A8}" type="pres">
      <dgm:prSet presAssocID="{89EA8364-671F-4988-897D-5BEED3C02F2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ABD7DA8-1007-DC43-AB0D-4DBA33098044}" type="pres">
      <dgm:prSet presAssocID="{5009816E-2723-47A6-82F3-DCF6F3644B69}" presName="hierRoot1" presStyleCnt="0"/>
      <dgm:spPr/>
    </dgm:pt>
    <dgm:pt modelId="{6E9FC2C1-EDBB-CF43-84E4-B4E6A7BE2208}" type="pres">
      <dgm:prSet presAssocID="{5009816E-2723-47A6-82F3-DCF6F3644B69}" presName="composite" presStyleCnt="0"/>
      <dgm:spPr/>
    </dgm:pt>
    <dgm:pt modelId="{7C016EFC-83C6-594C-AA38-98B2D0E28176}" type="pres">
      <dgm:prSet presAssocID="{5009816E-2723-47A6-82F3-DCF6F3644B69}" presName="background" presStyleLbl="node0" presStyleIdx="0" presStyleCnt="2"/>
      <dgm:spPr/>
    </dgm:pt>
    <dgm:pt modelId="{C7E43B46-F941-594B-AD53-C26EB429104B}" type="pres">
      <dgm:prSet presAssocID="{5009816E-2723-47A6-82F3-DCF6F3644B69}" presName="text" presStyleLbl="fgAcc0" presStyleIdx="0" presStyleCnt="2">
        <dgm:presLayoutVars>
          <dgm:chPref val="3"/>
        </dgm:presLayoutVars>
      </dgm:prSet>
      <dgm:spPr/>
    </dgm:pt>
    <dgm:pt modelId="{2522EBD7-69C3-4D44-9481-52188AA6E595}" type="pres">
      <dgm:prSet presAssocID="{5009816E-2723-47A6-82F3-DCF6F3644B69}" presName="hierChild2" presStyleCnt="0"/>
      <dgm:spPr/>
    </dgm:pt>
    <dgm:pt modelId="{F31D960E-CAE4-3641-BCDB-BF0524DCB7AD}" type="pres">
      <dgm:prSet presAssocID="{6A9A8C86-C6CF-422D-88E7-E932CB0DD770}" presName="hierRoot1" presStyleCnt="0"/>
      <dgm:spPr/>
    </dgm:pt>
    <dgm:pt modelId="{6AE4D9D2-7253-2146-90C9-E1783E6B68FA}" type="pres">
      <dgm:prSet presAssocID="{6A9A8C86-C6CF-422D-88E7-E932CB0DD770}" presName="composite" presStyleCnt="0"/>
      <dgm:spPr/>
    </dgm:pt>
    <dgm:pt modelId="{54E5CC98-DB4F-BA4F-A5B2-14E4CEA1B1AE}" type="pres">
      <dgm:prSet presAssocID="{6A9A8C86-C6CF-422D-88E7-E932CB0DD770}" presName="background" presStyleLbl="node0" presStyleIdx="1" presStyleCnt="2"/>
      <dgm:spPr/>
    </dgm:pt>
    <dgm:pt modelId="{4E04ADFB-1E4B-324C-BC7F-9A805859D1F6}" type="pres">
      <dgm:prSet presAssocID="{6A9A8C86-C6CF-422D-88E7-E932CB0DD770}" presName="text" presStyleLbl="fgAcc0" presStyleIdx="1" presStyleCnt="2" custLinFactNeighborX="529" custLinFactNeighborY="-833">
        <dgm:presLayoutVars>
          <dgm:chPref val="3"/>
        </dgm:presLayoutVars>
      </dgm:prSet>
      <dgm:spPr/>
    </dgm:pt>
    <dgm:pt modelId="{DCD7B2B0-9A2A-6F4E-B7B9-F21B32EAC37F}" type="pres">
      <dgm:prSet presAssocID="{6A9A8C86-C6CF-422D-88E7-E932CB0DD770}" presName="hierChild2" presStyleCnt="0"/>
      <dgm:spPr/>
    </dgm:pt>
  </dgm:ptLst>
  <dgm:cxnLst>
    <dgm:cxn modelId="{C5CDC330-4B97-4E0B-9E56-F1812DBE2DC5}" srcId="{89EA8364-671F-4988-897D-5BEED3C02F22}" destId="{5009816E-2723-47A6-82F3-DCF6F3644B69}" srcOrd="0" destOrd="0" parTransId="{8B7CECAC-D0DB-4666-9359-55176861A786}" sibTransId="{849769A8-EC35-416D-8BA8-9EA299A32A8C}"/>
    <dgm:cxn modelId="{FCC55F44-4BA6-0B4B-89C4-B4DB258275BB}" type="presOf" srcId="{5009816E-2723-47A6-82F3-DCF6F3644B69}" destId="{C7E43B46-F941-594B-AD53-C26EB429104B}" srcOrd="0" destOrd="0" presId="urn:microsoft.com/office/officeart/2005/8/layout/hierarchy1"/>
    <dgm:cxn modelId="{9CB5A49F-8CE6-4F6E-BACE-2921567A4152}" srcId="{89EA8364-671F-4988-897D-5BEED3C02F22}" destId="{6A9A8C86-C6CF-422D-88E7-E932CB0DD770}" srcOrd="1" destOrd="0" parTransId="{A21D5D25-9BCC-457D-AE60-6E9BBAF9F145}" sibTransId="{BAD27032-0416-4F19-A2B1-BCCA5AEC5BB6}"/>
    <dgm:cxn modelId="{38E9BAB7-8CDB-A140-9285-12368ED658D8}" type="presOf" srcId="{89EA8364-671F-4988-897D-5BEED3C02F22}" destId="{BDE8C91E-CB68-E345-ADB2-529C1940E3A8}" srcOrd="0" destOrd="0" presId="urn:microsoft.com/office/officeart/2005/8/layout/hierarchy1"/>
    <dgm:cxn modelId="{166E86EF-F12C-5244-BE0F-E00CCC59D4C6}" type="presOf" srcId="{6A9A8C86-C6CF-422D-88E7-E932CB0DD770}" destId="{4E04ADFB-1E4B-324C-BC7F-9A805859D1F6}" srcOrd="0" destOrd="0" presId="urn:microsoft.com/office/officeart/2005/8/layout/hierarchy1"/>
    <dgm:cxn modelId="{D341F5A4-85DD-CC42-AF22-10C858FCE194}" type="presParOf" srcId="{BDE8C91E-CB68-E345-ADB2-529C1940E3A8}" destId="{2ABD7DA8-1007-DC43-AB0D-4DBA33098044}" srcOrd="0" destOrd="0" presId="urn:microsoft.com/office/officeart/2005/8/layout/hierarchy1"/>
    <dgm:cxn modelId="{039AE962-70D7-9F43-A9C5-E0B7BAD1BE56}" type="presParOf" srcId="{2ABD7DA8-1007-DC43-AB0D-4DBA33098044}" destId="{6E9FC2C1-EDBB-CF43-84E4-B4E6A7BE2208}" srcOrd="0" destOrd="0" presId="urn:microsoft.com/office/officeart/2005/8/layout/hierarchy1"/>
    <dgm:cxn modelId="{8829FE19-EA73-3E4F-AFB5-53A6A7F5C575}" type="presParOf" srcId="{6E9FC2C1-EDBB-CF43-84E4-B4E6A7BE2208}" destId="{7C016EFC-83C6-594C-AA38-98B2D0E28176}" srcOrd="0" destOrd="0" presId="urn:microsoft.com/office/officeart/2005/8/layout/hierarchy1"/>
    <dgm:cxn modelId="{6FF7AF7E-FA90-AA4E-9649-642AF6E09EC4}" type="presParOf" srcId="{6E9FC2C1-EDBB-CF43-84E4-B4E6A7BE2208}" destId="{C7E43B46-F941-594B-AD53-C26EB429104B}" srcOrd="1" destOrd="0" presId="urn:microsoft.com/office/officeart/2005/8/layout/hierarchy1"/>
    <dgm:cxn modelId="{92849FBD-0DC5-C74A-A326-F65483FF1DD1}" type="presParOf" srcId="{2ABD7DA8-1007-DC43-AB0D-4DBA33098044}" destId="{2522EBD7-69C3-4D44-9481-52188AA6E595}" srcOrd="1" destOrd="0" presId="urn:microsoft.com/office/officeart/2005/8/layout/hierarchy1"/>
    <dgm:cxn modelId="{A5A9CF4C-6878-E944-9126-8F0D214655C7}" type="presParOf" srcId="{BDE8C91E-CB68-E345-ADB2-529C1940E3A8}" destId="{F31D960E-CAE4-3641-BCDB-BF0524DCB7AD}" srcOrd="1" destOrd="0" presId="urn:microsoft.com/office/officeart/2005/8/layout/hierarchy1"/>
    <dgm:cxn modelId="{12EC1559-B356-9047-B4D5-A64F3AC8F08D}" type="presParOf" srcId="{F31D960E-CAE4-3641-BCDB-BF0524DCB7AD}" destId="{6AE4D9D2-7253-2146-90C9-E1783E6B68FA}" srcOrd="0" destOrd="0" presId="urn:microsoft.com/office/officeart/2005/8/layout/hierarchy1"/>
    <dgm:cxn modelId="{3550C971-8C70-9F48-8F88-8C83A5D507E5}" type="presParOf" srcId="{6AE4D9D2-7253-2146-90C9-E1783E6B68FA}" destId="{54E5CC98-DB4F-BA4F-A5B2-14E4CEA1B1AE}" srcOrd="0" destOrd="0" presId="urn:microsoft.com/office/officeart/2005/8/layout/hierarchy1"/>
    <dgm:cxn modelId="{1368AE61-0C4F-B046-A7F8-5E4F35D5B996}" type="presParOf" srcId="{6AE4D9D2-7253-2146-90C9-E1783E6B68FA}" destId="{4E04ADFB-1E4B-324C-BC7F-9A805859D1F6}" srcOrd="1" destOrd="0" presId="urn:microsoft.com/office/officeart/2005/8/layout/hierarchy1"/>
    <dgm:cxn modelId="{ECD2969E-3A6E-2543-9E3C-E2FCC607EC69}" type="presParOf" srcId="{F31D960E-CAE4-3641-BCDB-BF0524DCB7AD}" destId="{DCD7B2B0-9A2A-6F4E-B7B9-F21B32EAC37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CD5E9B-069A-4FF7-8C9A-C5A5C293AA61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048A83E-1E2E-443E-809A-40D85B60D37E}">
      <dgm:prSet custT="1"/>
      <dgm:spPr/>
      <dgm:t>
        <a:bodyPr/>
        <a:lstStyle/>
        <a:p>
          <a:r>
            <a:rPr lang="en-US" sz="1800" b="1" dirty="0"/>
            <a:t>Design</a:t>
          </a:r>
          <a:endParaRPr lang="en-US" sz="1800" dirty="0"/>
        </a:p>
      </dgm:t>
    </dgm:pt>
    <dgm:pt modelId="{CBA8FFD9-E844-4712-8540-B7B3A24577E2}" type="parTrans" cxnId="{7BC15E58-008F-455F-A69E-C916D7B1084B}">
      <dgm:prSet/>
      <dgm:spPr/>
      <dgm:t>
        <a:bodyPr/>
        <a:lstStyle/>
        <a:p>
          <a:endParaRPr lang="en-US"/>
        </a:p>
      </dgm:t>
    </dgm:pt>
    <dgm:pt modelId="{CCF1AF85-932D-4312-A11F-A33CD25D0DFF}" type="sibTrans" cxnId="{7BC15E58-008F-455F-A69E-C916D7B1084B}">
      <dgm:prSet/>
      <dgm:spPr/>
      <dgm:t>
        <a:bodyPr/>
        <a:lstStyle/>
        <a:p>
          <a:endParaRPr lang="en-US"/>
        </a:p>
      </dgm:t>
    </dgm:pt>
    <dgm:pt modelId="{3C4A9446-B740-4504-949A-4D5BC6E03000}">
      <dgm:prSet custT="1"/>
      <dgm:spPr/>
      <dgm:t>
        <a:bodyPr/>
        <a:lstStyle/>
        <a:p>
          <a:r>
            <a:rPr lang="en-US" sz="1600" dirty="0"/>
            <a:t>Retrospective analysis of ED pregnancy testing</a:t>
          </a:r>
        </a:p>
      </dgm:t>
    </dgm:pt>
    <dgm:pt modelId="{74512CBD-ABA7-4B89-8C2D-5AAE5ED4DB2D}" type="parTrans" cxnId="{4DCB3F1D-3C56-4013-8AAC-804728B3E8B4}">
      <dgm:prSet/>
      <dgm:spPr/>
      <dgm:t>
        <a:bodyPr/>
        <a:lstStyle/>
        <a:p>
          <a:endParaRPr lang="en-US"/>
        </a:p>
      </dgm:t>
    </dgm:pt>
    <dgm:pt modelId="{33BA9F15-AB1D-46E1-8686-7B8B87CEA4ED}" type="sibTrans" cxnId="{4DCB3F1D-3C56-4013-8AAC-804728B3E8B4}">
      <dgm:prSet/>
      <dgm:spPr/>
      <dgm:t>
        <a:bodyPr/>
        <a:lstStyle/>
        <a:p>
          <a:endParaRPr lang="en-US"/>
        </a:p>
      </dgm:t>
    </dgm:pt>
    <dgm:pt modelId="{2025E87F-DCC8-4DA4-8288-9F3DAB632E92}">
      <dgm:prSet custT="1"/>
      <dgm:spPr/>
      <dgm:t>
        <a:bodyPr/>
        <a:lstStyle/>
        <a:p>
          <a:r>
            <a:rPr lang="en-US" sz="1800" b="1" dirty="0"/>
            <a:t>Setting</a:t>
          </a:r>
          <a:r>
            <a:rPr lang="en-US" sz="1400" dirty="0"/>
            <a:t> </a:t>
          </a:r>
        </a:p>
      </dgm:t>
    </dgm:pt>
    <dgm:pt modelId="{D0AFE3D2-ABA5-4187-B639-603492AD7559}" type="parTrans" cxnId="{87937ED6-D7CA-4D84-B718-AA081F37D1C7}">
      <dgm:prSet/>
      <dgm:spPr/>
      <dgm:t>
        <a:bodyPr/>
        <a:lstStyle/>
        <a:p>
          <a:endParaRPr lang="en-US"/>
        </a:p>
      </dgm:t>
    </dgm:pt>
    <dgm:pt modelId="{5DA8CAC1-223F-4337-ACBE-BC53D66A5EC4}" type="sibTrans" cxnId="{87937ED6-D7CA-4D84-B718-AA081F37D1C7}">
      <dgm:prSet/>
      <dgm:spPr/>
      <dgm:t>
        <a:bodyPr/>
        <a:lstStyle/>
        <a:p>
          <a:endParaRPr lang="en-US"/>
        </a:p>
      </dgm:t>
    </dgm:pt>
    <dgm:pt modelId="{877768BD-FF05-469B-A28A-9F85F990D1FE}">
      <dgm:prSet custT="1"/>
      <dgm:spPr/>
      <dgm:t>
        <a:bodyPr/>
        <a:lstStyle/>
        <a:p>
          <a:r>
            <a:rPr lang="en-US" sz="1600" dirty="0"/>
            <a:t>Emergency Department at an academic tertiary care center</a:t>
          </a:r>
        </a:p>
      </dgm:t>
    </dgm:pt>
    <dgm:pt modelId="{2E350478-B67B-4F56-BAE7-D8DB4C3CA5CA}" type="parTrans" cxnId="{8FCA82DA-1318-4B3B-A10E-30FE0983AD64}">
      <dgm:prSet/>
      <dgm:spPr/>
      <dgm:t>
        <a:bodyPr/>
        <a:lstStyle/>
        <a:p>
          <a:endParaRPr lang="en-US"/>
        </a:p>
      </dgm:t>
    </dgm:pt>
    <dgm:pt modelId="{1751FA8A-3654-4009-9CA5-F21B9BD1CC44}" type="sibTrans" cxnId="{8FCA82DA-1318-4B3B-A10E-30FE0983AD64}">
      <dgm:prSet/>
      <dgm:spPr/>
      <dgm:t>
        <a:bodyPr/>
        <a:lstStyle/>
        <a:p>
          <a:endParaRPr lang="en-US"/>
        </a:p>
      </dgm:t>
    </dgm:pt>
    <dgm:pt modelId="{FFFD9453-74CA-4DB5-B15C-8114751DECB1}">
      <dgm:prSet custT="1"/>
      <dgm:spPr/>
      <dgm:t>
        <a:bodyPr/>
        <a:lstStyle/>
        <a:p>
          <a:r>
            <a:rPr lang="en-US" sz="1800" b="1" dirty="0"/>
            <a:t>Study Periods</a:t>
          </a:r>
          <a:endParaRPr lang="en-US" sz="1800" dirty="0"/>
        </a:p>
      </dgm:t>
    </dgm:pt>
    <dgm:pt modelId="{B1EE068C-43A2-4556-99AC-97F49584887F}" type="parTrans" cxnId="{BB2451A0-DE65-4CBB-9653-1C6E1EFF2A1D}">
      <dgm:prSet/>
      <dgm:spPr/>
      <dgm:t>
        <a:bodyPr/>
        <a:lstStyle/>
        <a:p>
          <a:endParaRPr lang="en-US"/>
        </a:p>
      </dgm:t>
    </dgm:pt>
    <dgm:pt modelId="{FA966C29-C845-4411-B8CE-EDC99F4A8FC7}" type="sibTrans" cxnId="{BB2451A0-DE65-4CBB-9653-1C6E1EFF2A1D}">
      <dgm:prSet/>
      <dgm:spPr/>
      <dgm:t>
        <a:bodyPr/>
        <a:lstStyle/>
        <a:p>
          <a:endParaRPr lang="en-US"/>
        </a:p>
      </dgm:t>
    </dgm:pt>
    <dgm:pt modelId="{34E78A33-8EC8-4FFC-9040-0ACC8E7A2F37}">
      <dgm:prSet custT="1"/>
      <dgm:spPr/>
      <dgm:t>
        <a:bodyPr/>
        <a:lstStyle/>
        <a:p>
          <a:r>
            <a:rPr lang="en-US" sz="1600" i="1" dirty="0"/>
            <a:t>Pre-intervention:</a:t>
          </a:r>
          <a:r>
            <a:rPr lang="en-US" sz="1600" dirty="0"/>
            <a:t> July 1, 2024 – June 30, 2025 (n = 7,704)</a:t>
          </a:r>
        </a:p>
      </dgm:t>
    </dgm:pt>
    <dgm:pt modelId="{38C6BC7C-CE95-4D35-8DAD-F1C063D276E4}" type="parTrans" cxnId="{72C9F0A2-7E10-4C57-BB51-2222855457C0}">
      <dgm:prSet/>
      <dgm:spPr/>
      <dgm:t>
        <a:bodyPr/>
        <a:lstStyle/>
        <a:p>
          <a:endParaRPr lang="en-US"/>
        </a:p>
      </dgm:t>
    </dgm:pt>
    <dgm:pt modelId="{CE896D84-FDB7-44DF-B6EA-2F6374FF5214}" type="sibTrans" cxnId="{72C9F0A2-7E10-4C57-BB51-2222855457C0}">
      <dgm:prSet/>
      <dgm:spPr/>
      <dgm:t>
        <a:bodyPr/>
        <a:lstStyle/>
        <a:p>
          <a:endParaRPr lang="en-US"/>
        </a:p>
      </dgm:t>
    </dgm:pt>
    <dgm:pt modelId="{FADE1D9C-B3A5-40A9-BEBF-A79CB2FEF55E}">
      <dgm:prSet custT="1"/>
      <dgm:spPr/>
      <dgm:t>
        <a:bodyPr/>
        <a:lstStyle/>
        <a:p>
          <a:r>
            <a:rPr lang="en-US" sz="1600" i="1" dirty="0"/>
            <a:t>Post-intervention:</a:t>
          </a:r>
          <a:r>
            <a:rPr lang="en-US" sz="1600" dirty="0"/>
            <a:t> September 1 – November 30, 2025 (n = 2,473)</a:t>
          </a:r>
        </a:p>
      </dgm:t>
    </dgm:pt>
    <dgm:pt modelId="{374A491E-0BF8-49EC-9578-CFDB0E7D5138}" type="parTrans" cxnId="{106B434D-E980-4D53-9952-62F027EB288E}">
      <dgm:prSet/>
      <dgm:spPr/>
      <dgm:t>
        <a:bodyPr/>
        <a:lstStyle/>
        <a:p>
          <a:endParaRPr lang="en-US"/>
        </a:p>
      </dgm:t>
    </dgm:pt>
    <dgm:pt modelId="{69986641-5957-492A-BA97-B686A766CC25}" type="sibTrans" cxnId="{106B434D-E980-4D53-9952-62F027EB288E}">
      <dgm:prSet/>
      <dgm:spPr/>
      <dgm:t>
        <a:bodyPr/>
        <a:lstStyle/>
        <a:p>
          <a:endParaRPr lang="en-US"/>
        </a:p>
      </dgm:t>
    </dgm:pt>
    <dgm:pt modelId="{1649DA17-54A7-49AE-AAE9-5441EF266CC2}">
      <dgm:prSet custT="1"/>
      <dgm:spPr/>
      <dgm:t>
        <a:bodyPr/>
        <a:lstStyle/>
        <a:p>
          <a:r>
            <a:rPr lang="en-US" sz="1800" b="1" dirty="0"/>
            <a:t>Primary Outcomes</a:t>
          </a:r>
          <a:endParaRPr lang="en-US" sz="1800" dirty="0"/>
        </a:p>
      </dgm:t>
    </dgm:pt>
    <dgm:pt modelId="{EC86C2ED-73AF-42D7-A11B-C38D65E3AD94}" type="parTrans" cxnId="{4C39E779-2624-40B2-9D0B-F5C3E019DF72}">
      <dgm:prSet/>
      <dgm:spPr/>
      <dgm:t>
        <a:bodyPr/>
        <a:lstStyle/>
        <a:p>
          <a:endParaRPr lang="en-US"/>
        </a:p>
      </dgm:t>
    </dgm:pt>
    <dgm:pt modelId="{E1779B1A-BE99-4003-8348-F5C7AD93128E}" type="sibTrans" cxnId="{4C39E779-2624-40B2-9D0B-F5C3E019DF72}">
      <dgm:prSet/>
      <dgm:spPr/>
      <dgm:t>
        <a:bodyPr/>
        <a:lstStyle/>
        <a:p>
          <a:endParaRPr lang="en-US"/>
        </a:p>
      </dgm:t>
    </dgm:pt>
    <dgm:pt modelId="{DDA0422C-D435-454C-B4CE-BA0EC30B8CD8}">
      <dgm:prSet custT="1"/>
      <dgm:spPr/>
      <dgm:t>
        <a:bodyPr/>
        <a:lstStyle/>
        <a:p>
          <a:r>
            <a:rPr lang="en-US" sz="1600" dirty="0"/>
            <a:t>Test Utilization, Order-to-result time, Cost per test (according to UVA Health Master Price List), Appropriateness of serum quantitative hCG use</a:t>
          </a:r>
        </a:p>
      </dgm:t>
    </dgm:pt>
    <dgm:pt modelId="{E20BAA75-59C3-47AF-B3BC-65BB26986F54}" type="parTrans" cxnId="{A57B281F-6B1D-4BD3-933A-1088A17AEDA7}">
      <dgm:prSet/>
      <dgm:spPr/>
      <dgm:t>
        <a:bodyPr/>
        <a:lstStyle/>
        <a:p>
          <a:endParaRPr lang="en-US"/>
        </a:p>
      </dgm:t>
    </dgm:pt>
    <dgm:pt modelId="{E52094AA-D905-4F91-8C7A-D63F6F15153A}" type="sibTrans" cxnId="{A57B281F-6B1D-4BD3-933A-1088A17AEDA7}">
      <dgm:prSet/>
      <dgm:spPr/>
      <dgm:t>
        <a:bodyPr/>
        <a:lstStyle/>
        <a:p>
          <a:endParaRPr lang="en-US"/>
        </a:p>
      </dgm:t>
    </dgm:pt>
    <dgm:pt modelId="{AED706A0-3564-44ED-BE7B-22D514AA3767}">
      <dgm:prSet custT="1"/>
      <dgm:spPr/>
      <dgm:t>
        <a:bodyPr/>
        <a:lstStyle/>
        <a:p>
          <a:r>
            <a:rPr lang="en-US" sz="1600" b="1" dirty="0"/>
            <a:t>Appropriateness Criteria (must have at least 1)</a:t>
          </a:r>
          <a:endParaRPr lang="en-US" sz="1600" dirty="0"/>
        </a:p>
      </dgm:t>
    </dgm:pt>
    <dgm:pt modelId="{70D35FD8-6C5D-4B7F-BCC7-C6D9266D90C7}" type="parTrans" cxnId="{9BEE9995-3D97-4E47-B55F-02D17CADB9E5}">
      <dgm:prSet/>
      <dgm:spPr/>
      <dgm:t>
        <a:bodyPr/>
        <a:lstStyle/>
        <a:p>
          <a:endParaRPr lang="en-US"/>
        </a:p>
      </dgm:t>
    </dgm:pt>
    <dgm:pt modelId="{D3825CF7-AA6D-4F97-B4AB-A137C1C54FEC}" type="sibTrans" cxnId="{9BEE9995-3D97-4E47-B55F-02D17CADB9E5}">
      <dgm:prSet/>
      <dgm:spPr/>
      <dgm:t>
        <a:bodyPr/>
        <a:lstStyle/>
        <a:p>
          <a:endParaRPr lang="en-US"/>
        </a:p>
      </dgm:t>
    </dgm:pt>
    <dgm:pt modelId="{7B896B0F-6A36-4FF7-A9CA-03E079E1503F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600" dirty="0"/>
            <a:t>- Primary chief complaint: abdominal pain, vaginal bleeding, miscarriage</a:t>
          </a:r>
        </a:p>
      </dgm:t>
    </dgm:pt>
    <dgm:pt modelId="{AC11DF29-0E2E-468A-BA96-98FD18890BF1}" type="parTrans" cxnId="{A29A9A35-9D41-4D7D-92AE-D7F110E6FA65}">
      <dgm:prSet/>
      <dgm:spPr/>
      <dgm:t>
        <a:bodyPr/>
        <a:lstStyle/>
        <a:p>
          <a:endParaRPr lang="en-US"/>
        </a:p>
      </dgm:t>
    </dgm:pt>
    <dgm:pt modelId="{69C3FBC1-82C2-4C67-905A-4023BEDF1DFE}" type="sibTrans" cxnId="{A29A9A35-9D41-4D7D-92AE-D7F110E6FA65}">
      <dgm:prSet/>
      <dgm:spPr/>
      <dgm:t>
        <a:bodyPr/>
        <a:lstStyle/>
        <a:p>
          <a:endParaRPr lang="en-US"/>
        </a:p>
      </dgm:t>
    </dgm:pt>
    <dgm:pt modelId="{B1F49BA1-A29B-477E-AB13-4DB9C33F5077}">
      <dgm:prSet custT="1"/>
      <dgm:spPr/>
      <dgm:t>
        <a:bodyPr/>
        <a:lstStyle/>
        <a:p>
          <a:pPr>
            <a:buNone/>
          </a:pPr>
          <a:r>
            <a:rPr lang="en-US" sz="1600" dirty="0"/>
            <a:t>- Ultrasound utilization (transabdominal or transvaginal)</a:t>
          </a:r>
        </a:p>
      </dgm:t>
    </dgm:pt>
    <dgm:pt modelId="{F06E375E-D933-44FB-A1A8-0D5962DBE324}" type="parTrans" cxnId="{C03E705A-D295-4367-83F0-367FB5A16549}">
      <dgm:prSet/>
      <dgm:spPr/>
      <dgm:t>
        <a:bodyPr/>
        <a:lstStyle/>
        <a:p>
          <a:endParaRPr lang="en-US"/>
        </a:p>
      </dgm:t>
    </dgm:pt>
    <dgm:pt modelId="{11E4F555-154B-4573-8AD1-5E4D0FDE70FD}" type="sibTrans" cxnId="{C03E705A-D295-4367-83F0-367FB5A16549}">
      <dgm:prSet/>
      <dgm:spPr/>
      <dgm:t>
        <a:bodyPr/>
        <a:lstStyle/>
        <a:p>
          <a:endParaRPr lang="en-US"/>
        </a:p>
      </dgm:t>
    </dgm:pt>
    <dgm:pt modelId="{F8619CEF-2D4F-CF43-9486-A81128E19269}" type="pres">
      <dgm:prSet presAssocID="{99CD5E9B-069A-4FF7-8C9A-C5A5C293AA61}" presName="Name0" presStyleCnt="0">
        <dgm:presLayoutVars>
          <dgm:dir/>
          <dgm:animLvl val="lvl"/>
          <dgm:resizeHandles val="exact"/>
        </dgm:presLayoutVars>
      </dgm:prSet>
      <dgm:spPr/>
    </dgm:pt>
    <dgm:pt modelId="{D6D028F4-A072-F146-BBEB-9686D24AEACF}" type="pres">
      <dgm:prSet presAssocID="{AED706A0-3564-44ED-BE7B-22D514AA3767}" presName="boxAndChildren" presStyleCnt="0"/>
      <dgm:spPr/>
    </dgm:pt>
    <dgm:pt modelId="{7AFA213A-C2C7-9242-95FC-E9E4CF3E32BA}" type="pres">
      <dgm:prSet presAssocID="{AED706A0-3564-44ED-BE7B-22D514AA3767}" presName="parentTextBox" presStyleLbl="alignNode1" presStyleIdx="0" presStyleCnt="5"/>
      <dgm:spPr/>
    </dgm:pt>
    <dgm:pt modelId="{547AEB7B-831A-AC43-A8B9-17A4A5B381D9}" type="pres">
      <dgm:prSet presAssocID="{AED706A0-3564-44ED-BE7B-22D514AA3767}" presName="descendantBox" presStyleLbl="bgAccFollowNode1" presStyleIdx="0" presStyleCnt="5"/>
      <dgm:spPr/>
    </dgm:pt>
    <dgm:pt modelId="{CD4CA0A7-D1BE-F041-8647-330298D04527}" type="pres">
      <dgm:prSet presAssocID="{E1779B1A-BE99-4003-8348-F5C7AD93128E}" presName="sp" presStyleCnt="0"/>
      <dgm:spPr/>
    </dgm:pt>
    <dgm:pt modelId="{479DF824-2188-6042-B34B-E27C90CB4B4D}" type="pres">
      <dgm:prSet presAssocID="{1649DA17-54A7-49AE-AAE9-5441EF266CC2}" presName="arrowAndChildren" presStyleCnt="0"/>
      <dgm:spPr/>
    </dgm:pt>
    <dgm:pt modelId="{BC9C207F-D235-1E42-A4D0-56CE5CA002F6}" type="pres">
      <dgm:prSet presAssocID="{1649DA17-54A7-49AE-AAE9-5441EF266CC2}" presName="parentTextArrow" presStyleLbl="node1" presStyleIdx="0" presStyleCnt="0"/>
      <dgm:spPr/>
    </dgm:pt>
    <dgm:pt modelId="{EED41002-9F9B-4E4B-9C53-ACC191B9FCF3}" type="pres">
      <dgm:prSet presAssocID="{1649DA17-54A7-49AE-AAE9-5441EF266CC2}" presName="arrow" presStyleLbl="alignNode1" presStyleIdx="1" presStyleCnt="5"/>
      <dgm:spPr/>
    </dgm:pt>
    <dgm:pt modelId="{561AA8C9-8CB4-5B44-BB27-8722A658404A}" type="pres">
      <dgm:prSet presAssocID="{1649DA17-54A7-49AE-AAE9-5441EF266CC2}" presName="descendantArrow" presStyleLbl="bgAccFollowNode1" presStyleIdx="1" presStyleCnt="5"/>
      <dgm:spPr/>
    </dgm:pt>
    <dgm:pt modelId="{28056B80-018C-FC4D-B88E-2634F1424D9E}" type="pres">
      <dgm:prSet presAssocID="{FA966C29-C845-4411-B8CE-EDC99F4A8FC7}" presName="sp" presStyleCnt="0"/>
      <dgm:spPr/>
    </dgm:pt>
    <dgm:pt modelId="{B1D67E54-D234-BF49-A51B-C5C2D5FAE9CA}" type="pres">
      <dgm:prSet presAssocID="{FFFD9453-74CA-4DB5-B15C-8114751DECB1}" presName="arrowAndChildren" presStyleCnt="0"/>
      <dgm:spPr/>
    </dgm:pt>
    <dgm:pt modelId="{E708618E-B51B-1C43-8F27-F55FD17CCB30}" type="pres">
      <dgm:prSet presAssocID="{FFFD9453-74CA-4DB5-B15C-8114751DECB1}" presName="parentTextArrow" presStyleLbl="node1" presStyleIdx="0" presStyleCnt="0"/>
      <dgm:spPr/>
    </dgm:pt>
    <dgm:pt modelId="{E432D417-5489-0A41-ABF8-174D8D931533}" type="pres">
      <dgm:prSet presAssocID="{FFFD9453-74CA-4DB5-B15C-8114751DECB1}" presName="arrow" presStyleLbl="alignNode1" presStyleIdx="2" presStyleCnt="5"/>
      <dgm:spPr/>
    </dgm:pt>
    <dgm:pt modelId="{E969E3D6-6F1D-CB46-9DE5-229EA12491E0}" type="pres">
      <dgm:prSet presAssocID="{FFFD9453-74CA-4DB5-B15C-8114751DECB1}" presName="descendantArrow" presStyleLbl="bgAccFollowNode1" presStyleIdx="2" presStyleCnt="5"/>
      <dgm:spPr/>
    </dgm:pt>
    <dgm:pt modelId="{EF53B738-2DC1-A845-8A0B-86A515259EA2}" type="pres">
      <dgm:prSet presAssocID="{5DA8CAC1-223F-4337-ACBE-BC53D66A5EC4}" presName="sp" presStyleCnt="0"/>
      <dgm:spPr/>
    </dgm:pt>
    <dgm:pt modelId="{3300A34D-3617-AC47-8D18-B81419ECC664}" type="pres">
      <dgm:prSet presAssocID="{2025E87F-DCC8-4DA4-8288-9F3DAB632E92}" presName="arrowAndChildren" presStyleCnt="0"/>
      <dgm:spPr/>
    </dgm:pt>
    <dgm:pt modelId="{A3EF741E-AFE4-1A47-ADAE-F8817748ECCF}" type="pres">
      <dgm:prSet presAssocID="{2025E87F-DCC8-4DA4-8288-9F3DAB632E92}" presName="parentTextArrow" presStyleLbl="node1" presStyleIdx="0" presStyleCnt="0"/>
      <dgm:spPr/>
    </dgm:pt>
    <dgm:pt modelId="{FAA08F3C-732A-4441-8195-60453834859B}" type="pres">
      <dgm:prSet presAssocID="{2025E87F-DCC8-4DA4-8288-9F3DAB632E92}" presName="arrow" presStyleLbl="alignNode1" presStyleIdx="3" presStyleCnt="5"/>
      <dgm:spPr/>
    </dgm:pt>
    <dgm:pt modelId="{1CCCDEAF-66B7-9D4A-9197-97BD6519D336}" type="pres">
      <dgm:prSet presAssocID="{2025E87F-DCC8-4DA4-8288-9F3DAB632E92}" presName="descendantArrow" presStyleLbl="bgAccFollowNode1" presStyleIdx="3" presStyleCnt="5"/>
      <dgm:spPr/>
    </dgm:pt>
    <dgm:pt modelId="{F40A2DC6-92A6-9544-B812-8E6060E630BA}" type="pres">
      <dgm:prSet presAssocID="{CCF1AF85-932D-4312-A11F-A33CD25D0DFF}" presName="sp" presStyleCnt="0"/>
      <dgm:spPr/>
    </dgm:pt>
    <dgm:pt modelId="{ECDCC59F-5895-9242-A742-70EDD6C02FC3}" type="pres">
      <dgm:prSet presAssocID="{A048A83E-1E2E-443E-809A-40D85B60D37E}" presName="arrowAndChildren" presStyleCnt="0"/>
      <dgm:spPr/>
    </dgm:pt>
    <dgm:pt modelId="{960E2ED5-2C8B-0F4A-BEE7-BDBFE950CA76}" type="pres">
      <dgm:prSet presAssocID="{A048A83E-1E2E-443E-809A-40D85B60D37E}" presName="parentTextArrow" presStyleLbl="node1" presStyleIdx="0" presStyleCnt="0"/>
      <dgm:spPr/>
    </dgm:pt>
    <dgm:pt modelId="{85A3B8D6-633E-264F-8357-96F263664006}" type="pres">
      <dgm:prSet presAssocID="{A048A83E-1E2E-443E-809A-40D85B60D37E}" presName="arrow" presStyleLbl="alignNode1" presStyleIdx="4" presStyleCnt="5"/>
      <dgm:spPr/>
    </dgm:pt>
    <dgm:pt modelId="{EE02F366-E783-A449-B704-DA93936DC907}" type="pres">
      <dgm:prSet presAssocID="{A048A83E-1E2E-443E-809A-40D85B60D37E}" presName="descendantArrow" presStyleLbl="bgAccFollowNode1" presStyleIdx="4" presStyleCnt="5"/>
      <dgm:spPr/>
    </dgm:pt>
  </dgm:ptLst>
  <dgm:cxnLst>
    <dgm:cxn modelId="{08EB5005-204A-E043-998F-D41597684AF9}" type="presOf" srcId="{877768BD-FF05-469B-A28A-9F85F990D1FE}" destId="{1CCCDEAF-66B7-9D4A-9197-97BD6519D336}" srcOrd="0" destOrd="0" presId="urn:microsoft.com/office/officeart/2016/7/layout/VerticalDownArrowProcess"/>
    <dgm:cxn modelId="{4DCB3F1D-3C56-4013-8AAC-804728B3E8B4}" srcId="{A048A83E-1E2E-443E-809A-40D85B60D37E}" destId="{3C4A9446-B740-4504-949A-4D5BC6E03000}" srcOrd="0" destOrd="0" parTransId="{74512CBD-ABA7-4B89-8C2D-5AAE5ED4DB2D}" sibTransId="{33BA9F15-AB1D-46E1-8686-7B8B87CEA4ED}"/>
    <dgm:cxn modelId="{A57B281F-6B1D-4BD3-933A-1088A17AEDA7}" srcId="{1649DA17-54A7-49AE-AAE9-5441EF266CC2}" destId="{DDA0422C-D435-454C-B4CE-BA0EC30B8CD8}" srcOrd="0" destOrd="0" parTransId="{E20BAA75-59C3-47AF-B3BC-65BB26986F54}" sibTransId="{E52094AA-D905-4F91-8C7A-D63F6F15153A}"/>
    <dgm:cxn modelId="{C27C6828-B74E-154B-9DCD-44FC296E5508}" type="presOf" srcId="{A048A83E-1E2E-443E-809A-40D85B60D37E}" destId="{85A3B8D6-633E-264F-8357-96F263664006}" srcOrd="1" destOrd="0" presId="urn:microsoft.com/office/officeart/2016/7/layout/VerticalDownArrowProcess"/>
    <dgm:cxn modelId="{5657B62C-8B29-7443-92C7-7F3BC1BB43DB}" type="presOf" srcId="{99CD5E9B-069A-4FF7-8C9A-C5A5C293AA61}" destId="{F8619CEF-2D4F-CF43-9486-A81128E19269}" srcOrd="0" destOrd="0" presId="urn:microsoft.com/office/officeart/2016/7/layout/VerticalDownArrowProcess"/>
    <dgm:cxn modelId="{A29A9A35-9D41-4D7D-92AE-D7F110E6FA65}" srcId="{AED706A0-3564-44ED-BE7B-22D514AA3767}" destId="{7B896B0F-6A36-4FF7-A9CA-03E079E1503F}" srcOrd="0" destOrd="0" parTransId="{AC11DF29-0E2E-468A-BA96-98FD18890BF1}" sibTransId="{69C3FBC1-82C2-4C67-905A-4023BEDF1DFE}"/>
    <dgm:cxn modelId="{106B434D-E980-4D53-9952-62F027EB288E}" srcId="{FFFD9453-74CA-4DB5-B15C-8114751DECB1}" destId="{FADE1D9C-B3A5-40A9-BEBF-A79CB2FEF55E}" srcOrd="1" destOrd="0" parTransId="{374A491E-0BF8-49EC-9578-CFDB0E7D5138}" sibTransId="{69986641-5957-492A-BA97-B686A766CC25}"/>
    <dgm:cxn modelId="{CC73D44E-38A4-2843-8D7F-F9228D73B403}" type="presOf" srcId="{AED706A0-3564-44ED-BE7B-22D514AA3767}" destId="{7AFA213A-C2C7-9242-95FC-E9E4CF3E32BA}" srcOrd="0" destOrd="0" presId="urn:microsoft.com/office/officeart/2016/7/layout/VerticalDownArrowProcess"/>
    <dgm:cxn modelId="{B36F5B50-CE13-9B41-97E9-D137ACD97268}" type="presOf" srcId="{2025E87F-DCC8-4DA4-8288-9F3DAB632E92}" destId="{A3EF741E-AFE4-1A47-ADAE-F8817748ECCF}" srcOrd="0" destOrd="0" presId="urn:microsoft.com/office/officeart/2016/7/layout/VerticalDownArrowProcess"/>
    <dgm:cxn modelId="{7BC15E58-008F-455F-A69E-C916D7B1084B}" srcId="{99CD5E9B-069A-4FF7-8C9A-C5A5C293AA61}" destId="{A048A83E-1E2E-443E-809A-40D85B60D37E}" srcOrd="0" destOrd="0" parTransId="{CBA8FFD9-E844-4712-8540-B7B3A24577E2}" sibTransId="{CCF1AF85-932D-4312-A11F-A33CD25D0DFF}"/>
    <dgm:cxn modelId="{AF9C7559-2A5D-F543-8B3A-A8618ABE9679}" type="presOf" srcId="{3C4A9446-B740-4504-949A-4D5BC6E03000}" destId="{EE02F366-E783-A449-B704-DA93936DC907}" srcOrd="0" destOrd="0" presId="urn:microsoft.com/office/officeart/2016/7/layout/VerticalDownArrowProcess"/>
    <dgm:cxn modelId="{AAA0575A-C659-6A47-88E8-8C0D7D05FA8E}" type="presOf" srcId="{FFFD9453-74CA-4DB5-B15C-8114751DECB1}" destId="{E708618E-B51B-1C43-8F27-F55FD17CCB30}" srcOrd="0" destOrd="0" presId="urn:microsoft.com/office/officeart/2016/7/layout/VerticalDownArrowProcess"/>
    <dgm:cxn modelId="{C03E705A-D295-4367-83F0-367FB5A16549}" srcId="{AED706A0-3564-44ED-BE7B-22D514AA3767}" destId="{B1F49BA1-A29B-477E-AB13-4DB9C33F5077}" srcOrd="1" destOrd="0" parTransId="{F06E375E-D933-44FB-A1A8-0D5962DBE324}" sibTransId="{11E4F555-154B-4573-8AD1-5E4D0FDE70FD}"/>
    <dgm:cxn modelId="{F570785A-3801-2C4E-8F62-E3ABD5781A7D}" type="presOf" srcId="{A048A83E-1E2E-443E-809A-40D85B60D37E}" destId="{960E2ED5-2C8B-0F4A-BEE7-BDBFE950CA76}" srcOrd="0" destOrd="0" presId="urn:microsoft.com/office/officeart/2016/7/layout/VerticalDownArrowProcess"/>
    <dgm:cxn modelId="{97ECDC5A-94B5-C942-BE4B-FA66CBB975F4}" type="presOf" srcId="{FADE1D9C-B3A5-40A9-BEBF-A79CB2FEF55E}" destId="{E969E3D6-6F1D-CB46-9DE5-229EA12491E0}" srcOrd="0" destOrd="1" presId="urn:microsoft.com/office/officeart/2016/7/layout/VerticalDownArrowProcess"/>
    <dgm:cxn modelId="{D6A72C6E-260A-944C-AEB2-E6C90E2FDE99}" type="presOf" srcId="{FFFD9453-74CA-4DB5-B15C-8114751DECB1}" destId="{E432D417-5489-0A41-ABF8-174D8D931533}" srcOrd="1" destOrd="0" presId="urn:microsoft.com/office/officeart/2016/7/layout/VerticalDownArrowProcess"/>
    <dgm:cxn modelId="{85554077-D419-AC47-B517-2BD9F3C55553}" type="presOf" srcId="{B1F49BA1-A29B-477E-AB13-4DB9C33F5077}" destId="{547AEB7B-831A-AC43-A8B9-17A4A5B381D9}" srcOrd="0" destOrd="1" presId="urn:microsoft.com/office/officeart/2016/7/layout/VerticalDownArrowProcess"/>
    <dgm:cxn modelId="{4C39E779-2624-40B2-9D0B-F5C3E019DF72}" srcId="{99CD5E9B-069A-4FF7-8C9A-C5A5C293AA61}" destId="{1649DA17-54A7-49AE-AAE9-5441EF266CC2}" srcOrd="3" destOrd="0" parTransId="{EC86C2ED-73AF-42D7-A11B-C38D65E3AD94}" sibTransId="{E1779B1A-BE99-4003-8348-F5C7AD93128E}"/>
    <dgm:cxn modelId="{9BEE9995-3D97-4E47-B55F-02D17CADB9E5}" srcId="{99CD5E9B-069A-4FF7-8C9A-C5A5C293AA61}" destId="{AED706A0-3564-44ED-BE7B-22D514AA3767}" srcOrd="4" destOrd="0" parTransId="{70D35FD8-6C5D-4B7F-BCC7-C6D9266D90C7}" sibTransId="{D3825CF7-AA6D-4F97-B4AB-A137C1C54FEC}"/>
    <dgm:cxn modelId="{4AF49A97-4D21-3D4A-A771-2DE8BA32ED8A}" type="presOf" srcId="{2025E87F-DCC8-4DA4-8288-9F3DAB632E92}" destId="{FAA08F3C-732A-4441-8195-60453834859B}" srcOrd="1" destOrd="0" presId="urn:microsoft.com/office/officeart/2016/7/layout/VerticalDownArrowProcess"/>
    <dgm:cxn modelId="{BB2451A0-DE65-4CBB-9653-1C6E1EFF2A1D}" srcId="{99CD5E9B-069A-4FF7-8C9A-C5A5C293AA61}" destId="{FFFD9453-74CA-4DB5-B15C-8114751DECB1}" srcOrd="2" destOrd="0" parTransId="{B1EE068C-43A2-4556-99AC-97F49584887F}" sibTransId="{FA966C29-C845-4411-B8CE-EDC99F4A8FC7}"/>
    <dgm:cxn modelId="{E9DAEDA0-932D-B748-B637-61D9B49E4393}" type="presOf" srcId="{1649DA17-54A7-49AE-AAE9-5441EF266CC2}" destId="{EED41002-9F9B-4E4B-9C53-ACC191B9FCF3}" srcOrd="1" destOrd="0" presId="urn:microsoft.com/office/officeart/2016/7/layout/VerticalDownArrowProcess"/>
    <dgm:cxn modelId="{72C9F0A2-7E10-4C57-BB51-2222855457C0}" srcId="{FFFD9453-74CA-4DB5-B15C-8114751DECB1}" destId="{34E78A33-8EC8-4FFC-9040-0ACC8E7A2F37}" srcOrd="0" destOrd="0" parTransId="{38C6BC7C-CE95-4D35-8DAD-F1C063D276E4}" sibTransId="{CE896D84-FDB7-44DF-B6EA-2F6374FF5214}"/>
    <dgm:cxn modelId="{BFEB2CAB-7608-F843-8918-A66F63114B82}" type="presOf" srcId="{1649DA17-54A7-49AE-AAE9-5441EF266CC2}" destId="{BC9C207F-D235-1E42-A4D0-56CE5CA002F6}" srcOrd="0" destOrd="0" presId="urn:microsoft.com/office/officeart/2016/7/layout/VerticalDownArrowProcess"/>
    <dgm:cxn modelId="{7D699ED3-1622-C140-A9E8-2322569198F3}" type="presOf" srcId="{34E78A33-8EC8-4FFC-9040-0ACC8E7A2F37}" destId="{E969E3D6-6F1D-CB46-9DE5-229EA12491E0}" srcOrd="0" destOrd="0" presId="urn:microsoft.com/office/officeart/2016/7/layout/VerticalDownArrowProcess"/>
    <dgm:cxn modelId="{87937ED6-D7CA-4D84-B718-AA081F37D1C7}" srcId="{99CD5E9B-069A-4FF7-8C9A-C5A5C293AA61}" destId="{2025E87F-DCC8-4DA4-8288-9F3DAB632E92}" srcOrd="1" destOrd="0" parTransId="{D0AFE3D2-ABA5-4187-B639-603492AD7559}" sibTransId="{5DA8CAC1-223F-4337-ACBE-BC53D66A5EC4}"/>
    <dgm:cxn modelId="{1D2506D8-CD3A-664A-8855-75C513FBEA6F}" type="presOf" srcId="{DDA0422C-D435-454C-B4CE-BA0EC30B8CD8}" destId="{561AA8C9-8CB4-5B44-BB27-8722A658404A}" srcOrd="0" destOrd="0" presId="urn:microsoft.com/office/officeart/2016/7/layout/VerticalDownArrowProcess"/>
    <dgm:cxn modelId="{8FCA82DA-1318-4B3B-A10E-30FE0983AD64}" srcId="{2025E87F-DCC8-4DA4-8288-9F3DAB632E92}" destId="{877768BD-FF05-469B-A28A-9F85F990D1FE}" srcOrd="0" destOrd="0" parTransId="{2E350478-B67B-4F56-BAE7-D8DB4C3CA5CA}" sibTransId="{1751FA8A-3654-4009-9CA5-F21B9BD1CC44}"/>
    <dgm:cxn modelId="{A84FC9E9-3A53-6240-84BC-FAF6B666D23B}" type="presOf" srcId="{7B896B0F-6A36-4FF7-A9CA-03E079E1503F}" destId="{547AEB7B-831A-AC43-A8B9-17A4A5B381D9}" srcOrd="0" destOrd="0" presId="urn:microsoft.com/office/officeart/2016/7/layout/VerticalDownArrowProcess"/>
    <dgm:cxn modelId="{FB094093-6F7B-8E4A-BC5E-68BA51174DB0}" type="presParOf" srcId="{F8619CEF-2D4F-CF43-9486-A81128E19269}" destId="{D6D028F4-A072-F146-BBEB-9686D24AEACF}" srcOrd="0" destOrd="0" presId="urn:microsoft.com/office/officeart/2016/7/layout/VerticalDownArrowProcess"/>
    <dgm:cxn modelId="{259495BE-798A-6C4E-A4B4-5BE8BB22BBC9}" type="presParOf" srcId="{D6D028F4-A072-F146-BBEB-9686D24AEACF}" destId="{7AFA213A-C2C7-9242-95FC-E9E4CF3E32BA}" srcOrd="0" destOrd="0" presId="urn:microsoft.com/office/officeart/2016/7/layout/VerticalDownArrowProcess"/>
    <dgm:cxn modelId="{60D8CFB2-2ABD-A04A-BB7F-45E9C4EE6425}" type="presParOf" srcId="{D6D028F4-A072-F146-BBEB-9686D24AEACF}" destId="{547AEB7B-831A-AC43-A8B9-17A4A5B381D9}" srcOrd="1" destOrd="0" presId="urn:microsoft.com/office/officeart/2016/7/layout/VerticalDownArrowProcess"/>
    <dgm:cxn modelId="{5473FE11-8A2B-1749-B89A-75FAC9356AE5}" type="presParOf" srcId="{F8619CEF-2D4F-CF43-9486-A81128E19269}" destId="{CD4CA0A7-D1BE-F041-8647-330298D04527}" srcOrd="1" destOrd="0" presId="urn:microsoft.com/office/officeart/2016/7/layout/VerticalDownArrowProcess"/>
    <dgm:cxn modelId="{D8264A3C-7DCE-E444-ABBC-7FF2CD125377}" type="presParOf" srcId="{F8619CEF-2D4F-CF43-9486-A81128E19269}" destId="{479DF824-2188-6042-B34B-E27C90CB4B4D}" srcOrd="2" destOrd="0" presId="urn:microsoft.com/office/officeart/2016/7/layout/VerticalDownArrowProcess"/>
    <dgm:cxn modelId="{2535850E-63AF-8F41-9843-672973651D39}" type="presParOf" srcId="{479DF824-2188-6042-B34B-E27C90CB4B4D}" destId="{BC9C207F-D235-1E42-A4D0-56CE5CA002F6}" srcOrd="0" destOrd="0" presId="urn:microsoft.com/office/officeart/2016/7/layout/VerticalDownArrowProcess"/>
    <dgm:cxn modelId="{FF92C96C-E7ED-054C-A927-6207D09B6690}" type="presParOf" srcId="{479DF824-2188-6042-B34B-E27C90CB4B4D}" destId="{EED41002-9F9B-4E4B-9C53-ACC191B9FCF3}" srcOrd="1" destOrd="0" presId="urn:microsoft.com/office/officeart/2016/7/layout/VerticalDownArrowProcess"/>
    <dgm:cxn modelId="{575560F4-0EB6-E246-8DA1-3D6E9541166C}" type="presParOf" srcId="{479DF824-2188-6042-B34B-E27C90CB4B4D}" destId="{561AA8C9-8CB4-5B44-BB27-8722A658404A}" srcOrd="2" destOrd="0" presId="urn:microsoft.com/office/officeart/2016/7/layout/VerticalDownArrowProcess"/>
    <dgm:cxn modelId="{A7A00941-390E-1544-B407-9A2B9173ED98}" type="presParOf" srcId="{F8619CEF-2D4F-CF43-9486-A81128E19269}" destId="{28056B80-018C-FC4D-B88E-2634F1424D9E}" srcOrd="3" destOrd="0" presId="urn:microsoft.com/office/officeart/2016/7/layout/VerticalDownArrowProcess"/>
    <dgm:cxn modelId="{0CF8E725-CA12-A046-B31B-6010A1EE4378}" type="presParOf" srcId="{F8619CEF-2D4F-CF43-9486-A81128E19269}" destId="{B1D67E54-D234-BF49-A51B-C5C2D5FAE9CA}" srcOrd="4" destOrd="0" presId="urn:microsoft.com/office/officeart/2016/7/layout/VerticalDownArrowProcess"/>
    <dgm:cxn modelId="{A60FF339-6A33-4243-A7E1-099CB9B53231}" type="presParOf" srcId="{B1D67E54-D234-BF49-A51B-C5C2D5FAE9CA}" destId="{E708618E-B51B-1C43-8F27-F55FD17CCB30}" srcOrd="0" destOrd="0" presId="urn:microsoft.com/office/officeart/2016/7/layout/VerticalDownArrowProcess"/>
    <dgm:cxn modelId="{FC901572-006D-B44B-B8DA-CF9BA005A583}" type="presParOf" srcId="{B1D67E54-D234-BF49-A51B-C5C2D5FAE9CA}" destId="{E432D417-5489-0A41-ABF8-174D8D931533}" srcOrd="1" destOrd="0" presId="urn:microsoft.com/office/officeart/2016/7/layout/VerticalDownArrowProcess"/>
    <dgm:cxn modelId="{EDAA8910-7C9F-1141-83F9-2CED30C4A933}" type="presParOf" srcId="{B1D67E54-D234-BF49-A51B-C5C2D5FAE9CA}" destId="{E969E3D6-6F1D-CB46-9DE5-229EA12491E0}" srcOrd="2" destOrd="0" presId="urn:microsoft.com/office/officeart/2016/7/layout/VerticalDownArrowProcess"/>
    <dgm:cxn modelId="{A1913AD1-7069-CD4A-9904-443F7DADF72B}" type="presParOf" srcId="{F8619CEF-2D4F-CF43-9486-A81128E19269}" destId="{EF53B738-2DC1-A845-8A0B-86A515259EA2}" srcOrd="5" destOrd="0" presId="urn:microsoft.com/office/officeart/2016/7/layout/VerticalDownArrowProcess"/>
    <dgm:cxn modelId="{DE52A787-BFD6-3B44-ADDF-E060E0BB588C}" type="presParOf" srcId="{F8619CEF-2D4F-CF43-9486-A81128E19269}" destId="{3300A34D-3617-AC47-8D18-B81419ECC664}" srcOrd="6" destOrd="0" presId="urn:microsoft.com/office/officeart/2016/7/layout/VerticalDownArrowProcess"/>
    <dgm:cxn modelId="{0B319138-DA24-A747-B936-BCA2A77EB5FD}" type="presParOf" srcId="{3300A34D-3617-AC47-8D18-B81419ECC664}" destId="{A3EF741E-AFE4-1A47-ADAE-F8817748ECCF}" srcOrd="0" destOrd="0" presId="urn:microsoft.com/office/officeart/2016/7/layout/VerticalDownArrowProcess"/>
    <dgm:cxn modelId="{B9196A90-4CFE-214E-A357-E2C291478038}" type="presParOf" srcId="{3300A34D-3617-AC47-8D18-B81419ECC664}" destId="{FAA08F3C-732A-4441-8195-60453834859B}" srcOrd="1" destOrd="0" presId="urn:microsoft.com/office/officeart/2016/7/layout/VerticalDownArrowProcess"/>
    <dgm:cxn modelId="{B710F1F5-AD7D-8B42-9EA4-D0F0B816FD19}" type="presParOf" srcId="{3300A34D-3617-AC47-8D18-B81419ECC664}" destId="{1CCCDEAF-66B7-9D4A-9197-97BD6519D336}" srcOrd="2" destOrd="0" presId="urn:microsoft.com/office/officeart/2016/7/layout/VerticalDownArrowProcess"/>
    <dgm:cxn modelId="{1196B670-EA17-5A42-B54B-E0AC2961D205}" type="presParOf" srcId="{F8619CEF-2D4F-CF43-9486-A81128E19269}" destId="{F40A2DC6-92A6-9544-B812-8E6060E630BA}" srcOrd="7" destOrd="0" presId="urn:microsoft.com/office/officeart/2016/7/layout/VerticalDownArrowProcess"/>
    <dgm:cxn modelId="{475C60B9-7FFF-804B-A71D-B3D041AEC0DE}" type="presParOf" srcId="{F8619CEF-2D4F-CF43-9486-A81128E19269}" destId="{ECDCC59F-5895-9242-A742-70EDD6C02FC3}" srcOrd="8" destOrd="0" presId="urn:microsoft.com/office/officeart/2016/7/layout/VerticalDownArrowProcess"/>
    <dgm:cxn modelId="{3C623893-4678-E742-AABE-5E14AAA92726}" type="presParOf" srcId="{ECDCC59F-5895-9242-A742-70EDD6C02FC3}" destId="{960E2ED5-2C8B-0F4A-BEE7-BDBFE950CA76}" srcOrd="0" destOrd="0" presId="urn:microsoft.com/office/officeart/2016/7/layout/VerticalDownArrowProcess"/>
    <dgm:cxn modelId="{6E539AE3-7CD6-4540-B54B-C1608EB8B90F}" type="presParOf" srcId="{ECDCC59F-5895-9242-A742-70EDD6C02FC3}" destId="{85A3B8D6-633E-264F-8357-96F263664006}" srcOrd="1" destOrd="0" presId="urn:microsoft.com/office/officeart/2016/7/layout/VerticalDownArrowProcess"/>
    <dgm:cxn modelId="{45E181A0-4CD4-DA4A-8367-D40CE1E62370}" type="presParOf" srcId="{ECDCC59F-5895-9242-A742-70EDD6C02FC3}" destId="{EE02F366-E783-A449-B704-DA93936DC907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246726-D8FE-4688-A16C-5E93027612C4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E36A872-F83D-4F18-82A1-89467E2E6C2A}">
      <dgm:prSet/>
      <dgm:spPr/>
      <dgm:t>
        <a:bodyPr/>
        <a:lstStyle/>
        <a:p>
          <a:r>
            <a:rPr lang="en-US" baseline="0" dirty="0">
              <a:solidFill>
                <a:schemeClr val="tx1">
                  <a:lumMod val="65000"/>
                  <a:lumOff val="35000"/>
                </a:schemeClr>
              </a:solidFill>
            </a:rPr>
            <a:t>Increased use of serum qualitative hCG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AFEFD7AD-F6B8-4BD5-A555-9F73E0594312}" type="parTrans" cxnId="{E1D0DF0C-76E1-4117-8548-40DC67EE5AFF}">
      <dgm:prSet/>
      <dgm:spPr/>
      <dgm:t>
        <a:bodyPr/>
        <a:lstStyle/>
        <a:p>
          <a:endParaRPr lang="en-US"/>
        </a:p>
      </dgm:t>
    </dgm:pt>
    <dgm:pt modelId="{FA41BBE7-D9CC-42E7-B670-7508A25D26CC}" type="sibTrans" cxnId="{E1D0DF0C-76E1-4117-8548-40DC67EE5AFF}">
      <dgm:prSet/>
      <dgm:spPr/>
      <dgm:t>
        <a:bodyPr/>
        <a:lstStyle/>
        <a:p>
          <a:endParaRPr lang="en-US"/>
        </a:p>
      </dgm:t>
    </dgm:pt>
    <dgm:pt modelId="{D4DF57D8-9CFD-47A4-8C83-5885033FA686}">
      <dgm:prSet/>
      <dgm:spPr/>
      <dgm:t>
        <a:bodyPr/>
        <a:lstStyle/>
        <a:p>
          <a:r>
            <a:rPr lang="en-US" baseline="0" dirty="0">
              <a:solidFill>
                <a:schemeClr val="tx1">
                  <a:lumMod val="65000"/>
                  <a:lumOff val="35000"/>
                </a:schemeClr>
              </a:solidFill>
            </a:rPr>
            <a:t>Reduced unnecessary serum quantitative hCG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FF8F49DC-4678-4C7B-879E-CB4C5F0E3BC2}" type="parTrans" cxnId="{0C2AE5DB-4608-49E6-AFB8-2ABA20B6B855}">
      <dgm:prSet/>
      <dgm:spPr/>
      <dgm:t>
        <a:bodyPr/>
        <a:lstStyle/>
        <a:p>
          <a:endParaRPr lang="en-US"/>
        </a:p>
      </dgm:t>
    </dgm:pt>
    <dgm:pt modelId="{A18589D8-08B4-4DEA-94FF-3A16FEA613B3}" type="sibTrans" cxnId="{0C2AE5DB-4608-49E6-AFB8-2ABA20B6B855}">
      <dgm:prSet/>
      <dgm:spPr/>
      <dgm:t>
        <a:bodyPr/>
        <a:lstStyle/>
        <a:p>
          <a:endParaRPr lang="en-US"/>
        </a:p>
      </dgm:t>
    </dgm:pt>
    <dgm:pt modelId="{8C2553B6-5C14-48C6-9981-E227E7AAAE75}">
      <dgm:prSet/>
      <dgm:spPr/>
      <dgm:t>
        <a:bodyPr/>
        <a:lstStyle/>
        <a:p>
          <a:r>
            <a:rPr lang="en-US" baseline="0" dirty="0">
              <a:solidFill>
                <a:schemeClr val="tx1">
                  <a:lumMod val="65000"/>
                  <a:lumOff val="35000"/>
                </a:schemeClr>
              </a:solidFill>
            </a:rPr>
            <a:t>Improved average POCT urine hCG turnaround times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18C5BB37-EC46-406E-BC8A-178654BDE71A}" type="parTrans" cxnId="{7DF0E064-4E1D-4608-8DD7-FB9BD5519855}">
      <dgm:prSet/>
      <dgm:spPr/>
      <dgm:t>
        <a:bodyPr/>
        <a:lstStyle/>
        <a:p>
          <a:endParaRPr lang="en-US"/>
        </a:p>
      </dgm:t>
    </dgm:pt>
    <dgm:pt modelId="{236F7382-6B19-4A11-A556-D5EDB4EA9690}" type="sibTrans" cxnId="{7DF0E064-4E1D-4608-8DD7-FB9BD5519855}">
      <dgm:prSet/>
      <dgm:spPr/>
      <dgm:t>
        <a:bodyPr/>
        <a:lstStyle/>
        <a:p>
          <a:endParaRPr lang="en-US"/>
        </a:p>
      </dgm:t>
    </dgm:pt>
    <dgm:pt modelId="{7077259C-27F6-CA45-AD9C-073EA2B41E62}" type="pres">
      <dgm:prSet presAssocID="{8E246726-D8FE-4688-A16C-5E93027612C4}" presName="vert0" presStyleCnt="0">
        <dgm:presLayoutVars>
          <dgm:dir/>
          <dgm:animOne val="branch"/>
          <dgm:animLvl val="lvl"/>
        </dgm:presLayoutVars>
      </dgm:prSet>
      <dgm:spPr/>
    </dgm:pt>
    <dgm:pt modelId="{5C9AF64C-0332-1748-B79E-9DF53052A40A}" type="pres">
      <dgm:prSet presAssocID="{2E36A872-F83D-4F18-82A1-89467E2E6C2A}" presName="thickLine" presStyleLbl="alignNode1" presStyleIdx="0" presStyleCnt="3"/>
      <dgm:spPr/>
    </dgm:pt>
    <dgm:pt modelId="{818C23B8-5260-E54C-AA3C-F58DBA3503E3}" type="pres">
      <dgm:prSet presAssocID="{2E36A872-F83D-4F18-82A1-89467E2E6C2A}" presName="horz1" presStyleCnt="0"/>
      <dgm:spPr/>
    </dgm:pt>
    <dgm:pt modelId="{F5F2DB87-01E4-3E44-AC14-BF110C003687}" type="pres">
      <dgm:prSet presAssocID="{2E36A872-F83D-4F18-82A1-89467E2E6C2A}" presName="tx1" presStyleLbl="revTx" presStyleIdx="0" presStyleCnt="3"/>
      <dgm:spPr/>
    </dgm:pt>
    <dgm:pt modelId="{E57C5332-F4BF-334C-8166-C4A01167C459}" type="pres">
      <dgm:prSet presAssocID="{2E36A872-F83D-4F18-82A1-89467E2E6C2A}" presName="vert1" presStyleCnt="0"/>
      <dgm:spPr/>
    </dgm:pt>
    <dgm:pt modelId="{1592E2CC-3A6E-634B-BDA5-FC2D5BC13EF7}" type="pres">
      <dgm:prSet presAssocID="{D4DF57D8-9CFD-47A4-8C83-5885033FA686}" presName="thickLine" presStyleLbl="alignNode1" presStyleIdx="1" presStyleCnt="3"/>
      <dgm:spPr/>
    </dgm:pt>
    <dgm:pt modelId="{CD57B4FB-A8D1-C648-819A-B418B9F7CF67}" type="pres">
      <dgm:prSet presAssocID="{D4DF57D8-9CFD-47A4-8C83-5885033FA686}" presName="horz1" presStyleCnt="0"/>
      <dgm:spPr/>
    </dgm:pt>
    <dgm:pt modelId="{E9AC4123-2901-3C44-A6D5-CCD42A617A2A}" type="pres">
      <dgm:prSet presAssocID="{D4DF57D8-9CFD-47A4-8C83-5885033FA686}" presName="tx1" presStyleLbl="revTx" presStyleIdx="1" presStyleCnt="3"/>
      <dgm:spPr/>
    </dgm:pt>
    <dgm:pt modelId="{3B0624EB-DCDC-7C4C-B5CD-E10834485C5F}" type="pres">
      <dgm:prSet presAssocID="{D4DF57D8-9CFD-47A4-8C83-5885033FA686}" presName="vert1" presStyleCnt="0"/>
      <dgm:spPr/>
    </dgm:pt>
    <dgm:pt modelId="{BA34308C-4DDC-4B4F-B2ED-F92AC44C453F}" type="pres">
      <dgm:prSet presAssocID="{8C2553B6-5C14-48C6-9981-E227E7AAAE75}" presName="thickLine" presStyleLbl="alignNode1" presStyleIdx="2" presStyleCnt="3"/>
      <dgm:spPr/>
    </dgm:pt>
    <dgm:pt modelId="{91D5C881-9ADF-0743-9B1B-F85639EC5EC7}" type="pres">
      <dgm:prSet presAssocID="{8C2553B6-5C14-48C6-9981-E227E7AAAE75}" presName="horz1" presStyleCnt="0"/>
      <dgm:spPr/>
    </dgm:pt>
    <dgm:pt modelId="{619C65E7-1378-FE4F-82F4-272C2926900C}" type="pres">
      <dgm:prSet presAssocID="{8C2553B6-5C14-48C6-9981-E227E7AAAE75}" presName="tx1" presStyleLbl="revTx" presStyleIdx="2" presStyleCnt="3"/>
      <dgm:spPr/>
    </dgm:pt>
    <dgm:pt modelId="{3E236C35-51F2-6344-83AC-5FBFC55D8081}" type="pres">
      <dgm:prSet presAssocID="{8C2553B6-5C14-48C6-9981-E227E7AAAE75}" presName="vert1" presStyleCnt="0"/>
      <dgm:spPr/>
    </dgm:pt>
  </dgm:ptLst>
  <dgm:cxnLst>
    <dgm:cxn modelId="{E1D0DF0C-76E1-4117-8548-40DC67EE5AFF}" srcId="{8E246726-D8FE-4688-A16C-5E93027612C4}" destId="{2E36A872-F83D-4F18-82A1-89467E2E6C2A}" srcOrd="0" destOrd="0" parTransId="{AFEFD7AD-F6B8-4BD5-A555-9F73E0594312}" sibTransId="{FA41BBE7-D9CC-42E7-B670-7508A25D26CC}"/>
    <dgm:cxn modelId="{93AAE11B-173F-0446-9ADF-E91CE17CFE5D}" type="presOf" srcId="{D4DF57D8-9CFD-47A4-8C83-5885033FA686}" destId="{E9AC4123-2901-3C44-A6D5-CCD42A617A2A}" srcOrd="0" destOrd="0" presId="urn:microsoft.com/office/officeart/2008/layout/LinedList"/>
    <dgm:cxn modelId="{1A4B5424-61D6-384F-BAC6-4CF27ACE8F62}" type="presOf" srcId="{8E246726-D8FE-4688-A16C-5E93027612C4}" destId="{7077259C-27F6-CA45-AD9C-073EA2B41E62}" srcOrd="0" destOrd="0" presId="urn:microsoft.com/office/officeart/2008/layout/LinedList"/>
    <dgm:cxn modelId="{B24BB132-FA37-8545-B622-5517C257EC43}" type="presOf" srcId="{2E36A872-F83D-4F18-82A1-89467E2E6C2A}" destId="{F5F2DB87-01E4-3E44-AC14-BF110C003687}" srcOrd="0" destOrd="0" presId="urn:microsoft.com/office/officeart/2008/layout/LinedList"/>
    <dgm:cxn modelId="{9266D264-6504-414F-9694-A23716E8EA76}" type="presOf" srcId="{8C2553B6-5C14-48C6-9981-E227E7AAAE75}" destId="{619C65E7-1378-FE4F-82F4-272C2926900C}" srcOrd="0" destOrd="0" presId="urn:microsoft.com/office/officeart/2008/layout/LinedList"/>
    <dgm:cxn modelId="{7DF0E064-4E1D-4608-8DD7-FB9BD5519855}" srcId="{8E246726-D8FE-4688-A16C-5E93027612C4}" destId="{8C2553B6-5C14-48C6-9981-E227E7AAAE75}" srcOrd="2" destOrd="0" parTransId="{18C5BB37-EC46-406E-BC8A-178654BDE71A}" sibTransId="{236F7382-6B19-4A11-A556-D5EDB4EA9690}"/>
    <dgm:cxn modelId="{0C2AE5DB-4608-49E6-AFB8-2ABA20B6B855}" srcId="{8E246726-D8FE-4688-A16C-5E93027612C4}" destId="{D4DF57D8-9CFD-47A4-8C83-5885033FA686}" srcOrd="1" destOrd="0" parTransId="{FF8F49DC-4678-4C7B-879E-CB4C5F0E3BC2}" sibTransId="{A18589D8-08B4-4DEA-94FF-3A16FEA613B3}"/>
    <dgm:cxn modelId="{BCABB927-4143-464A-A161-B9D05642A29F}" type="presParOf" srcId="{7077259C-27F6-CA45-AD9C-073EA2B41E62}" destId="{5C9AF64C-0332-1748-B79E-9DF53052A40A}" srcOrd="0" destOrd="0" presId="urn:microsoft.com/office/officeart/2008/layout/LinedList"/>
    <dgm:cxn modelId="{64DE5AEF-542A-0848-B864-EF649F918573}" type="presParOf" srcId="{7077259C-27F6-CA45-AD9C-073EA2B41E62}" destId="{818C23B8-5260-E54C-AA3C-F58DBA3503E3}" srcOrd="1" destOrd="0" presId="urn:microsoft.com/office/officeart/2008/layout/LinedList"/>
    <dgm:cxn modelId="{86091986-F15B-1445-BD05-AF190843C895}" type="presParOf" srcId="{818C23B8-5260-E54C-AA3C-F58DBA3503E3}" destId="{F5F2DB87-01E4-3E44-AC14-BF110C003687}" srcOrd="0" destOrd="0" presId="urn:microsoft.com/office/officeart/2008/layout/LinedList"/>
    <dgm:cxn modelId="{11C00E61-7A9C-744C-A0DB-2E14EE2CC9AB}" type="presParOf" srcId="{818C23B8-5260-E54C-AA3C-F58DBA3503E3}" destId="{E57C5332-F4BF-334C-8166-C4A01167C459}" srcOrd="1" destOrd="0" presId="urn:microsoft.com/office/officeart/2008/layout/LinedList"/>
    <dgm:cxn modelId="{301350C5-F32B-0148-A77C-638959A0D86E}" type="presParOf" srcId="{7077259C-27F6-CA45-AD9C-073EA2B41E62}" destId="{1592E2CC-3A6E-634B-BDA5-FC2D5BC13EF7}" srcOrd="2" destOrd="0" presId="urn:microsoft.com/office/officeart/2008/layout/LinedList"/>
    <dgm:cxn modelId="{CA774E32-9C12-664A-B65F-AC77BE2B4086}" type="presParOf" srcId="{7077259C-27F6-CA45-AD9C-073EA2B41E62}" destId="{CD57B4FB-A8D1-C648-819A-B418B9F7CF67}" srcOrd="3" destOrd="0" presId="urn:microsoft.com/office/officeart/2008/layout/LinedList"/>
    <dgm:cxn modelId="{FF77621C-92E6-AE41-9DC8-2D5641273734}" type="presParOf" srcId="{CD57B4FB-A8D1-C648-819A-B418B9F7CF67}" destId="{E9AC4123-2901-3C44-A6D5-CCD42A617A2A}" srcOrd="0" destOrd="0" presId="urn:microsoft.com/office/officeart/2008/layout/LinedList"/>
    <dgm:cxn modelId="{77495D40-DDA6-6A4F-98D7-7141EAEEB66B}" type="presParOf" srcId="{CD57B4FB-A8D1-C648-819A-B418B9F7CF67}" destId="{3B0624EB-DCDC-7C4C-B5CD-E10834485C5F}" srcOrd="1" destOrd="0" presId="urn:microsoft.com/office/officeart/2008/layout/LinedList"/>
    <dgm:cxn modelId="{EC1C90C9-892D-D440-82C8-A4991AF8D41D}" type="presParOf" srcId="{7077259C-27F6-CA45-AD9C-073EA2B41E62}" destId="{BA34308C-4DDC-4B4F-B2ED-F92AC44C453F}" srcOrd="4" destOrd="0" presId="urn:microsoft.com/office/officeart/2008/layout/LinedList"/>
    <dgm:cxn modelId="{965322F5-4F55-9341-BFC9-182DBC5FE7A7}" type="presParOf" srcId="{7077259C-27F6-CA45-AD9C-073EA2B41E62}" destId="{91D5C881-9ADF-0743-9B1B-F85639EC5EC7}" srcOrd="5" destOrd="0" presId="urn:microsoft.com/office/officeart/2008/layout/LinedList"/>
    <dgm:cxn modelId="{8167244B-9574-9B4A-9D15-A293BFCEA474}" type="presParOf" srcId="{91D5C881-9ADF-0743-9B1B-F85639EC5EC7}" destId="{619C65E7-1378-FE4F-82F4-272C2926900C}" srcOrd="0" destOrd="0" presId="urn:microsoft.com/office/officeart/2008/layout/LinedList"/>
    <dgm:cxn modelId="{48C19DE1-43FD-304F-89CE-4F83A4A4F57A}" type="presParOf" srcId="{91D5C881-9ADF-0743-9B1B-F85639EC5EC7}" destId="{3E236C35-51F2-6344-83AC-5FBFC55D808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34D322-814E-41CE-B672-B8B2A58BA33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5E52FA-AB8C-47E1-9C4D-B6E139FA8138}">
      <dgm:prSet/>
      <dgm:spPr/>
      <dgm:t>
        <a:bodyPr/>
        <a:lstStyle/>
        <a:p>
          <a:pPr>
            <a:defRPr cap="all"/>
          </a:pPr>
          <a:r>
            <a:rPr lang="en-US" cap="none" dirty="0"/>
            <a:t>Enhanced ED Workflow</a:t>
          </a:r>
        </a:p>
      </dgm:t>
    </dgm:pt>
    <dgm:pt modelId="{A9B2C445-61AD-480B-937C-901525A267E9}" type="parTrans" cxnId="{0BF71DA9-F4F9-4416-9D57-7B2BBCC400F8}">
      <dgm:prSet/>
      <dgm:spPr/>
      <dgm:t>
        <a:bodyPr/>
        <a:lstStyle/>
        <a:p>
          <a:endParaRPr lang="en-US"/>
        </a:p>
      </dgm:t>
    </dgm:pt>
    <dgm:pt modelId="{0CC6EFD7-9926-43A0-B8DD-2E8B6A03B778}" type="sibTrans" cxnId="{0BF71DA9-F4F9-4416-9D57-7B2BBCC400F8}">
      <dgm:prSet/>
      <dgm:spPr/>
      <dgm:t>
        <a:bodyPr/>
        <a:lstStyle/>
        <a:p>
          <a:endParaRPr lang="en-US"/>
        </a:p>
      </dgm:t>
    </dgm:pt>
    <dgm:pt modelId="{4791136A-CF28-43A4-801A-F61468A85F94}">
      <dgm:prSet/>
      <dgm:spPr/>
      <dgm:t>
        <a:bodyPr/>
        <a:lstStyle/>
        <a:p>
          <a:pPr>
            <a:defRPr cap="all"/>
          </a:pPr>
          <a:r>
            <a:rPr lang="en-US" cap="none" dirty="0"/>
            <a:t>Significant Cost Savings </a:t>
          </a:r>
        </a:p>
      </dgm:t>
    </dgm:pt>
    <dgm:pt modelId="{475537DC-5BF5-4F67-9121-69450C8D5C5F}" type="parTrans" cxnId="{42AE8EFC-CF47-4CCE-A770-C5C23B4C465B}">
      <dgm:prSet/>
      <dgm:spPr/>
      <dgm:t>
        <a:bodyPr/>
        <a:lstStyle/>
        <a:p>
          <a:endParaRPr lang="en-US"/>
        </a:p>
      </dgm:t>
    </dgm:pt>
    <dgm:pt modelId="{C54CF914-9688-430A-81F9-B0FBA7E661C0}" type="sibTrans" cxnId="{42AE8EFC-CF47-4CCE-A770-C5C23B4C465B}">
      <dgm:prSet/>
      <dgm:spPr/>
      <dgm:t>
        <a:bodyPr/>
        <a:lstStyle/>
        <a:p>
          <a:endParaRPr lang="en-US"/>
        </a:p>
      </dgm:t>
    </dgm:pt>
    <dgm:pt modelId="{4DB46A74-2F15-415F-BE00-565B5903F306}" type="pres">
      <dgm:prSet presAssocID="{9A34D322-814E-41CE-B672-B8B2A58BA336}" presName="root" presStyleCnt="0">
        <dgm:presLayoutVars>
          <dgm:dir/>
          <dgm:resizeHandles val="exact"/>
        </dgm:presLayoutVars>
      </dgm:prSet>
      <dgm:spPr/>
    </dgm:pt>
    <dgm:pt modelId="{DD2B40EA-4922-4758-A7DF-712AAB7B902C}" type="pres">
      <dgm:prSet presAssocID="{945E52FA-AB8C-47E1-9C4D-B6E139FA8138}" presName="compNode" presStyleCnt="0"/>
      <dgm:spPr/>
    </dgm:pt>
    <dgm:pt modelId="{40C1704A-C347-40C8-BCB7-EC823BEBAF88}" type="pres">
      <dgm:prSet presAssocID="{945E52FA-AB8C-47E1-9C4D-B6E139FA8138}" presName="iconBgRect" presStyleLbl="bgShp" presStyleIdx="0" presStyleCnt="2"/>
      <dgm:spPr/>
    </dgm:pt>
    <dgm:pt modelId="{F2EC388A-D4DC-44E5-902C-B6B7AC2CEE7D}" type="pres">
      <dgm:prSet presAssocID="{945E52FA-AB8C-47E1-9C4D-B6E139FA813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4697577-B12D-4DD6-99CB-D3CAADC3473A}" type="pres">
      <dgm:prSet presAssocID="{945E52FA-AB8C-47E1-9C4D-B6E139FA8138}" presName="spaceRect" presStyleCnt="0"/>
      <dgm:spPr/>
    </dgm:pt>
    <dgm:pt modelId="{6610BA86-9338-4841-BC46-4C9AE1DD46DA}" type="pres">
      <dgm:prSet presAssocID="{945E52FA-AB8C-47E1-9C4D-B6E139FA8138}" presName="textRect" presStyleLbl="revTx" presStyleIdx="0" presStyleCnt="2">
        <dgm:presLayoutVars>
          <dgm:chMax val="1"/>
          <dgm:chPref val="1"/>
        </dgm:presLayoutVars>
      </dgm:prSet>
      <dgm:spPr/>
    </dgm:pt>
    <dgm:pt modelId="{EB167B30-F082-4A49-8A4D-C0B8019CB408}" type="pres">
      <dgm:prSet presAssocID="{0CC6EFD7-9926-43A0-B8DD-2E8B6A03B778}" presName="sibTrans" presStyleCnt="0"/>
      <dgm:spPr/>
    </dgm:pt>
    <dgm:pt modelId="{9EE982C1-C520-4957-9BA3-21D5E087FED3}" type="pres">
      <dgm:prSet presAssocID="{4791136A-CF28-43A4-801A-F61468A85F94}" presName="compNode" presStyleCnt="0"/>
      <dgm:spPr/>
    </dgm:pt>
    <dgm:pt modelId="{F418AADF-9D3D-4509-B15E-D7709F1ED0EC}" type="pres">
      <dgm:prSet presAssocID="{4791136A-CF28-43A4-801A-F61468A85F94}" presName="iconBgRect" presStyleLbl="bgShp" presStyleIdx="1" presStyleCnt="2"/>
      <dgm:spPr/>
    </dgm:pt>
    <dgm:pt modelId="{10C41E53-207B-47B9-B508-2BD1268B8AA2}" type="pres">
      <dgm:prSet presAssocID="{4791136A-CF28-43A4-801A-F61468A85F9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486B317C-9D67-469E-83C4-D133FDCE2038}" type="pres">
      <dgm:prSet presAssocID="{4791136A-CF28-43A4-801A-F61468A85F94}" presName="spaceRect" presStyleCnt="0"/>
      <dgm:spPr/>
    </dgm:pt>
    <dgm:pt modelId="{1F64823B-4DA2-4FC5-BE8C-BC643266E6D4}" type="pres">
      <dgm:prSet presAssocID="{4791136A-CF28-43A4-801A-F61468A85F9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BF71DA9-F4F9-4416-9D57-7B2BBCC400F8}" srcId="{9A34D322-814E-41CE-B672-B8B2A58BA336}" destId="{945E52FA-AB8C-47E1-9C4D-B6E139FA8138}" srcOrd="0" destOrd="0" parTransId="{A9B2C445-61AD-480B-937C-901525A267E9}" sibTransId="{0CC6EFD7-9926-43A0-B8DD-2E8B6A03B778}"/>
    <dgm:cxn modelId="{34684ECA-B250-41C9-93A2-5FA8C8263FBA}" type="presOf" srcId="{9A34D322-814E-41CE-B672-B8B2A58BA336}" destId="{4DB46A74-2F15-415F-BE00-565B5903F306}" srcOrd="0" destOrd="0" presId="urn:microsoft.com/office/officeart/2018/5/layout/IconCircleLabelList"/>
    <dgm:cxn modelId="{3B673CCE-DC00-4AEA-BEDB-DF333CE6F44F}" type="presOf" srcId="{945E52FA-AB8C-47E1-9C4D-B6E139FA8138}" destId="{6610BA86-9338-4841-BC46-4C9AE1DD46DA}" srcOrd="0" destOrd="0" presId="urn:microsoft.com/office/officeart/2018/5/layout/IconCircleLabelList"/>
    <dgm:cxn modelId="{F5FA91DA-64E5-4550-95CC-491870F75529}" type="presOf" srcId="{4791136A-CF28-43A4-801A-F61468A85F94}" destId="{1F64823B-4DA2-4FC5-BE8C-BC643266E6D4}" srcOrd="0" destOrd="0" presId="urn:microsoft.com/office/officeart/2018/5/layout/IconCircleLabelList"/>
    <dgm:cxn modelId="{42AE8EFC-CF47-4CCE-A770-C5C23B4C465B}" srcId="{9A34D322-814E-41CE-B672-B8B2A58BA336}" destId="{4791136A-CF28-43A4-801A-F61468A85F94}" srcOrd="1" destOrd="0" parTransId="{475537DC-5BF5-4F67-9121-69450C8D5C5F}" sibTransId="{C54CF914-9688-430A-81F9-B0FBA7E661C0}"/>
    <dgm:cxn modelId="{F0996B32-BC6C-4B4A-BA55-49C2391FA873}" type="presParOf" srcId="{4DB46A74-2F15-415F-BE00-565B5903F306}" destId="{DD2B40EA-4922-4758-A7DF-712AAB7B902C}" srcOrd="0" destOrd="0" presId="urn:microsoft.com/office/officeart/2018/5/layout/IconCircleLabelList"/>
    <dgm:cxn modelId="{FFF11410-5207-48FF-BA4F-B66B9AD83A0B}" type="presParOf" srcId="{DD2B40EA-4922-4758-A7DF-712AAB7B902C}" destId="{40C1704A-C347-40C8-BCB7-EC823BEBAF88}" srcOrd="0" destOrd="0" presId="urn:microsoft.com/office/officeart/2018/5/layout/IconCircleLabelList"/>
    <dgm:cxn modelId="{592488BE-BC0D-4282-9366-D39D38188FDD}" type="presParOf" srcId="{DD2B40EA-4922-4758-A7DF-712AAB7B902C}" destId="{F2EC388A-D4DC-44E5-902C-B6B7AC2CEE7D}" srcOrd="1" destOrd="0" presId="urn:microsoft.com/office/officeart/2018/5/layout/IconCircleLabelList"/>
    <dgm:cxn modelId="{6BA9798F-0751-4C16-B0BE-583E790B2632}" type="presParOf" srcId="{DD2B40EA-4922-4758-A7DF-712AAB7B902C}" destId="{F4697577-B12D-4DD6-99CB-D3CAADC3473A}" srcOrd="2" destOrd="0" presId="urn:microsoft.com/office/officeart/2018/5/layout/IconCircleLabelList"/>
    <dgm:cxn modelId="{F7AA07B5-9960-4766-96B1-6927226308E6}" type="presParOf" srcId="{DD2B40EA-4922-4758-A7DF-712AAB7B902C}" destId="{6610BA86-9338-4841-BC46-4C9AE1DD46DA}" srcOrd="3" destOrd="0" presId="urn:microsoft.com/office/officeart/2018/5/layout/IconCircleLabelList"/>
    <dgm:cxn modelId="{5B5AB93D-4308-4BF9-8AEB-7FAE2DDAC619}" type="presParOf" srcId="{4DB46A74-2F15-415F-BE00-565B5903F306}" destId="{EB167B30-F082-4A49-8A4D-C0B8019CB408}" srcOrd="1" destOrd="0" presId="urn:microsoft.com/office/officeart/2018/5/layout/IconCircleLabelList"/>
    <dgm:cxn modelId="{0507B918-9C9F-4DDC-9720-3CFB4F8AE633}" type="presParOf" srcId="{4DB46A74-2F15-415F-BE00-565B5903F306}" destId="{9EE982C1-C520-4957-9BA3-21D5E087FED3}" srcOrd="2" destOrd="0" presId="urn:microsoft.com/office/officeart/2018/5/layout/IconCircleLabelList"/>
    <dgm:cxn modelId="{A8A3F344-0B65-41F5-9D0C-E603C21A2009}" type="presParOf" srcId="{9EE982C1-C520-4957-9BA3-21D5E087FED3}" destId="{F418AADF-9D3D-4509-B15E-D7709F1ED0EC}" srcOrd="0" destOrd="0" presId="urn:microsoft.com/office/officeart/2018/5/layout/IconCircleLabelList"/>
    <dgm:cxn modelId="{761F60B8-875B-4C37-AF7A-2E84016A977C}" type="presParOf" srcId="{9EE982C1-C520-4957-9BA3-21D5E087FED3}" destId="{10C41E53-207B-47B9-B508-2BD1268B8AA2}" srcOrd="1" destOrd="0" presId="urn:microsoft.com/office/officeart/2018/5/layout/IconCircleLabelList"/>
    <dgm:cxn modelId="{791833A2-AF1B-47D2-B188-F6DC204CE49C}" type="presParOf" srcId="{9EE982C1-C520-4957-9BA3-21D5E087FED3}" destId="{486B317C-9D67-469E-83C4-D133FDCE2038}" srcOrd="2" destOrd="0" presId="urn:microsoft.com/office/officeart/2018/5/layout/IconCircleLabelList"/>
    <dgm:cxn modelId="{4C15D55A-2280-4F13-8AE1-BD8342A2D6DA}" type="presParOf" srcId="{9EE982C1-C520-4957-9BA3-21D5E087FED3}" destId="{1F64823B-4DA2-4FC5-BE8C-BC643266E6D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D6E61-4550-5B42-94FD-5BD7401EF7E2}">
      <dsp:nvSpPr>
        <dsp:cNvPr id="0" name=""/>
        <dsp:cNvSpPr/>
      </dsp:nvSpPr>
      <dsp:spPr>
        <a:xfrm>
          <a:off x="0" y="1820"/>
          <a:ext cx="873451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F385C-6A43-1545-8DEA-3457EC972DFF}">
      <dsp:nvSpPr>
        <dsp:cNvPr id="0" name=""/>
        <dsp:cNvSpPr/>
      </dsp:nvSpPr>
      <dsp:spPr>
        <a:xfrm>
          <a:off x="0" y="1820"/>
          <a:ext cx="8734518" cy="1241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 dirty="0">
              <a:solidFill>
                <a:schemeClr val="accent2"/>
              </a:solidFill>
            </a:rPr>
            <a:t>Frequently Ordered Serum Quantitative hCG </a:t>
          </a:r>
          <a:r>
            <a:rPr lang="en-US" sz="1800" kern="1200" baseline="0" dirty="0">
              <a:solidFill>
                <a:schemeClr val="accent2"/>
              </a:solidFill>
            </a:rPr>
            <a:t>without clear indications for ectopic pregnancy or miscarriage</a:t>
          </a:r>
          <a:endParaRPr lang="en-US" sz="1800" kern="1200" dirty="0">
            <a:solidFill>
              <a:schemeClr val="accent2"/>
            </a:solidFill>
          </a:endParaRPr>
        </a:p>
      </dsp:txBody>
      <dsp:txXfrm>
        <a:off x="0" y="1820"/>
        <a:ext cx="8734518" cy="1241692"/>
      </dsp:txXfrm>
    </dsp:sp>
    <dsp:sp modelId="{E0BD20E1-2DF5-0643-942D-0BA8CF8E268A}">
      <dsp:nvSpPr>
        <dsp:cNvPr id="0" name=""/>
        <dsp:cNvSpPr/>
      </dsp:nvSpPr>
      <dsp:spPr>
        <a:xfrm>
          <a:off x="0" y="1243513"/>
          <a:ext cx="873451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A4E5F-3C0E-F149-8338-D2172127DFA3}">
      <dsp:nvSpPr>
        <dsp:cNvPr id="0" name=""/>
        <dsp:cNvSpPr/>
      </dsp:nvSpPr>
      <dsp:spPr>
        <a:xfrm>
          <a:off x="0" y="1243513"/>
          <a:ext cx="8734518" cy="1241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 dirty="0">
              <a:solidFill>
                <a:schemeClr val="accent2"/>
              </a:solidFill>
            </a:rPr>
            <a:t>Delayed POCT urine hCG </a:t>
          </a:r>
          <a:r>
            <a:rPr lang="en-US" sz="1800" b="0" kern="1200" baseline="0" dirty="0">
              <a:solidFill>
                <a:schemeClr val="accent2"/>
              </a:solidFill>
            </a:rPr>
            <a:t>with</a:t>
          </a:r>
          <a:r>
            <a:rPr lang="en-US" sz="1800" kern="1200" baseline="0" dirty="0">
              <a:solidFill>
                <a:schemeClr val="accent2"/>
              </a:solidFill>
            </a:rPr>
            <a:t> long average order-to-result time likely due to urine collection delays</a:t>
          </a:r>
          <a:endParaRPr lang="en-US" sz="1800" kern="1200" dirty="0">
            <a:solidFill>
              <a:schemeClr val="accent2"/>
            </a:solidFill>
          </a:endParaRPr>
        </a:p>
      </dsp:txBody>
      <dsp:txXfrm>
        <a:off x="0" y="1243513"/>
        <a:ext cx="8734518" cy="1241692"/>
      </dsp:txXfrm>
    </dsp:sp>
    <dsp:sp modelId="{BD9D64DF-57AB-334F-8161-E749DE662806}">
      <dsp:nvSpPr>
        <dsp:cNvPr id="0" name=""/>
        <dsp:cNvSpPr/>
      </dsp:nvSpPr>
      <dsp:spPr>
        <a:xfrm>
          <a:off x="0" y="2485205"/>
          <a:ext cx="873451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44544-0414-6B4B-896F-9CA3B03AFB56}">
      <dsp:nvSpPr>
        <dsp:cNvPr id="0" name=""/>
        <dsp:cNvSpPr/>
      </dsp:nvSpPr>
      <dsp:spPr>
        <a:xfrm>
          <a:off x="0" y="2485205"/>
          <a:ext cx="8734518" cy="1241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 dirty="0">
              <a:solidFill>
                <a:schemeClr val="accent2"/>
              </a:solidFill>
            </a:rPr>
            <a:t>Underutilized Serum Qualitative hCG </a:t>
          </a:r>
          <a:r>
            <a:rPr lang="en-US" sz="1800" b="0" kern="1200" baseline="0" dirty="0">
              <a:solidFill>
                <a:schemeClr val="accent2"/>
              </a:solidFill>
            </a:rPr>
            <a:t>although it is the </a:t>
          </a:r>
          <a:r>
            <a:rPr lang="en-US" sz="1800" kern="1200" baseline="0" dirty="0">
              <a:solidFill>
                <a:schemeClr val="accent2"/>
              </a:solidFill>
            </a:rPr>
            <a:t>least expensive test and has the shortest average order-to-result time</a:t>
          </a:r>
          <a:endParaRPr lang="en-US" sz="1800" kern="1200" dirty="0">
            <a:solidFill>
              <a:schemeClr val="accent2"/>
            </a:solidFill>
          </a:endParaRPr>
        </a:p>
      </dsp:txBody>
      <dsp:txXfrm>
        <a:off x="0" y="2485205"/>
        <a:ext cx="8734518" cy="12416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16EFC-83C6-594C-AA38-98B2D0E28176}">
      <dsp:nvSpPr>
        <dsp:cNvPr id="0" name=""/>
        <dsp:cNvSpPr/>
      </dsp:nvSpPr>
      <dsp:spPr>
        <a:xfrm>
          <a:off x="284837" y="898"/>
          <a:ext cx="2337226" cy="14841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E43B46-F941-594B-AD53-C26EB429104B}">
      <dsp:nvSpPr>
        <dsp:cNvPr id="0" name=""/>
        <dsp:cNvSpPr/>
      </dsp:nvSpPr>
      <dsp:spPr>
        <a:xfrm>
          <a:off x="544529" y="247605"/>
          <a:ext cx="2337226" cy="14841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>
              <a:solidFill>
                <a:schemeClr val="accent2"/>
              </a:solidFill>
            </a:rPr>
            <a:t>Departmental staff education</a:t>
          </a:r>
          <a:endParaRPr lang="en-US" sz="2200" kern="1200" dirty="0">
            <a:solidFill>
              <a:schemeClr val="accent2"/>
            </a:solidFill>
          </a:endParaRPr>
        </a:p>
      </dsp:txBody>
      <dsp:txXfrm>
        <a:off x="587998" y="291074"/>
        <a:ext cx="2250288" cy="1397200"/>
      </dsp:txXfrm>
    </dsp:sp>
    <dsp:sp modelId="{54E5CC98-DB4F-BA4F-A5B2-14E4CEA1B1AE}">
      <dsp:nvSpPr>
        <dsp:cNvPr id="0" name=""/>
        <dsp:cNvSpPr/>
      </dsp:nvSpPr>
      <dsp:spPr>
        <a:xfrm>
          <a:off x="3153811" y="-11464"/>
          <a:ext cx="2337226" cy="14841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E04ADFB-1E4B-324C-BC7F-9A805859D1F6}">
      <dsp:nvSpPr>
        <dsp:cNvPr id="0" name=""/>
        <dsp:cNvSpPr/>
      </dsp:nvSpPr>
      <dsp:spPr>
        <a:xfrm>
          <a:off x="3413503" y="235242"/>
          <a:ext cx="2337226" cy="14841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>
              <a:solidFill>
                <a:schemeClr val="accent2"/>
              </a:solidFill>
            </a:rPr>
            <a:t>Modifications to EHR order sets promoting serum qualitative hCG</a:t>
          </a:r>
          <a:endParaRPr lang="en-US" sz="2200" kern="1200" dirty="0">
            <a:solidFill>
              <a:schemeClr val="accent2"/>
            </a:solidFill>
          </a:endParaRPr>
        </a:p>
      </dsp:txBody>
      <dsp:txXfrm>
        <a:off x="3456972" y="278711"/>
        <a:ext cx="2250288" cy="13972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A213A-C2C7-9242-95FC-E9E4CF3E32BA}">
      <dsp:nvSpPr>
        <dsp:cNvPr id="0" name=""/>
        <dsp:cNvSpPr/>
      </dsp:nvSpPr>
      <dsp:spPr>
        <a:xfrm>
          <a:off x="0" y="3925760"/>
          <a:ext cx="2440804" cy="6440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590" tIns="113792" rIns="173590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Appropriateness Criteria (must have at least 1)</a:t>
          </a:r>
          <a:endParaRPr lang="en-US" sz="1600" kern="1200" dirty="0"/>
        </a:p>
      </dsp:txBody>
      <dsp:txXfrm>
        <a:off x="0" y="3925760"/>
        <a:ext cx="2440804" cy="644053"/>
      </dsp:txXfrm>
    </dsp:sp>
    <dsp:sp modelId="{547AEB7B-831A-AC43-A8B9-17A4A5B381D9}">
      <dsp:nvSpPr>
        <dsp:cNvPr id="0" name=""/>
        <dsp:cNvSpPr/>
      </dsp:nvSpPr>
      <dsp:spPr>
        <a:xfrm>
          <a:off x="2440804" y="3925760"/>
          <a:ext cx="7322413" cy="644053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33" tIns="203200" rIns="148533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dirty="0"/>
            <a:t>- Primary chief complaint: abdominal pain, vaginal bleeding, miscarriage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Ultrasound utilization (transabdominal or transvaginal)</a:t>
          </a:r>
        </a:p>
      </dsp:txBody>
      <dsp:txXfrm>
        <a:off x="2440804" y="3925760"/>
        <a:ext cx="7322413" cy="644053"/>
      </dsp:txXfrm>
    </dsp:sp>
    <dsp:sp modelId="{EED41002-9F9B-4E4B-9C53-ACC191B9FCF3}">
      <dsp:nvSpPr>
        <dsp:cNvPr id="0" name=""/>
        <dsp:cNvSpPr/>
      </dsp:nvSpPr>
      <dsp:spPr>
        <a:xfrm rot="10800000">
          <a:off x="0" y="2944866"/>
          <a:ext cx="2440804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590" tIns="128016" rIns="173590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Primary Outcomes</a:t>
          </a:r>
          <a:endParaRPr lang="en-US" sz="1800" kern="1200" dirty="0"/>
        </a:p>
      </dsp:txBody>
      <dsp:txXfrm rot="-10800000">
        <a:off x="0" y="2944866"/>
        <a:ext cx="2440804" cy="643860"/>
      </dsp:txXfrm>
    </dsp:sp>
    <dsp:sp modelId="{561AA8C9-8CB4-5B44-BB27-8722A658404A}">
      <dsp:nvSpPr>
        <dsp:cNvPr id="0" name=""/>
        <dsp:cNvSpPr/>
      </dsp:nvSpPr>
      <dsp:spPr>
        <a:xfrm>
          <a:off x="2440804" y="2944866"/>
          <a:ext cx="7322413" cy="64386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33" tIns="203200" rIns="148533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 Utilization, Order-to-result time, Cost per test (according to UVA Health Master Price List), Appropriateness of serum quantitative hCG use</a:t>
          </a:r>
        </a:p>
      </dsp:txBody>
      <dsp:txXfrm>
        <a:off x="2440804" y="2944866"/>
        <a:ext cx="7322413" cy="643860"/>
      </dsp:txXfrm>
    </dsp:sp>
    <dsp:sp modelId="{E432D417-5489-0A41-ABF8-174D8D931533}">
      <dsp:nvSpPr>
        <dsp:cNvPr id="0" name=""/>
        <dsp:cNvSpPr/>
      </dsp:nvSpPr>
      <dsp:spPr>
        <a:xfrm rot="10800000">
          <a:off x="0" y="1963973"/>
          <a:ext cx="2440804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590" tIns="128016" rIns="173590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Study Periods</a:t>
          </a:r>
          <a:endParaRPr lang="en-US" sz="1800" kern="1200" dirty="0"/>
        </a:p>
      </dsp:txBody>
      <dsp:txXfrm rot="-10800000">
        <a:off x="0" y="1963973"/>
        <a:ext cx="2440804" cy="643860"/>
      </dsp:txXfrm>
    </dsp:sp>
    <dsp:sp modelId="{E969E3D6-6F1D-CB46-9DE5-229EA12491E0}">
      <dsp:nvSpPr>
        <dsp:cNvPr id="0" name=""/>
        <dsp:cNvSpPr/>
      </dsp:nvSpPr>
      <dsp:spPr>
        <a:xfrm>
          <a:off x="2440804" y="1963973"/>
          <a:ext cx="7322413" cy="64386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33" tIns="203200" rIns="148533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/>
            <a:t>Pre-intervention:</a:t>
          </a:r>
          <a:r>
            <a:rPr lang="en-US" sz="1600" kern="1200" dirty="0"/>
            <a:t> July 1, 2024 – June 30, 2025 (n = 7,704)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/>
            <a:t>Post-intervention:</a:t>
          </a:r>
          <a:r>
            <a:rPr lang="en-US" sz="1600" kern="1200" dirty="0"/>
            <a:t> September 1 – November 30, 2025 (n = 2,473)</a:t>
          </a:r>
        </a:p>
      </dsp:txBody>
      <dsp:txXfrm>
        <a:off x="2440804" y="1963973"/>
        <a:ext cx="7322413" cy="643860"/>
      </dsp:txXfrm>
    </dsp:sp>
    <dsp:sp modelId="{FAA08F3C-732A-4441-8195-60453834859B}">
      <dsp:nvSpPr>
        <dsp:cNvPr id="0" name=""/>
        <dsp:cNvSpPr/>
      </dsp:nvSpPr>
      <dsp:spPr>
        <a:xfrm rot="10800000">
          <a:off x="0" y="983079"/>
          <a:ext cx="2440804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590" tIns="128016" rIns="173590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Setting</a:t>
          </a:r>
          <a:r>
            <a:rPr lang="en-US" sz="1400" kern="1200" dirty="0"/>
            <a:t> </a:t>
          </a:r>
        </a:p>
      </dsp:txBody>
      <dsp:txXfrm rot="-10800000">
        <a:off x="0" y="983079"/>
        <a:ext cx="2440804" cy="643860"/>
      </dsp:txXfrm>
    </dsp:sp>
    <dsp:sp modelId="{1CCCDEAF-66B7-9D4A-9197-97BD6519D336}">
      <dsp:nvSpPr>
        <dsp:cNvPr id="0" name=""/>
        <dsp:cNvSpPr/>
      </dsp:nvSpPr>
      <dsp:spPr>
        <a:xfrm>
          <a:off x="2440804" y="983079"/>
          <a:ext cx="7322413" cy="64386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33" tIns="203200" rIns="148533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Emergency Department at an academic tertiary care center</a:t>
          </a:r>
        </a:p>
      </dsp:txBody>
      <dsp:txXfrm>
        <a:off x="2440804" y="983079"/>
        <a:ext cx="7322413" cy="643860"/>
      </dsp:txXfrm>
    </dsp:sp>
    <dsp:sp modelId="{85A3B8D6-633E-264F-8357-96F263664006}">
      <dsp:nvSpPr>
        <dsp:cNvPr id="0" name=""/>
        <dsp:cNvSpPr/>
      </dsp:nvSpPr>
      <dsp:spPr>
        <a:xfrm rot="10800000">
          <a:off x="0" y="2185"/>
          <a:ext cx="2440804" cy="9905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590" tIns="128016" rIns="173590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Design</a:t>
          </a:r>
          <a:endParaRPr lang="en-US" sz="1800" kern="1200" dirty="0"/>
        </a:p>
      </dsp:txBody>
      <dsp:txXfrm rot="-10800000">
        <a:off x="0" y="2185"/>
        <a:ext cx="2440804" cy="643860"/>
      </dsp:txXfrm>
    </dsp:sp>
    <dsp:sp modelId="{EE02F366-E783-A449-B704-DA93936DC907}">
      <dsp:nvSpPr>
        <dsp:cNvPr id="0" name=""/>
        <dsp:cNvSpPr/>
      </dsp:nvSpPr>
      <dsp:spPr>
        <a:xfrm>
          <a:off x="2440804" y="2185"/>
          <a:ext cx="7322413" cy="64386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33" tIns="203200" rIns="148533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Retrospective analysis of ED pregnancy testing</a:t>
          </a:r>
        </a:p>
      </dsp:txBody>
      <dsp:txXfrm>
        <a:off x="2440804" y="2185"/>
        <a:ext cx="7322413" cy="6438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AF64C-0332-1748-B79E-9DF53052A40A}">
      <dsp:nvSpPr>
        <dsp:cNvPr id="0" name=""/>
        <dsp:cNvSpPr/>
      </dsp:nvSpPr>
      <dsp:spPr>
        <a:xfrm>
          <a:off x="0" y="1816"/>
          <a:ext cx="47640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2DB87-01E4-3E44-AC14-BF110C003687}">
      <dsp:nvSpPr>
        <dsp:cNvPr id="0" name=""/>
        <dsp:cNvSpPr/>
      </dsp:nvSpPr>
      <dsp:spPr>
        <a:xfrm>
          <a:off x="0" y="1816"/>
          <a:ext cx="4764087" cy="1238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baseline="0" dirty="0">
              <a:solidFill>
                <a:schemeClr val="tx1">
                  <a:lumMod val="65000"/>
                  <a:lumOff val="35000"/>
                </a:schemeClr>
              </a:solidFill>
            </a:rPr>
            <a:t>Increased use of serum qualitative hCG</a:t>
          </a:r>
          <a:endParaRPr lang="en-US" sz="3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0" y="1816"/>
        <a:ext cx="4764087" cy="1238805"/>
      </dsp:txXfrm>
    </dsp:sp>
    <dsp:sp modelId="{1592E2CC-3A6E-634B-BDA5-FC2D5BC13EF7}">
      <dsp:nvSpPr>
        <dsp:cNvPr id="0" name=""/>
        <dsp:cNvSpPr/>
      </dsp:nvSpPr>
      <dsp:spPr>
        <a:xfrm>
          <a:off x="0" y="1240621"/>
          <a:ext cx="47640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C4123-2901-3C44-A6D5-CCD42A617A2A}">
      <dsp:nvSpPr>
        <dsp:cNvPr id="0" name=""/>
        <dsp:cNvSpPr/>
      </dsp:nvSpPr>
      <dsp:spPr>
        <a:xfrm>
          <a:off x="0" y="1240621"/>
          <a:ext cx="4764087" cy="1238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baseline="0" dirty="0">
              <a:solidFill>
                <a:schemeClr val="tx1">
                  <a:lumMod val="65000"/>
                  <a:lumOff val="35000"/>
                </a:schemeClr>
              </a:solidFill>
            </a:rPr>
            <a:t>Reduced unnecessary serum quantitative hCG</a:t>
          </a:r>
          <a:endParaRPr lang="en-US" sz="3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0" y="1240621"/>
        <a:ext cx="4764087" cy="1238805"/>
      </dsp:txXfrm>
    </dsp:sp>
    <dsp:sp modelId="{BA34308C-4DDC-4B4F-B2ED-F92AC44C453F}">
      <dsp:nvSpPr>
        <dsp:cNvPr id="0" name=""/>
        <dsp:cNvSpPr/>
      </dsp:nvSpPr>
      <dsp:spPr>
        <a:xfrm>
          <a:off x="0" y="2479426"/>
          <a:ext cx="47640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C65E7-1378-FE4F-82F4-272C2926900C}">
      <dsp:nvSpPr>
        <dsp:cNvPr id="0" name=""/>
        <dsp:cNvSpPr/>
      </dsp:nvSpPr>
      <dsp:spPr>
        <a:xfrm>
          <a:off x="0" y="2479426"/>
          <a:ext cx="4764087" cy="1238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baseline="0" dirty="0">
              <a:solidFill>
                <a:schemeClr val="tx1">
                  <a:lumMod val="65000"/>
                  <a:lumOff val="35000"/>
                </a:schemeClr>
              </a:solidFill>
            </a:rPr>
            <a:t>Improved average POCT urine hCG turnaround times</a:t>
          </a:r>
          <a:endParaRPr lang="en-US" sz="30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0" y="2479426"/>
        <a:ext cx="4764087" cy="12388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1704A-C347-40C8-BCB7-EC823BEBAF88}">
      <dsp:nvSpPr>
        <dsp:cNvPr id="0" name=""/>
        <dsp:cNvSpPr/>
      </dsp:nvSpPr>
      <dsp:spPr>
        <a:xfrm>
          <a:off x="455674" y="348931"/>
          <a:ext cx="1372500" cy="1372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C388A-D4DC-44E5-902C-B6B7AC2CEE7D}">
      <dsp:nvSpPr>
        <dsp:cNvPr id="0" name=""/>
        <dsp:cNvSpPr/>
      </dsp:nvSpPr>
      <dsp:spPr>
        <a:xfrm>
          <a:off x="748174" y="641431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0BA86-9338-4841-BC46-4C9AE1DD46DA}">
      <dsp:nvSpPr>
        <dsp:cNvPr id="0" name=""/>
        <dsp:cNvSpPr/>
      </dsp:nvSpPr>
      <dsp:spPr>
        <a:xfrm>
          <a:off x="16924" y="2148931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 cap="none" dirty="0"/>
            <a:t>Enhanced ED Workflow</a:t>
          </a:r>
        </a:p>
      </dsp:txBody>
      <dsp:txXfrm>
        <a:off x="16924" y="2148931"/>
        <a:ext cx="2250000" cy="720000"/>
      </dsp:txXfrm>
    </dsp:sp>
    <dsp:sp modelId="{F418AADF-9D3D-4509-B15E-D7709F1ED0EC}">
      <dsp:nvSpPr>
        <dsp:cNvPr id="0" name=""/>
        <dsp:cNvSpPr/>
      </dsp:nvSpPr>
      <dsp:spPr>
        <a:xfrm>
          <a:off x="3099424" y="348931"/>
          <a:ext cx="1372500" cy="1372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41E53-207B-47B9-B508-2BD1268B8AA2}">
      <dsp:nvSpPr>
        <dsp:cNvPr id="0" name=""/>
        <dsp:cNvSpPr/>
      </dsp:nvSpPr>
      <dsp:spPr>
        <a:xfrm>
          <a:off x="3391925" y="641431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4823B-4DA2-4FC5-BE8C-BC643266E6D4}">
      <dsp:nvSpPr>
        <dsp:cNvPr id="0" name=""/>
        <dsp:cNvSpPr/>
      </dsp:nvSpPr>
      <dsp:spPr>
        <a:xfrm>
          <a:off x="2660674" y="2148931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kern="1200" cap="none" dirty="0"/>
            <a:t>Significant Cost Savings </a:t>
          </a:r>
        </a:p>
      </dsp:txBody>
      <dsp:txXfrm>
        <a:off x="2660674" y="2148931"/>
        <a:ext cx="22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0.69584</cdr:x>
      <cdr:y>0.18874</cdr:y>
    </cdr:from>
    <cdr:to>
      <cdr:x>0.93631</cdr:x>
      <cdr:y>0.28389</cdr:y>
    </cdr:to>
    <cdr:sp macro="" textlink="">
      <cdr:nvSpPr>
        <cdr:cNvPr id="2" name="TextBox 5">
          <a:extLst xmlns:a="http://schemas.openxmlformats.org/drawingml/2006/main">
            <a:ext uri="{FF2B5EF4-FFF2-40B4-BE49-F238E27FC236}">
              <a16:creationId xmlns:a16="http://schemas.microsoft.com/office/drawing/2014/main" id="{06073EBC-9528-FAD1-677D-5ECCFF72F6C6}"/>
            </a:ext>
          </a:extLst>
        </cdr:cNvPr>
        <cdr:cNvSpPr txBox="1"/>
      </cdr:nvSpPr>
      <cdr:spPr>
        <a:xfrm xmlns:a="http://schemas.openxmlformats.org/drawingml/2006/main">
          <a:off x="5681009" y="732651"/>
          <a:ext cx="1963270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800" b="0" i="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rPr>
            <a:t>Intervention</a:t>
          </a:r>
          <a:endParaRPr lang="en-US" dirty="0">
            <a:solidFill>
              <a:schemeClr val="tx1">
                <a:lumMod val="50000"/>
                <a:lumOff val="50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0.77819</cdr:x>
      <cdr:y>0.27293</cdr:y>
    </cdr:from>
    <cdr:to>
      <cdr:x>0.77819</cdr:x>
      <cdr:y>0.73168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188FCEB3-0E63-2D17-E0D4-6896B91A3764}"/>
            </a:ext>
          </a:extLst>
        </cdr:cNvPr>
        <cdr:cNvCxnSpPr/>
      </cdr:nvCxnSpPr>
      <cdr:spPr>
        <a:xfrm xmlns:a="http://schemas.openxmlformats.org/drawingml/2006/main">
          <a:off x="6353361" y="1059418"/>
          <a:ext cx="0" cy="1780764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1">
              <a:lumMod val="50000"/>
              <a:lumOff val="50000"/>
            </a:schemeClr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32AC36-C786-9DFA-8F47-836C13CDC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943" y="4262182"/>
            <a:ext cx="7270744" cy="481074"/>
          </a:xfr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32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9E271-928F-15CD-4895-1399C9F9D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893" y="1899821"/>
            <a:ext cx="7270744" cy="2037810"/>
          </a:xfrm>
        </p:spPr>
        <p:txBody>
          <a:bodyPr anchor="t" anchorCtr="0">
            <a:noAutofit/>
          </a:bodyPr>
          <a:lstStyle>
            <a:lvl1pPr algn="l">
              <a:lnSpc>
                <a:spcPts val="7300"/>
              </a:lnSpc>
              <a:defRPr sz="70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C6A610-EA2C-373D-CFD9-5D92558EF53C}"/>
              </a:ext>
            </a:extLst>
          </p:cNvPr>
          <p:cNvSpPr/>
          <p:nvPr/>
        </p:nvSpPr>
        <p:spPr>
          <a:xfrm>
            <a:off x="808051" y="1308410"/>
            <a:ext cx="1177383" cy="1561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0707A5-B842-3E94-72D0-DED8A701A26A}"/>
              </a:ext>
            </a:extLst>
          </p:cNvPr>
          <p:cNvSpPr/>
          <p:nvPr/>
        </p:nvSpPr>
        <p:spPr>
          <a:xfrm>
            <a:off x="8572500" y="0"/>
            <a:ext cx="3619500" cy="22767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763B1C-C68B-1CC2-752F-0D0EC57F2605}"/>
              </a:ext>
            </a:extLst>
          </p:cNvPr>
          <p:cNvSpPr/>
          <p:nvPr/>
        </p:nvSpPr>
        <p:spPr>
          <a:xfrm>
            <a:off x="8572500" y="2276706"/>
            <a:ext cx="3619500" cy="38638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823D9F-878A-40DA-6963-A25CFDF0D3F0}"/>
              </a:ext>
            </a:extLst>
          </p:cNvPr>
          <p:cNvSpPr/>
          <p:nvPr/>
        </p:nvSpPr>
        <p:spPr>
          <a:xfrm>
            <a:off x="8572500" y="6140606"/>
            <a:ext cx="36195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7DD633-8515-E75A-B8C3-519101EC25B9}"/>
              </a:ext>
            </a:extLst>
          </p:cNvPr>
          <p:cNvSpPr/>
          <p:nvPr/>
        </p:nvSpPr>
        <p:spPr>
          <a:xfrm>
            <a:off x="8572500" y="6721473"/>
            <a:ext cx="3619500" cy="1365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27EB7FA2-30D1-0AB1-6FCE-E66967BC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F42636D6-1BFB-2FBF-3C1D-ECB34DD0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15B5E49-AFA8-B81B-A7B3-C9C70AF6C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26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2352">
          <p15:clr>
            <a:srgbClr val="FBAE40"/>
          </p15:clr>
        </p15:guide>
        <p15:guide id="7" orient="horz" pos="2808">
          <p15:clr>
            <a:srgbClr val="FBAE40"/>
          </p15:clr>
        </p15:guide>
        <p15:guide id="13">
          <p15:clr>
            <a:srgbClr val="FBAE40"/>
          </p15:clr>
        </p15:guide>
        <p15:guide id="14" pos="7680">
          <p15:clr>
            <a:srgbClr val="FBAE40"/>
          </p15:clr>
        </p15:guide>
        <p15:guide id="15" pos="571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E271-928F-15CD-4895-1399C9F9D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45" y="1265424"/>
            <a:ext cx="7223161" cy="2788275"/>
          </a:xfrm>
        </p:spPr>
        <p:txBody>
          <a:bodyPr anchor="t" anchorCtr="0">
            <a:noAutofit/>
          </a:bodyPr>
          <a:lstStyle>
            <a:lvl1pPr algn="l">
              <a:lnSpc>
                <a:spcPts val="7000"/>
              </a:lnSpc>
              <a:defRPr sz="70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5FAA7-2051-0896-BB1B-6A98D09F4D61}"/>
              </a:ext>
            </a:extLst>
          </p:cNvPr>
          <p:cNvSpPr/>
          <p:nvPr/>
        </p:nvSpPr>
        <p:spPr>
          <a:xfrm>
            <a:off x="1600930" y="761905"/>
            <a:ext cx="1261769" cy="1747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5B49E-E5F9-FA2F-C02A-B61A20453106}"/>
              </a:ext>
            </a:extLst>
          </p:cNvPr>
          <p:cNvSpPr/>
          <p:nvPr/>
        </p:nvSpPr>
        <p:spPr>
          <a:xfrm>
            <a:off x="0" y="0"/>
            <a:ext cx="800100" cy="407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A0B3FE-8AAD-BF30-8FD2-0754DA6931EA}"/>
              </a:ext>
            </a:extLst>
          </p:cNvPr>
          <p:cNvSpPr/>
          <p:nvPr/>
        </p:nvSpPr>
        <p:spPr>
          <a:xfrm>
            <a:off x="0" y="407405"/>
            <a:ext cx="800100" cy="5725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F3E31D-07D4-CEDE-63CF-54435160562B}"/>
              </a:ext>
            </a:extLst>
          </p:cNvPr>
          <p:cNvSpPr/>
          <p:nvPr/>
        </p:nvSpPr>
        <p:spPr>
          <a:xfrm>
            <a:off x="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33B7FE-6977-392D-45FB-1B50BA99EE9F}"/>
              </a:ext>
            </a:extLst>
          </p:cNvPr>
          <p:cNvSpPr/>
          <p:nvPr/>
        </p:nvSpPr>
        <p:spPr>
          <a:xfrm>
            <a:off x="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A96F7307-7862-C9B7-B016-3E11F040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E185FE7C-2AD4-E197-B71B-1B014594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E2391B9-7AB5-56DF-AFC8-DAC6F9649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9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02CC-B17D-BFA8-A270-645E5F78BC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4132" y="639611"/>
            <a:ext cx="10218292" cy="1158265"/>
          </a:xfrm>
        </p:spPr>
        <p:txBody>
          <a:bodyPr anchor="t" anchorCtr="0">
            <a:noAutofit/>
          </a:bodyPr>
          <a:lstStyle>
            <a:lvl1pPr>
              <a:defRPr sz="4000" baseline="0"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8BDE4-C76E-EEA3-0996-747F5F11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0200" y="6356350"/>
            <a:ext cx="1400452" cy="365125"/>
          </a:xfrm>
          <a:prstGeom prst="rect">
            <a:avLst/>
          </a:prstGeom>
        </p:spPr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FD6C-254B-CDC4-EBB3-9E385D63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652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15FD-0678-E2C6-8289-C8E1B15C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5452" y="6356350"/>
            <a:ext cx="1083816" cy="365125"/>
          </a:xfrm>
          <a:prstGeom prst="rect">
            <a:avLst/>
          </a:prstGeom>
        </p:spPr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9CAFFCE-0BA2-B319-26CC-CF826ECB0F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7866" y="1920582"/>
            <a:ext cx="4927321" cy="529655"/>
          </a:xfrm>
        </p:spPr>
        <p:txBody>
          <a:bodyPr/>
          <a:lstStyle>
            <a:lvl1pPr marL="0" indent="0">
              <a:lnSpc>
                <a:spcPts val="2000"/>
              </a:lnSpc>
              <a:buFontTx/>
              <a:buNone/>
              <a:defRPr sz="1800" b="1" i="0" baseline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b="1" i="0" baseline="0">
                <a:solidFill>
                  <a:schemeClr val="tx2"/>
                </a:solidFill>
              </a:defRPr>
            </a:lvl2pPr>
            <a:lvl3pPr marL="914400" indent="0">
              <a:buFontTx/>
              <a:buNone/>
              <a:defRPr b="1" i="0" baseline="0">
                <a:solidFill>
                  <a:schemeClr val="tx2"/>
                </a:solidFill>
              </a:defRPr>
            </a:lvl3pPr>
            <a:lvl4pPr marL="1371600" indent="0">
              <a:buFontTx/>
              <a:buNone/>
              <a:defRPr b="1" i="0" baseline="0">
                <a:solidFill>
                  <a:schemeClr val="tx2"/>
                </a:solidFill>
              </a:defRPr>
            </a:lvl4pPr>
            <a:lvl5pPr marL="1828800" indent="0">
              <a:buFontTx/>
              <a:buNone/>
              <a:defRPr b="1" i="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050B9811-C36C-373F-9AE5-C87FD6AD14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5359" y="1920582"/>
            <a:ext cx="5130921" cy="529655"/>
          </a:xfrm>
        </p:spPr>
        <p:txBody>
          <a:bodyPr/>
          <a:lstStyle>
            <a:lvl1pPr marL="0" indent="0">
              <a:lnSpc>
                <a:spcPts val="2000"/>
              </a:lnSpc>
              <a:buFontTx/>
              <a:buNone/>
              <a:defRPr sz="1800" b="1" i="0" baseline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b="1" i="0" baseline="0">
                <a:solidFill>
                  <a:schemeClr val="tx2"/>
                </a:solidFill>
              </a:defRPr>
            </a:lvl2pPr>
            <a:lvl3pPr marL="914400" indent="0">
              <a:buFontTx/>
              <a:buNone/>
              <a:defRPr b="1" i="0" baseline="0">
                <a:solidFill>
                  <a:schemeClr val="tx2"/>
                </a:solidFill>
              </a:defRPr>
            </a:lvl3pPr>
            <a:lvl4pPr marL="1371600" indent="0">
              <a:buFontTx/>
              <a:buNone/>
              <a:defRPr b="1" i="0" baseline="0">
                <a:solidFill>
                  <a:schemeClr val="tx2"/>
                </a:solidFill>
              </a:defRPr>
            </a:lvl4pPr>
            <a:lvl5pPr marL="1828800" indent="0">
              <a:buFontTx/>
              <a:buNone/>
              <a:defRPr b="1" i="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762B7-FE48-E246-3A7A-3E6872B2A48A}"/>
              </a:ext>
            </a:extLst>
          </p:cNvPr>
          <p:cNvSpPr/>
          <p:nvPr/>
        </p:nvSpPr>
        <p:spPr>
          <a:xfrm>
            <a:off x="0" y="0"/>
            <a:ext cx="800100" cy="407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AB8EC-7CC5-1C38-EB51-B47703E44B57}"/>
              </a:ext>
            </a:extLst>
          </p:cNvPr>
          <p:cNvSpPr/>
          <p:nvPr/>
        </p:nvSpPr>
        <p:spPr>
          <a:xfrm>
            <a:off x="0" y="407405"/>
            <a:ext cx="800100" cy="5725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D75727-F432-3288-93E3-857043617EAA}"/>
              </a:ext>
            </a:extLst>
          </p:cNvPr>
          <p:cNvSpPr/>
          <p:nvPr/>
        </p:nvSpPr>
        <p:spPr>
          <a:xfrm>
            <a:off x="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8FE1F7-7A3C-A0F3-3885-C3B908758175}"/>
              </a:ext>
            </a:extLst>
          </p:cNvPr>
          <p:cNvSpPr/>
          <p:nvPr/>
        </p:nvSpPr>
        <p:spPr>
          <a:xfrm>
            <a:off x="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63DC62F-97DA-6BD8-152D-3436EA4955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517866" y="2450236"/>
            <a:ext cx="4927321" cy="3218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DEC8370A-EE2F-3EC2-C7F3-EFC6F189450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605359" y="2450237"/>
            <a:ext cx="5130800" cy="32181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206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02CC-B17D-BFA8-A270-645E5F78BC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3615" y="635437"/>
            <a:ext cx="9913870" cy="1158265"/>
          </a:xfrm>
        </p:spPr>
        <p:txBody>
          <a:bodyPr anchor="t" anchorCtr="0">
            <a:noAutofit/>
          </a:bodyPr>
          <a:lstStyle>
            <a:lvl1pPr>
              <a:defRPr sz="4000" baseline="0"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8BDE4-C76E-EEA3-0996-747F5F11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0200" y="6356350"/>
            <a:ext cx="1400452" cy="365125"/>
          </a:xfrm>
          <a:prstGeom prst="rect">
            <a:avLst/>
          </a:prstGeom>
        </p:spPr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FD6C-254B-CDC4-EBB3-9E385D63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652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15FD-0678-E2C6-8289-C8E1B15C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5452" y="6356350"/>
            <a:ext cx="1083816" cy="365125"/>
          </a:xfrm>
          <a:prstGeom prst="rect">
            <a:avLst/>
          </a:prstGeom>
        </p:spPr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9CAFFCE-0BA2-B319-26CC-CF826ECB0F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7866" y="1920582"/>
            <a:ext cx="3064073" cy="529655"/>
          </a:xfrm>
        </p:spPr>
        <p:txBody>
          <a:bodyPr/>
          <a:lstStyle>
            <a:lvl1pPr marL="0" indent="0">
              <a:lnSpc>
                <a:spcPts val="2000"/>
              </a:lnSpc>
              <a:buFontTx/>
              <a:buNone/>
              <a:defRPr sz="1800" b="1" i="0" baseline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b="1" i="0" baseline="0">
                <a:solidFill>
                  <a:schemeClr val="tx2"/>
                </a:solidFill>
              </a:defRPr>
            </a:lvl2pPr>
            <a:lvl3pPr marL="914400" indent="0">
              <a:buFontTx/>
              <a:buNone/>
              <a:defRPr b="1" i="0" baseline="0">
                <a:solidFill>
                  <a:schemeClr val="tx2"/>
                </a:solidFill>
              </a:defRPr>
            </a:lvl3pPr>
            <a:lvl4pPr marL="1371600" indent="0">
              <a:buFontTx/>
              <a:buNone/>
              <a:defRPr b="1" i="0" baseline="0">
                <a:solidFill>
                  <a:schemeClr val="tx2"/>
                </a:solidFill>
              </a:defRPr>
            </a:lvl4pPr>
            <a:lvl5pPr marL="1828800" indent="0">
              <a:buFontTx/>
              <a:buNone/>
              <a:defRPr b="1" i="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762B7-FE48-E246-3A7A-3E6872B2A48A}"/>
              </a:ext>
            </a:extLst>
          </p:cNvPr>
          <p:cNvSpPr/>
          <p:nvPr/>
        </p:nvSpPr>
        <p:spPr>
          <a:xfrm>
            <a:off x="0" y="0"/>
            <a:ext cx="800100" cy="407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AB8EC-7CC5-1C38-EB51-B47703E44B57}"/>
              </a:ext>
            </a:extLst>
          </p:cNvPr>
          <p:cNvSpPr/>
          <p:nvPr/>
        </p:nvSpPr>
        <p:spPr>
          <a:xfrm>
            <a:off x="0" y="407406"/>
            <a:ext cx="800100" cy="58206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D75727-F432-3288-93E3-857043617EAA}"/>
              </a:ext>
            </a:extLst>
          </p:cNvPr>
          <p:cNvSpPr/>
          <p:nvPr/>
        </p:nvSpPr>
        <p:spPr>
          <a:xfrm>
            <a:off x="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8FE1F7-7A3C-A0F3-3885-C3B908758175}"/>
              </a:ext>
            </a:extLst>
          </p:cNvPr>
          <p:cNvSpPr/>
          <p:nvPr/>
        </p:nvSpPr>
        <p:spPr>
          <a:xfrm>
            <a:off x="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63DC62F-97DA-6BD8-152D-3436EA4955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520472" y="2450237"/>
            <a:ext cx="3064074" cy="3218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78AA4F8A-CDC0-7942-A952-2D5DA73CF8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0179" y="1920582"/>
            <a:ext cx="3064073" cy="529655"/>
          </a:xfrm>
        </p:spPr>
        <p:txBody>
          <a:bodyPr/>
          <a:lstStyle>
            <a:lvl1pPr marL="0" indent="0">
              <a:lnSpc>
                <a:spcPts val="2000"/>
              </a:lnSpc>
              <a:buFontTx/>
              <a:buNone/>
              <a:defRPr sz="1800" b="1" i="0" baseline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b="1" i="0" baseline="0">
                <a:solidFill>
                  <a:schemeClr val="tx2"/>
                </a:solidFill>
              </a:defRPr>
            </a:lvl2pPr>
            <a:lvl3pPr marL="914400" indent="0">
              <a:buFontTx/>
              <a:buNone/>
              <a:defRPr b="1" i="0" baseline="0">
                <a:solidFill>
                  <a:schemeClr val="tx2"/>
                </a:solidFill>
              </a:defRPr>
            </a:lvl3pPr>
            <a:lvl4pPr marL="1371600" indent="0">
              <a:buFontTx/>
              <a:buNone/>
              <a:defRPr b="1" i="0" baseline="0">
                <a:solidFill>
                  <a:schemeClr val="tx2"/>
                </a:solidFill>
              </a:defRPr>
            </a:lvl4pPr>
            <a:lvl5pPr marL="1828800" indent="0">
              <a:buFontTx/>
              <a:buNone/>
              <a:defRPr b="1" i="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0">
            <a:extLst>
              <a:ext uri="{FF2B5EF4-FFF2-40B4-BE49-F238E27FC236}">
                <a16:creationId xmlns:a16="http://schemas.microsoft.com/office/drawing/2014/main" id="{3AC9D047-7773-F3C7-1CAE-400D093E383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952785" y="2450237"/>
            <a:ext cx="3061468" cy="3218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9CC383C9-2C64-5407-3C41-23F2BA3017C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2553" y="1920582"/>
            <a:ext cx="3064073" cy="529655"/>
          </a:xfrm>
        </p:spPr>
        <p:txBody>
          <a:bodyPr/>
          <a:lstStyle>
            <a:lvl1pPr marL="0" indent="0">
              <a:lnSpc>
                <a:spcPts val="2000"/>
              </a:lnSpc>
              <a:buFontTx/>
              <a:buNone/>
              <a:defRPr sz="1800" b="1" i="0" baseline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b="1" i="0" baseline="0">
                <a:solidFill>
                  <a:schemeClr val="tx2"/>
                </a:solidFill>
              </a:defRPr>
            </a:lvl2pPr>
            <a:lvl3pPr marL="914400" indent="0">
              <a:buFontTx/>
              <a:buNone/>
              <a:defRPr b="1" i="0" baseline="0">
                <a:solidFill>
                  <a:schemeClr val="tx2"/>
                </a:solidFill>
              </a:defRPr>
            </a:lvl3pPr>
            <a:lvl4pPr marL="1371600" indent="0">
              <a:buFontTx/>
              <a:buNone/>
              <a:defRPr b="1" i="0" baseline="0">
                <a:solidFill>
                  <a:schemeClr val="tx2"/>
                </a:solidFill>
              </a:defRPr>
            </a:lvl4pPr>
            <a:lvl5pPr marL="1828800" indent="0">
              <a:buFontTx/>
              <a:buNone/>
              <a:defRPr b="1" i="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ED6D881B-4DB9-A034-28D8-2BA6BAC613E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370268" y="2450237"/>
            <a:ext cx="3061469" cy="3218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07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Slide w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02CC-B17D-BFA8-A270-645E5F78BC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4014" y="636870"/>
            <a:ext cx="9951821" cy="1158265"/>
          </a:xfrm>
        </p:spPr>
        <p:txBody>
          <a:bodyPr anchor="t" anchorCtr="0">
            <a:noAutofit/>
          </a:bodyPr>
          <a:lstStyle>
            <a:lvl1pPr>
              <a:defRPr sz="4000" baseline="0"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8BDE4-C76E-EEA3-0996-747F5F11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0200" y="6356350"/>
            <a:ext cx="1400452" cy="365125"/>
          </a:xfrm>
          <a:prstGeom prst="rect">
            <a:avLst/>
          </a:prstGeom>
        </p:spPr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FD6C-254B-CDC4-EBB3-9E385D63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652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15FD-0678-E2C6-8289-C8E1B15C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5452" y="6356350"/>
            <a:ext cx="1083816" cy="365125"/>
          </a:xfrm>
          <a:prstGeom prst="rect">
            <a:avLst/>
          </a:prstGeom>
        </p:spPr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9CAFFCE-0BA2-B319-26CC-CF826ECB0F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7866" y="1920582"/>
            <a:ext cx="4927321" cy="529655"/>
          </a:xfrm>
        </p:spPr>
        <p:txBody>
          <a:bodyPr/>
          <a:lstStyle>
            <a:lvl1pPr marL="0" indent="0">
              <a:lnSpc>
                <a:spcPts val="2000"/>
              </a:lnSpc>
              <a:buFontTx/>
              <a:buNone/>
              <a:defRPr sz="1800" b="1" i="0" baseline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b="1" i="0" baseline="0">
                <a:solidFill>
                  <a:schemeClr val="tx2"/>
                </a:solidFill>
              </a:defRPr>
            </a:lvl2pPr>
            <a:lvl3pPr marL="914400" indent="0">
              <a:buFontTx/>
              <a:buNone/>
              <a:defRPr b="1" i="0" baseline="0">
                <a:solidFill>
                  <a:schemeClr val="tx2"/>
                </a:solidFill>
              </a:defRPr>
            </a:lvl3pPr>
            <a:lvl4pPr marL="1371600" indent="0">
              <a:buFontTx/>
              <a:buNone/>
              <a:defRPr b="1" i="0" baseline="0">
                <a:solidFill>
                  <a:schemeClr val="tx2"/>
                </a:solidFill>
              </a:defRPr>
            </a:lvl4pPr>
            <a:lvl5pPr marL="1828800" indent="0">
              <a:buFontTx/>
              <a:buNone/>
              <a:defRPr b="1" i="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762B7-FE48-E246-3A7A-3E6872B2A48A}"/>
              </a:ext>
            </a:extLst>
          </p:cNvPr>
          <p:cNvSpPr/>
          <p:nvPr/>
        </p:nvSpPr>
        <p:spPr>
          <a:xfrm>
            <a:off x="0" y="0"/>
            <a:ext cx="800100" cy="407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AB8EC-7CC5-1C38-EB51-B47703E44B57}"/>
              </a:ext>
            </a:extLst>
          </p:cNvPr>
          <p:cNvSpPr/>
          <p:nvPr/>
        </p:nvSpPr>
        <p:spPr>
          <a:xfrm>
            <a:off x="0" y="407406"/>
            <a:ext cx="800100" cy="58206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D75727-F432-3288-93E3-857043617EAA}"/>
              </a:ext>
            </a:extLst>
          </p:cNvPr>
          <p:cNvSpPr/>
          <p:nvPr/>
        </p:nvSpPr>
        <p:spPr>
          <a:xfrm>
            <a:off x="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8FE1F7-7A3C-A0F3-3885-C3B908758175}"/>
              </a:ext>
            </a:extLst>
          </p:cNvPr>
          <p:cNvSpPr/>
          <p:nvPr/>
        </p:nvSpPr>
        <p:spPr>
          <a:xfrm>
            <a:off x="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63DC62F-97DA-6BD8-152D-3436EA4955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517866" y="2454230"/>
            <a:ext cx="4927321" cy="3218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8992FB40-4BD9-C860-BC05-8DDCF80032D8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705600" y="1981200"/>
            <a:ext cx="4764088" cy="37200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30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 column Slide w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02CC-B17D-BFA8-A270-645E5F78BC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7791" y="639611"/>
            <a:ext cx="5187732" cy="1158265"/>
          </a:xfrm>
        </p:spPr>
        <p:txBody>
          <a:bodyPr anchor="t" anchorCtr="0">
            <a:noAutofit/>
          </a:bodyPr>
          <a:lstStyle>
            <a:lvl1pPr>
              <a:defRPr sz="4000" baseline="0"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8BDE4-C76E-EEA3-0996-747F5F11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0200" y="6356350"/>
            <a:ext cx="1400452" cy="365125"/>
          </a:xfrm>
          <a:prstGeom prst="rect">
            <a:avLst/>
          </a:prstGeom>
        </p:spPr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FD6C-254B-CDC4-EBB3-9E385D63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652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15FD-0678-E2C6-8289-C8E1B15C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5452" y="6356350"/>
            <a:ext cx="1083816" cy="365125"/>
          </a:xfrm>
          <a:prstGeom prst="rect">
            <a:avLst/>
          </a:prstGeom>
        </p:spPr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9CAFFCE-0BA2-B319-26CC-CF826ECB0F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7866" y="1920582"/>
            <a:ext cx="5187734" cy="529655"/>
          </a:xfrm>
        </p:spPr>
        <p:txBody>
          <a:bodyPr/>
          <a:lstStyle>
            <a:lvl1pPr marL="0" indent="0">
              <a:lnSpc>
                <a:spcPts val="2000"/>
              </a:lnSpc>
              <a:buFontTx/>
              <a:buNone/>
              <a:defRPr sz="1800" b="1" i="0" baseline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b="1" i="0" baseline="0">
                <a:solidFill>
                  <a:schemeClr val="tx2"/>
                </a:solidFill>
              </a:defRPr>
            </a:lvl2pPr>
            <a:lvl3pPr marL="914400" indent="0">
              <a:buFontTx/>
              <a:buNone/>
              <a:defRPr b="1" i="0" baseline="0">
                <a:solidFill>
                  <a:schemeClr val="tx2"/>
                </a:solidFill>
              </a:defRPr>
            </a:lvl3pPr>
            <a:lvl4pPr marL="1371600" indent="0">
              <a:buFontTx/>
              <a:buNone/>
              <a:defRPr b="1" i="0" baseline="0">
                <a:solidFill>
                  <a:schemeClr val="tx2"/>
                </a:solidFill>
              </a:defRPr>
            </a:lvl4pPr>
            <a:lvl5pPr marL="1828800" indent="0">
              <a:buFontTx/>
              <a:buNone/>
              <a:defRPr b="1" i="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762B7-FE48-E246-3A7A-3E6872B2A48A}"/>
              </a:ext>
            </a:extLst>
          </p:cNvPr>
          <p:cNvSpPr/>
          <p:nvPr/>
        </p:nvSpPr>
        <p:spPr>
          <a:xfrm>
            <a:off x="0" y="0"/>
            <a:ext cx="800100" cy="407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AB8EC-7CC5-1C38-EB51-B47703E44B57}"/>
              </a:ext>
            </a:extLst>
          </p:cNvPr>
          <p:cNvSpPr/>
          <p:nvPr/>
        </p:nvSpPr>
        <p:spPr>
          <a:xfrm>
            <a:off x="0" y="407405"/>
            <a:ext cx="800100" cy="5725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D75727-F432-3288-93E3-857043617EAA}"/>
              </a:ext>
            </a:extLst>
          </p:cNvPr>
          <p:cNvSpPr/>
          <p:nvPr/>
        </p:nvSpPr>
        <p:spPr>
          <a:xfrm>
            <a:off x="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8FE1F7-7A3C-A0F3-3885-C3B908758175}"/>
              </a:ext>
            </a:extLst>
          </p:cNvPr>
          <p:cNvSpPr/>
          <p:nvPr/>
        </p:nvSpPr>
        <p:spPr>
          <a:xfrm>
            <a:off x="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263DC62F-97DA-6BD8-152D-3436EA4955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517866" y="2450237"/>
            <a:ext cx="5187734" cy="32181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F679E1C-F067-82DA-EB20-89CDD8639D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115175" y="769951"/>
            <a:ext cx="4275138" cy="467042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5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98A22DD4-038C-7D93-4D61-B73C10E5BEB7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1600200" y="1981201"/>
            <a:ext cx="9763218" cy="3728719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Insert Table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A06DA-3C58-3AF9-D6BE-E17106FB8540}"/>
              </a:ext>
            </a:extLst>
          </p:cNvPr>
          <p:cNvSpPr/>
          <p:nvPr/>
        </p:nvSpPr>
        <p:spPr>
          <a:xfrm>
            <a:off x="0" y="0"/>
            <a:ext cx="800100" cy="407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E5EA0D-48A4-C6C4-7CA7-2BFD6C7514FE}"/>
              </a:ext>
            </a:extLst>
          </p:cNvPr>
          <p:cNvSpPr/>
          <p:nvPr/>
        </p:nvSpPr>
        <p:spPr>
          <a:xfrm>
            <a:off x="0" y="407406"/>
            <a:ext cx="800100" cy="58206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49F1C8-0009-D827-8EEE-3BA701AC2EEC}"/>
              </a:ext>
            </a:extLst>
          </p:cNvPr>
          <p:cNvSpPr/>
          <p:nvPr/>
        </p:nvSpPr>
        <p:spPr>
          <a:xfrm>
            <a:off x="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E1CBA-7E35-B977-9B7F-37092F49AB53}"/>
              </a:ext>
            </a:extLst>
          </p:cNvPr>
          <p:cNvSpPr/>
          <p:nvPr/>
        </p:nvSpPr>
        <p:spPr>
          <a:xfrm>
            <a:off x="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0DDB8B1-0922-5FEE-558D-34DDD1F5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0200" y="6356350"/>
            <a:ext cx="1400452" cy="365125"/>
          </a:xfrm>
          <a:prstGeom prst="rect">
            <a:avLst/>
          </a:prstGeom>
        </p:spPr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2393EF6-C3B0-4488-F4D3-AB5AE683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652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E6BFC7F-43C0-28A2-0B7A-C4A14C1B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5452" y="6356350"/>
            <a:ext cx="1083816" cy="365125"/>
          </a:xfrm>
          <a:prstGeom prst="rect">
            <a:avLst/>
          </a:prstGeom>
        </p:spPr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AD9C05-BB97-D29B-EABA-DEDF5A6C9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3616" y="635835"/>
            <a:ext cx="9845550" cy="1158265"/>
          </a:xfrm>
        </p:spPr>
        <p:txBody>
          <a:bodyPr anchor="t" anchorCtr="0">
            <a:noAutofit/>
          </a:bodyPr>
          <a:lstStyle>
            <a:lvl1pPr>
              <a:defRPr sz="4000" baseline="0"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52469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ral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EF8E54-81A9-A78B-3059-0A1DAF34AA3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517868" y="1981200"/>
            <a:ext cx="9845550" cy="3738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95903-B8C9-68B8-B1F4-C782ABFBBE12}"/>
              </a:ext>
            </a:extLst>
          </p:cNvPr>
          <p:cNvSpPr/>
          <p:nvPr/>
        </p:nvSpPr>
        <p:spPr>
          <a:xfrm>
            <a:off x="0" y="0"/>
            <a:ext cx="800100" cy="407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3F94B7-8BE3-6BE0-23EB-8EBA48EA2BDD}"/>
              </a:ext>
            </a:extLst>
          </p:cNvPr>
          <p:cNvSpPr/>
          <p:nvPr/>
        </p:nvSpPr>
        <p:spPr>
          <a:xfrm>
            <a:off x="0" y="407406"/>
            <a:ext cx="800100" cy="58206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142EC-D817-2933-6140-62D72113C588}"/>
              </a:ext>
            </a:extLst>
          </p:cNvPr>
          <p:cNvSpPr/>
          <p:nvPr/>
        </p:nvSpPr>
        <p:spPr>
          <a:xfrm>
            <a:off x="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44336-6D0E-0C5C-A158-4C4854DE97EE}"/>
              </a:ext>
            </a:extLst>
          </p:cNvPr>
          <p:cNvSpPr/>
          <p:nvPr/>
        </p:nvSpPr>
        <p:spPr>
          <a:xfrm>
            <a:off x="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CFB78BFD-BEA4-C681-9C94-362E6245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0200" y="6356350"/>
            <a:ext cx="1400452" cy="365125"/>
          </a:xfrm>
          <a:prstGeom prst="rect">
            <a:avLst/>
          </a:prstGeom>
        </p:spPr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2CAE4B3-ACA6-E9CB-83F0-E5E94471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652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F5F34AA-9624-6E3A-E2E7-6350746A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5452" y="6356350"/>
            <a:ext cx="1083816" cy="365125"/>
          </a:xfrm>
          <a:prstGeom prst="rect">
            <a:avLst/>
          </a:prstGeom>
        </p:spPr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65B8-271B-FA4F-FDE5-87DA1C571A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4015" y="636353"/>
            <a:ext cx="9845550" cy="1158265"/>
          </a:xfrm>
        </p:spPr>
        <p:txBody>
          <a:bodyPr anchor="t" anchorCtr="0">
            <a:noAutofit/>
          </a:bodyPr>
          <a:lstStyle>
            <a:lvl1pPr>
              <a:defRPr sz="4000" baseline="0"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53156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611BDE-D6CD-401A-8CDA-77BF2E91F5C6}"/>
              </a:ext>
            </a:extLst>
          </p:cNvPr>
          <p:cNvSpPr/>
          <p:nvPr/>
        </p:nvSpPr>
        <p:spPr>
          <a:xfrm>
            <a:off x="0" y="0"/>
            <a:ext cx="800100" cy="407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ED269C-734A-789C-7552-8810D1932F76}"/>
              </a:ext>
            </a:extLst>
          </p:cNvPr>
          <p:cNvSpPr/>
          <p:nvPr/>
        </p:nvSpPr>
        <p:spPr>
          <a:xfrm>
            <a:off x="0" y="407406"/>
            <a:ext cx="800100" cy="586131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55C5EE-C77D-04FF-AEE6-4CFFA3B1A134}"/>
              </a:ext>
            </a:extLst>
          </p:cNvPr>
          <p:cNvSpPr/>
          <p:nvPr/>
        </p:nvSpPr>
        <p:spPr>
          <a:xfrm>
            <a:off x="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2C9729-D3CE-54E4-7332-451B2E8A3726}"/>
              </a:ext>
            </a:extLst>
          </p:cNvPr>
          <p:cNvSpPr/>
          <p:nvPr/>
        </p:nvSpPr>
        <p:spPr>
          <a:xfrm>
            <a:off x="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D2F01AC-51A7-3A40-8AF2-7CA49558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0200" y="6356350"/>
            <a:ext cx="1400452" cy="365125"/>
          </a:xfrm>
          <a:prstGeom prst="rect">
            <a:avLst/>
          </a:prstGeom>
        </p:spPr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7BD05FE-C4D6-817C-6C54-8BEA11777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0652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0F2FDDA-3C86-E0A1-30E9-74B882BF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5452" y="6356350"/>
            <a:ext cx="1083816" cy="365125"/>
          </a:xfrm>
          <a:prstGeom prst="rect">
            <a:avLst/>
          </a:prstGeom>
        </p:spPr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12A256-E9B0-3029-8A73-28180CD5E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3616" y="635438"/>
            <a:ext cx="9845550" cy="1158265"/>
          </a:xfrm>
        </p:spPr>
        <p:txBody>
          <a:bodyPr anchor="t" anchorCtr="0">
            <a:noAutofit/>
          </a:bodyPr>
          <a:lstStyle>
            <a:lvl1pPr>
              <a:defRPr sz="4000" baseline="0">
                <a:latin typeface="+mn-lt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881663B0-35CF-F099-B5AC-3B39C481265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600200" y="1762126"/>
            <a:ext cx="9763125" cy="3957954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95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A5B49E-E5F9-FA2F-C02A-B61A20453106}"/>
              </a:ext>
            </a:extLst>
          </p:cNvPr>
          <p:cNvSpPr/>
          <p:nvPr/>
        </p:nvSpPr>
        <p:spPr>
          <a:xfrm>
            <a:off x="0" y="0"/>
            <a:ext cx="800100" cy="407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A0B3FE-8AAD-BF30-8FD2-0754DA6931EA}"/>
              </a:ext>
            </a:extLst>
          </p:cNvPr>
          <p:cNvSpPr/>
          <p:nvPr/>
        </p:nvSpPr>
        <p:spPr>
          <a:xfrm>
            <a:off x="0" y="407406"/>
            <a:ext cx="800100" cy="58308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F3E31D-07D4-CEDE-63CF-54435160562B}"/>
              </a:ext>
            </a:extLst>
          </p:cNvPr>
          <p:cNvSpPr/>
          <p:nvPr/>
        </p:nvSpPr>
        <p:spPr>
          <a:xfrm>
            <a:off x="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33B7FE-6977-392D-45FB-1B50BA99EE9F}"/>
              </a:ext>
            </a:extLst>
          </p:cNvPr>
          <p:cNvSpPr/>
          <p:nvPr/>
        </p:nvSpPr>
        <p:spPr>
          <a:xfrm>
            <a:off x="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A96F7307-7862-C9B7-B016-3E11F040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E185FE7C-2AD4-E197-B71B-1B014594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E2391B9-7AB5-56DF-AFC8-DAC6F9649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BDF5DE-DB65-8D90-7C62-333A96BB7A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199" t="5483" r="49060" b="67217"/>
          <a:stretch/>
        </p:blipFill>
        <p:spPr>
          <a:xfrm>
            <a:off x="1375576" y="407406"/>
            <a:ext cx="1105232" cy="872754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534FFF5-3AD4-029C-B231-EE279758D9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0318" y="1972475"/>
            <a:ext cx="9641179" cy="2267016"/>
          </a:xfrm>
        </p:spPr>
        <p:txBody>
          <a:bodyPr anchor="t" anchorCtr="0"/>
          <a:lstStyle>
            <a:lvl1pPr marL="0" indent="0">
              <a:lnSpc>
                <a:spcPts val="5500"/>
              </a:lnSpc>
              <a:buFontTx/>
              <a:buNone/>
              <a:defRPr sz="5000" baseline="0">
                <a:solidFill>
                  <a:schemeClr val="tx2"/>
                </a:solidFill>
              </a:defRPr>
            </a:lvl1pPr>
            <a:lvl2pPr marL="228600" indent="0">
              <a:buFontTx/>
              <a:buNone/>
              <a:defRPr sz="5000" baseline="0">
                <a:solidFill>
                  <a:schemeClr val="tx2"/>
                </a:solidFill>
              </a:defRPr>
            </a:lvl2pPr>
            <a:lvl3pPr marL="228600" indent="0">
              <a:buFontTx/>
              <a:buNone/>
              <a:defRPr sz="5000" baseline="0">
                <a:solidFill>
                  <a:schemeClr val="tx2"/>
                </a:solidFill>
              </a:defRPr>
            </a:lvl3pPr>
            <a:lvl4pPr marL="228600" indent="0">
              <a:buFontTx/>
              <a:buNone/>
              <a:defRPr sz="5000" baseline="0">
                <a:solidFill>
                  <a:schemeClr val="tx2"/>
                </a:solidFill>
              </a:defRPr>
            </a:lvl4pPr>
            <a:lvl5pPr marL="228600" indent="0">
              <a:buFontTx/>
              <a:buNone/>
              <a:defRPr sz="500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0C4FC97-A722-D9C3-10A4-8C647DD07C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61865" y="4478972"/>
            <a:ext cx="3027362" cy="1117600"/>
          </a:xfrm>
        </p:spPr>
        <p:txBody>
          <a:bodyPr/>
          <a:lstStyle>
            <a:lvl1pPr marL="0" indent="0" algn="r">
              <a:buFontTx/>
              <a:buNone/>
              <a:defRPr sz="2400" baseline="0">
                <a:solidFill>
                  <a:schemeClr val="tx2"/>
                </a:solidFill>
              </a:defRPr>
            </a:lvl1pPr>
            <a:lvl2pPr marL="228600" indent="0">
              <a:buFontTx/>
              <a:buNone/>
              <a:defRPr baseline="0">
                <a:solidFill>
                  <a:schemeClr val="tx2"/>
                </a:solidFill>
              </a:defRPr>
            </a:lvl2pPr>
            <a:lvl3pPr marL="228600" indent="0">
              <a:buFontTx/>
              <a:buNone/>
              <a:defRPr baseline="0">
                <a:solidFill>
                  <a:schemeClr val="tx2"/>
                </a:solidFill>
              </a:defRPr>
            </a:lvl3pPr>
            <a:lvl4pPr marL="228600" indent="0">
              <a:buFontTx/>
              <a:buNone/>
              <a:defRPr baseline="0">
                <a:solidFill>
                  <a:schemeClr val="tx2"/>
                </a:solidFill>
              </a:defRPr>
            </a:lvl4pPr>
            <a:lvl5pPr marL="228600" indent="0">
              <a:buFontTx/>
              <a:buNone/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2151045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5BB161-9511-37BF-CFA5-978A4331C148}"/>
              </a:ext>
            </a:extLst>
          </p:cNvPr>
          <p:cNvSpPr/>
          <p:nvPr/>
        </p:nvSpPr>
        <p:spPr>
          <a:xfrm>
            <a:off x="0" y="0"/>
            <a:ext cx="3604846" cy="13979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3F0808-42D4-F9CA-8423-F986453CFE20}"/>
              </a:ext>
            </a:extLst>
          </p:cNvPr>
          <p:cNvSpPr/>
          <p:nvPr/>
        </p:nvSpPr>
        <p:spPr>
          <a:xfrm>
            <a:off x="0" y="1397976"/>
            <a:ext cx="3604846" cy="48097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3BA47F-C00E-47CB-49A8-D38CFFD44ABA}"/>
              </a:ext>
            </a:extLst>
          </p:cNvPr>
          <p:cNvSpPr/>
          <p:nvPr/>
        </p:nvSpPr>
        <p:spPr>
          <a:xfrm>
            <a:off x="0" y="6132920"/>
            <a:ext cx="3604846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E7A0A2-7B63-423C-6F6E-45F5FCD1CCFE}"/>
              </a:ext>
            </a:extLst>
          </p:cNvPr>
          <p:cNvSpPr/>
          <p:nvPr/>
        </p:nvSpPr>
        <p:spPr>
          <a:xfrm>
            <a:off x="0" y="6713789"/>
            <a:ext cx="3604846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87A5D5-C41D-4812-EF47-59722D273E1B}"/>
              </a:ext>
            </a:extLst>
          </p:cNvPr>
          <p:cNvSpPr/>
          <p:nvPr/>
        </p:nvSpPr>
        <p:spPr>
          <a:xfrm>
            <a:off x="11391900" y="0"/>
            <a:ext cx="800100" cy="13979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29D16B-3F8C-BD7E-E229-9B0C0DE5B904}"/>
              </a:ext>
            </a:extLst>
          </p:cNvPr>
          <p:cNvSpPr/>
          <p:nvPr/>
        </p:nvSpPr>
        <p:spPr>
          <a:xfrm>
            <a:off x="11391900" y="1397976"/>
            <a:ext cx="800100" cy="48097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C2116E-AC6B-7EDF-1EE4-D2F4426702EE}"/>
              </a:ext>
            </a:extLst>
          </p:cNvPr>
          <p:cNvSpPr/>
          <p:nvPr/>
        </p:nvSpPr>
        <p:spPr>
          <a:xfrm>
            <a:off x="11391900" y="6132920"/>
            <a:ext cx="800100" cy="5808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A1199-9619-3B7B-BBD1-61DF137F6015}"/>
              </a:ext>
            </a:extLst>
          </p:cNvPr>
          <p:cNvSpPr/>
          <p:nvPr/>
        </p:nvSpPr>
        <p:spPr>
          <a:xfrm>
            <a:off x="11391900" y="6713789"/>
            <a:ext cx="800100" cy="1442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tional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31687-903D-FA29-CAE3-94E6CFF14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A5FF12-EABD-8B32-D162-0945BA31F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658AD2-E119-966A-628A-0EF6768E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3B7760-81ED-7206-2D52-1C773DE6223F}"/>
              </a:ext>
            </a:extLst>
          </p:cNvPr>
          <p:cNvSpPr txBox="1">
            <a:spLocks/>
          </p:cNvSpPr>
          <p:nvPr/>
        </p:nvSpPr>
        <p:spPr>
          <a:xfrm>
            <a:off x="1482639" y="3955160"/>
            <a:ext cx="9845550" cy="115826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8069BA6-7B86-AAF1-0259-0E34177D9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2639" y="4987185"/>
            <a:ext cx="6633527" cy="481074"/>
          </a:xfrm>
        </p:spPr>
        <p:txBody>
          <a:bodyPr>
            <a:noAutofit/>
          </a:bodyPr>
          <a:lstStyle>
            <a:lvl1pPr marL="0" indent="0" algn="l">
              <a:buNone/>
              <a:defRPr sz="32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86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tional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BEC8C-0D20-A268-52DB-BA91537E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18F3F-1E39-60B5-3A1F-F9AD9129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59F59-4699-BD10-B5DF-0297C51D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1FBE379-707C-15C3-FF7D-C1F6741C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033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ptional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5C15C-4CAA-D237-97EB-3EEEE3356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14B2D-1E10-448B-5C05-81A1249CB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C3EC0-5FD1-9189-BD2D-D7E02EDC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707BB-F259-4D83-839F-2ABE0F4A8C61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9205E-62D6-55A8-CC8F-CE5BE887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113078-502B-0587-8EED-1EE67885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1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61708-C856-5679-5F26-DFD654490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301" y="662893"/>
            <a:ext cx="9844596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BA814-9AC9-5238-F0A1-89F9D61B5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0200" y="198845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10D8D-B5B5-FA5C-2E75-85268E634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00200" y="6374044"/>
            <a:ext cx="1981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707BB-F259-4D83-839F-2ABE0F4A8C6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07592-D92D-5E48-1F23-4A48048F6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400" y="63740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A7535-84D4-1921-62EB-192F99FD2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24600" y="6374043"/>
            <a:ext cx="1612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6C538-CC72-4FB8-85E1-4D3EC643C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68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1" r:id="rId2"/>
    <p:sldLayoutId id="2147483650" r:id="rId3"/>
    <p:sldLayoutId id="2147483675" r:id="rId4"/>
    <p:sldLayoutId id="2147483673" r:id="rId5"/>
    <p:sldLayoutId id="2147483674" r:id="rId6"/>
    <p:sldLayoutId id="2147483662" r:id="rId7"/>
    <p:sldLayoutId id="2147483672" r:id="rId8"/>
    <p:sldLayoutId id="2147483654" r:id="rId9"/>
    <p:sldLayoutId id="2147483676" r:id="rId10"/>
    <p:sldLayoutId id="2147483677" r:id="rId11"/>
    <p:sldLayoutId id="2147483651" r:id="rId12"/>
    <p:sldLayoutId id="2147483655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160020" indent="-160020" algn="l" defTabSz="914400" rtl="0" eaLnBrk="1" latinLnBrk="0" hangingPunct="1">
        <a:lnSpc>
          <a:spcPts val="2000"/>
        </a:lnSpc>
        <a:spcBef>
          <a:spcPts val="1000"/>
        </a:spcBef>
        <a:buFont typeface="Wingdings" pitchFamily="2" charset="2"/>
        <a:buChar char="§"/>
        <a:defRPr sz="16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ts val="1800"/>
        </a:lnSpc>
        <a:spcBef>
          <a:spcPts val="500"/>
        </a:spcBef>
        <a:buFont typeface="Apple Symbols" panose="02000000000000000000" pitchFamily="2" charset="-79"/>
        <a:buChar char="⎻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40080" indent="-137160" algn="l" defTabSz="914400" rtl="0" eaLnBrk="1" latinLnBrk="0" hangingPunct="1">
        <a:lnSpc>
          <a:spcPts val="1600"/>
        </a:lnSpc>
        <a:spcBef>
          <a:spcPts val="500"/>
        </a:spcBef>
        <a:buFont typeface="Arial" panose="020B0604020202020204" pitchFamily="34" charset="0"/>
        <a:buChar char="•"/>
        <a:defRPr sz="12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640080" indent="-137160" algn="l" defTabSz="914400" rtl="0" eaLnBrk="1" latinLnBrk="0" hangingPunct="1">
        <a:lnSpc>
          <a:spcPts val="1600"/>
        </a:lnSpc>
        <a:spcBef>
          <a:spcPts val="500"/>
        </a:spcBef>
        <a:buFont typeface="Arial" panose="020B0604020202020204" pitchFamily="34" charset="0"/>
        <a:buChar char="•"/>
        <a:defRPr sz="12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640080" indent="-137160" algn="l" defTabSz="914400" rtl="0" eaLnBrk="1" latinLnBrk="0" hangingPunct="1">
        <a:lnSpc>
          <a:spcPts val="1600"/>
        </a:lnSpc>
        <a:spcBef>
          <a:spcPts val="500"/>
        </a:spcBef>
        <a:buFont typeface="Arial" panose="020B0604020202020204" pitchFamily="34" charset="0"/>
        <a:buChar char="•"/>
        <a:defRPr sz="12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2" orient="horz" pos="4056">
          <p15:clr>
            <a:srgbClr val="F26B43"/>
          </p15:clr>
        </p15:guide>
        <p15:guide id="27" pos="504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>
          <p15:clr>
            <a:srgbClr val="F26B43"/>
          </p15:clr>
        </p15:guide>
        <p15:guide id="30" pos="1008">
          <p15:clr>
            <a:srgbClr val="F26B43"/>
          </p15:clr>
        </p15:guide>
        <p15:guide id="31" orient="horz" pos="480">
          <p15:clr>
            <a:srgbClr val="F26B43"/>
          </p15:clr>
        </p15:guide>
        <p15:guide id="32" pos="4224">
          <p15:clr>
            <a:srgbClr val="F26B43"/>
          </p15:clr>
        </p15:guide>
        <p15:guide id="33" orient="horz" pos="12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5C21C21-4D34-3DCA-2668-360A4D527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893" y="5194116"/>
            <a:ext cx="7270744" cy="481074"/>
          </a:xfrm>
        </p:spPr>
        <p:txBody>
          <a:bodyPr/>
          <a:lstStyle/>
          <a:p>
            <a:r>
              <a:rPr lang="en-US" sz="2400" dirty="0"/>
              <a:t>Presented by: Margaret Holstege, MD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A0867C-2DD8-F90B-9802-98138BD468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4000" b="1" dirty="0"/>
              <a:t>Optimization of Pregnancy Testing in the University of Virginia Emergency Department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AEDB4-517F-BB26-E65B-3C1D6039FF8B}"/>
              </a:ext>
            </a:extLst>
          </p:cNvPr>
          <p:cNvSpPr txBox="1"/>
          <p:nvPr/>
        </p:nvSpPr>
        <p:spPr>
          <a:xfrm>
            <a:off x="665893" y="3937631"/>
            <a:ext cx="727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Margaret Holstege, MD; Noel Mukubwa; Moira Smith, MD, MPH; </a:t>
            </a:r>
          </a:p>
          <a:p>
            <a:r>
              <a:rPr lang="en-US" dirty="0">
                <a:solidFill>
                  <a:schemeClr val="accent2"/>
                </a:solidFill>
              </a:rPr>
              <a:t>Timothy Layng DO; Sarah Wendel, MD, MBA</a:t>
            </a:r>
          </a:p>
        </p:txBody>
      </p:sp>
    </p:spTree>
    <p:extLst>
      <p:ext uri="{BB962C8B-B14F-4D97-AF65-F5344CB8AC3E}">
        <p14:creationId xmlns:p14="http://schemas.microsoft.com/office/powerpoint/2010/main" val="936584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8482D-EC20-2F24-86AB-FDEA84D76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No Disclosures</a:t>
            </a:r>
            <a:br>
              <a:rPr lang="en-US" sz="5400" dirty="0"/>
            </a:b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968289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6CACA2-5EEB-05E0-FEFB-039015117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616" y="635835"/>
            <a:ext cx="9845550" cy="670451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BACKGROUND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4ED4C35-AA1F-35A2-7FAE-313178AB6658}"/>
              </a:ext>
            </a:extLst>
          </p:cNvPr>
          <p:cNvGraphicFramePr>
            <a:graphicFrameLocks noGrp="1"/>
          </p:cNvGraphicFramePr>
          <p:nvPr>
            <p:ph type="tbl" sz="quarter" idx="16"/>
            <p:extLst>
              <p:ext uri="{D42A27DB-BD31-4B8C-83A1-F6EECF244321}">
                <p14:modId xmlns:p14="http://schemas.microsoft.com/office/powerpoint/2010/main" val="1318593577"/>
              </p:ext>
            </p:extLst>
          </p:nvPr>
        </p:nvGraphicFramePr>
        <p:xfrm>
          <a:off x="2604648" y="2226130"/>
          <a:ext cx="8734518" cy="3728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Graphic 9" descr="Stopwatch with solid fill">
            <a:extLst>
              <a:ext uri="{FF2B5EF4-FFF2-40B4-BE49-F238E27FC236}">
                <a16:creationId xmlns:a16="http://schemas.microsoft.com/office/drawing/2014/main" id="{6AE7DB2A-A99B-C34D-08B6-3CFAB46030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91932" y="3537489"/>
            <a:ext cx="914400" cy="914400"/>
          </a:xfrm>
          <a:prstGeom prst="rect">
            <a:avLst/>
          </a:prstGeom>
        </p:spPr>
      </p:pic>
      <p:pic>
        <p:nvPicPr>
          <p:cNvPr id="11" name="Graphic 10" descr="Test tubes with solid fill">
            <a:extLst>
              <a:ext uri="{FF2B5EF4-FFF2-40B4-BE49-F238E27FC236}">
                <a16:creationId xmlns:a16="http://schemas.microsoft.com/office/drawing/2014/main" id="{D069E013-E54B-4CE1-B79B-024F9AF9FA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91932" y="4637103"/>
            <a:ext cx="914400" cy="914400"/>
          </a:xfrm>
          <a:prstGeom prst="rect">
            <a:avLst/>
          </a:prstGeom>
        </p:spPr>
      </p:pic>
      <p:pic>
        <p:nvPicPr>
          <p:cNvPr id="19" name="Graphic 18" descr="Chevron arrows with solid fill">
            <a:extLst>
              <a:ext uri="{FF2B5EF4-FFF2-40B4-BE49-F238E27FC236}">
                <a16:creationId xmlns:a16="http://schemas.microsoft.com/office/drawing/2014/main" id="{13459AB3-91BE-E920-95BE-113127EAE3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591932" y="2225604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FDA812-D8C0-178E-3E45-37017F6B55F7}"/>
              </a:ext>
            </a:extLst>
          </p:cNvPr>
          <p:cNvSpPr txBox="1"/>
          <p:nvPr/>
        </p:nvSpPr>
        <p:spPr>
          <a:xfrm>
            <a:off x="1493616" y="1428008"/>
            <a:ext cx="780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Internal Quality Improvement data in the UVA Emergency Department showed: </a:t>
            </a:r>
          </a:p>
        </p:txBody>
      </p:sp>
    </p:spTree>
    <p:extLst>
      <p:ext uri="{BB962C8B-B14F-4D97-AF65-F5344CB8AC3E}">
        <p14:creationId xmlns:p14="http://schemas.microsoft.com/office/powerpoint/2010/main" val="324440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BDF063-F376-A29D-DE4E-2CE9923CE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015" y="636353"/>
            <a:ext cx="9845550" cy="1158265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INTERVENTIONS &amp; STUDY AIM 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13B45E07-CBDF-4F76-8872-258F7C5EB049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2136154557"/>
              </p:ext>
            </p:extLst>
          </p:nvPr>
        </p:nvGraphicFramePr>
        <p:xfrm>
          <a:off x="3405188" y="2500086"/>
          <a:ext cx="6023204" cy="1732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A7D8A13-E1B3-998A-02D3-B8FC4F04BADB}"/>
              </a:ext>
            </a:extLst>
          </p:cNvPr>
          <p:cNvSpPr txBox="1"/>
          <p:nvPr/>
        </p:nvSpPr>
        <p:spPr>
          <a:xfrm>
            <a:off x="1494015" y="1553170"/>
            <a:ext cx="9845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To improve efficiency, decrease costs, and reduce unnecessary serum quantitative hCG testing the following interventions were implemented: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50A9E-A138-3893-093B-5C05B586FB88}"/>
              </a:ext>
            </a:extLst>
          </p:cNvPr>
          <p:cNvSpPr txBox="1"/>
          <p:nvPr/>
        </p:nvSpPr>
        <p:spPr>
          <a:xfrm>
            <a:off x="1494014" y="4570186"/>
            <a:ext cx="100191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rgbClr val="232D4B"/>
              </a:solidFill>
            </a:endParaRPr>
          </a:p>
          <a:p>
            <a:r>
              <a:rPr lang="en-US" sz="2400" b="1" dirty="0">
                <a:solidFill>
                  <a:srgbClr val="232D4B"/>
                </a:solidFill>
              </a:rPr>
              <a:t>Study Aim: </a:t>
            </a:r>
          </a:p>
          <a:p>
            <a:r>
              <a:rPr lang="en-US" dirty="0">
                <a:solidFill>
                  <a:srgbClr val="232D4B"/>
                </a:solidFill>
              </a:rPr>
              <a:t>Evaluate the impact of these interventions on test </a:t>
            </a:r>
            <a:r>
              <a:rPr lang="en-US" b="1" dirty="0">
                <a:solidFill>
                  <a:srgbClr val="232D4B"/>
                </a:solidFill>
              </a:rPr>
              <a:t>utilization, efficiency, appropriateness </a:t>
            </a:r>
            <a:r>
              <a:rPr lang="en-US" dirty="0">
                <a:solidFill>
                  <a:srgbClr val="232D4B"/>
                </a:solidFill>
              </a:rPr>
              <a:t>and </a:t>
            </a:r>
            <a:r>
              <a:rPr lang="en-US" b="1" dirty="0">
                <a:solidFill>
                  <a:srgbClr val="232D4B"/>
                </a:solidFill>
              </a:rPr>
              <a:t>cost.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09881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6C5A9E-E167-E8B1-02DC-558075102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616" y="635835"/>
            <a:ext cx="9845550" cy="1158265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METHODS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F53FEFF5-403F-07E7-BFDC-6C27B38A0AAF}"/>
              </a:ext>
            </a:extLst>
          </p:cNvPr>
          <p:cNvGraphicFramePr>
            <a:graphicFrameLocks noGrp="1"/>
          </p:cNvGraphicFramePr>
          <p:nvPr>
            <p:ph type="tbl" sz="quarter" idx="16"/>
            <p:extLst>
              <p:ext uri="{D42A27DB-BD31-4B8C-83A1-F6EECF244321}">
                <p14:modId xmlns:p14="http://schemas.microsoft.com/office/powerpoint/2010/main" val="3427374348"/>
              </p:ext>
            </p:extLst>
          </p:nvPr>
        </p:nvGraphicFramePr>
        <p:xfrm>
          <a:off x="1575948" y="1436914"/>
          <a:ext cx="976321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545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3D46FB-E967-707E-16F1-88EACC40478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494015" y="5625426"/>
            <a:ext cx="9845550" cy="100760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232D4B"/>
                </a:solidFill>
              </a:rPr>
              <a:t>Serum qualitative hCG use increased substantially after intervention.</a:t>
            </a:r>
            <a:br>
              <a:rPr lang="en-US" sz="1800" dirty="0">
                <a:solidFill>
                  <a:srgbClr val="232D4B"/>
                </a:solidFill>
              </a:rPr>
            </a:br>
            <a:r>
              <a:rPr lang="en-US" sz="1800" dirty="0">
                <a:solidFill>
                  <a:srgbClr val="232D4B"/>
                </a:solidFill>
              </a:rPr>
              <a:t>POCT urine and serum quantitative testing decreased.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A23420-1988-C27E-ABE4-2324BA25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015" y="636354"/>
            <a:ext cx="9845550" cy="742504"/>
          </a:xfrm>
        </p:spPr>
        <p:txBody>
          <a:bodyPr/>
          <a:lstStyle/>
          <a:p>
            <a:r>
              <a:rPr lang="en-US" b="1" dirty="0">
                <a:solidFill>
                  <a:srgbClr val="E57200"/>
                </a:solidFill>
              </a:rPr>
              <a:t>RESULTS: TEST UTILIZATION</a:t>
            </a:r>
            <a:br>
              <a:rPr lang="en-US" dirty="0">
                <a:solidFill>
                  <a:srgbClr val="232D4B"/>
                </a:solidFill>
              </a:rPr>
            </a:b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2016F52-A350-0666-1368-2C1748E02C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3473368"/>
              </p:ext>
            </p:extLst>
          </p:nvPr>
        </p:nvGraphicFramePr>
        <p:xfrm>
          <a:off x="1494015" y="1486577"/>
          <a:ext cx="5167085" cy="3884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6705904-DB3B-B848-4830-06EFD0658B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690256"/>
              </p:ext>
            </p:extLst>
          </p:nvPr>
        </p:nvGraphicFramePr>
        <p:xfrm>
          <a:off x="6559500" y="1632861"/>
          <a:ext cx="4780065" cy="3738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6084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03E017-34DC-3712-F8CA-0E9A7ADD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57200"/>
                </a:solidFill>
              </a:rPr>
              <a:t>RESULTS: TEST UTILIZATION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717A6E-8CEA-4630-4BD0-3779ED136FFE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1558233375"/>
              </p:ext>
            </p:extLst>
          </p:nvPr>
        </p:nvGraphicFramePr>
        <p:xfrm>
          <a:off x="1494015" y="1794618"/>
          <a:ext cx="8164232" cy="3881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6073EBC-9528-FAD1-677D-5ECCFF72F6C6}"/>
              </a:ext>
            </a:extLst>
          </p:cNvPr>
          <p:cNvSpPr txBox="1"/>
          <p:nvPr/>
        </p:nvSpPr>
        <p:spPr>
          <a:xfrm>
            <a:off x="9392159" y="3390026"/>
            <a:ext cx="2312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Qualitative hCG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ABD53-0193-04AD-F36B-A1E05411A2ED}"/>
              </a:ext>
            </a:extLst>
          </p:cNvPr>
          <p:cNvSpPr txBox="1"/>
          <p:nvPr/>
        </p:nvSpPr>
        <p:spPr>
          <a:xfrm>
            <a:off x="9359153" y="3759358"/>
            <a:ext cx="2312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POCT Urine hCG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F1DFC-BA19-F074-F0F6-4F7F4ECFB4DA}"/>
              </a:ext>
            </a:extLst>
          </p:cNvPr>
          <p:cNvSpPr txBox="1"/>
          <p:nvPr/>
        </p:nvSpPr>
        <p:spPr>
          <a:xfrm>
            <a:off x="9359153" y="4163849"/>
            <a:ext cx="207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Quantitative hCG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2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D41B0F-341A-E15F-93D9-C8F2D55177C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497737" y="3396890"/>
            <a:ext cx="2366785" cy="381000"/>
          </a:xfrm>
        </p:spPr>
        <p:txBody>
          <a:bodyPr/>
          <a:lstStyle/>
          <a:p>
            <a:pPr marL="0" indent="0">
              <a:buNone/>
            </a:pPr>
            <a:r>
              <a:rPr lang="el-GR" sz="1800" dirty="0">
                <a:solidFill>
                  <a:srgbClr val="232D4B"/>
                </a:solidFill>
              </a:rPr>
              <a:t>Δ 14 </a:t>
            </a:r>
            <a:r>
              <a:rPr lang="en-US" sz="1800" dirty="0">
                <a:solidFill>
                  <a:srgbClr val="232D4B"/>
                </a:solidFill>
              </a:rPr>
              <a:t>minutes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232D4B"/>
                </a:solidFill>
              </a:rPr>
              <a:t>(p &lt; 0.001)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117C2B-2F8C-5739-73BE-DB9BF605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57200"/>
                </a:solidFill>
              </a:rPr>
              <a:t>RESULTS: EFFICIENCY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D60140A-3619-728C-C411-CFB7B9CD6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451572"/>
              </p:ext>
            </p:extLst>
          </p:nvPr>
        </p:nvGraphicFramePr>
        <p:xfrm>
          <a:off x="1208882" y="1712083"/>
          <a:ext cx="8912728" cy="4327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ight Brace 6">
            <a:extLst>
              <a:ext uri="{FF2B5EF4-FFF2-40B4-BE49-F238E27FC236}">
                <a16:creationId xmlns:a16="http://schemas.microsoft.com/office/drawing/2014/main" id="{32431FD4-FEC5-4950-D5A9-B26B93A04C91}"/>
              </a:ext>
            </a:extLst>
          </p:cNvPr>
          <p:cNvSpPr/>
          <p:nvPr/>
        </p:nvSpPr>
        <p:spPr>
          <a:xfrm>
            <a:off x="9935889" y="3429000"/>
            <a:ext cx="561848" cy="695591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39046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C23A50-65D9-CCE9-4705-AB5C1525F5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89268" y="5608321"/>
            <a:ext cx="9845550" cy="9601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Potentially avoidable = did not meet either appropriateness criteria (1. Primary chief complaint: abdominal pain, vaginal bleeding, miscarriage or 2. Ultrasound utilization)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C66130-9604-557D-ACB6-779556E5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RESULTS: APPROPRIATENESS</a:t>
            </a:r>
            <a:br>
              <a:rPr lang="en-US" b="1" dirty="0">
                <a:solidFill>
                  <a:schemeClr val="accent2"/>
                </a:solidFill>
              </a:rPr>
            </a:b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5898DD-9312-B510-A9C8-55E81867E3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0731999"/>
              </p:ext>
            </p:extLst>
          </p:nvPr>
        </p:nvGraphicFramePr>
        <p:xfrm>
          <a:off x="1494014" y="1794618"/>
          <a:ext cx="7802385" cy="3554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B11F27-3157-1581-5846-D2ACE0C68304}"/>
              </a:ext>
            </a:extLst>
          </p:cNvPr>
          <p:cNvSpPr txBox="1"/>
          <p:nvPr/>
        </p:nvSpPr>
        <p:spPr>
          <a:xfrm>
            <a:off x="9092658" y="3723043"/>
            <a:ext cx="2042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solidFill>
                  <a:schemeClr val="accent1"/>
                </a:solidFill>
              </a:rPr>
              <a:t>Δ 13.6 </a:t>
            </a:r>
            <a:r>
              <a:rPr lang="en-US" dirty="0">
                <a:solidFill>
                  <a:schemeClr val="accent1"/>
                </a:solidFill>
              </a:rPr>
              <a:t>percentage points, p &lt; 0.001</a:t>
            </a:r>
          </a:p>
        </p:txBody>
      </p:sp>
    </p:spTree>
    <p:extLst>
      <p:ext uri="{BB962C8B-B14F-4D97-AF65-F5344CB8AC3E}">
        <p14:creationId xmlns:p14="http://schemas.microsoft.com/office/powerpoint/2010/main" val="2154249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67F70F-F11F-228A-54F8-847D2A84339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494015" y="5192685"/>
            <a:ext cx="10074530" cy="90427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Weighted Average Cost = </a:t>
            </a:r>
            <a:r>
              <a:rPr lang="el-GR" sz="1800" dirty="0">
                <a:solidFill>
                  <a:schemeClr val="tx2"/>
                </a:solidFill>
              </a:rPr>
              <a:t>Σ (</a:t>
            </a:r>
            <a:r>
              <a:rPr lang="en-US" sz="1800" dirty="0">
                <a:solidFill>
                  <a:schemeClr val="tx2"/>
                </a:solidFill>
              </a:rPr>
              <a:t>test utilization proportion × test cost)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Patient-facing Cost: POCT urine hCG $207; serum quantitative hCG $279; serum qualitative hCG $85</a:t>
            </a:r>
          </a:p>
          <a:p>
            <a:endParaRPr lang="en-US" dirty="0">
              <a:solidFill>
                <a:srgbClr val="232D4B"/>
              </a:solidFill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B549C7-8539-44C0-BE3B-B08C4780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57200"/>
                </a:solidFill>
              </a:rPr>
              <a:t>RESULTS: COST</a:t>
            </a:r>
            <a:br>
              <a:rPr lang="en-US" b="1" dirty="0">
                <a:solidFill>
                  <a:srgbClr val="E57200"/>
                </a:solidFill>
              </a:rPr>
            </a:b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12B4007-24BC-59D9-6FD8-1A69C1F582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787942"/>
              </p:ext>
            </p:extLst>
          </p:nvPr>
        </p:nvGraphicFramePr>
        <p:xfrm>
          <a:off x="3047198" y="1508033"/>
          <a:ext cx="6968164" cy="3555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13278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C253C4-8B7C-D610-7903-0D6EE4F06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014" y="636870"/>
            <a:ext cx="9951821" cy="1158265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CONCLUSIONS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D9742412-2599-EEAD-9DA7-5F762914475F}"/>
              </a:ext>
            </a:extLst>
          </p:cNvPr>
          <p:cNvGraphicFramePr>
            <a:graphicFrameLocks noGrp="1"/>
          </p:cNvGraphicFramePr>
          <p:nvPr>
            <p:ph type="chart" sz="quarter" idx="20"/>
            <p:extLst>
              <p:ext uri="{D42A27DB-BD31-4B8C-83A1-F6EECF244321}">
                <p14:modId xmlns:p14="http://schemas.microsoft.com/office/powerpoint/2010/main" val="782409725"/>
              </p:ext>
            </p:extLst>
          </p:nvPr>
        </p:nvGraphicFramePr>
        <p:xfrm>
          <a:off x="6705600" y="1981200"/>
          <a:ext cx="4764088" cy="3720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8" name="Content Placeholder 1">
            <a:extLst>
              <a:ext uri="{FF2B5EF4-FFF2-40B4-BE49-F238E27FC236}">
                <a16:creationId xmlns:a16="http://schemas.microsoft.com/office/drawing/2014/main" id="{4B84E3D0-E336-C220-D1E2-7ECD3CA10FC6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375200097"/>
              </p:ext>
            </p:extLst>
          </p:nvPr>
        </p:nvGraphicFramePr>
        <p:xfrm>
          <a:off x="1337541" y="2094057"/>
          <a:ext cx="4927600" cy="3217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18315433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A-Blue-orange-torqouise">
  <a:themeElements>
    <a:clrScheme name="UVA-Blue-Orange-Cyan">
      <a:dk1>
        <a:srgbClr val="000000"/>
      </a:dk1>
      <a:lt1>
        <a:srgbClr val="FFFFFF"/>
      </a:lt1>
      <a:dk2>
        <a:srgbClr val="222E4A"/>
      </a:dk2>
      <a:lt2>
        <a:srgbClr val="FFFFFF"/>
      </a:lt2>
      <a:accent1>
        <a:srgbClr val="E57102"/>
      </a:accent1>
      <a:accent2>
        <a:srgbClr val="222E4A"/>
      </a:accent2>
      <a:accent3>
        <a:srgbClr val="029FDF"/>
      </a:accent3>
      <a:accent4>
        <a:srgbClr val="40B8E7"/>
      </a:accent4>
      <a:accent5>
        <a:srgbClr val="7ECEEF"/>
      </a:accent5>
      <a:accent6>
        <a:srgbClr val="C0E7F7"/>
      </a:accent6>
      <a:hlink>
        <a:srgbClr val="0563C1"/>
      </a:hlink>
      <a:folHlink>
        <a:srgbClr val="0263C1"/>
      </a:folHlink>
    </a:clrScheme>
    <a:fontScheme name="UVA Franklin">
      <a:majorFont>
        <a:latin typeface="Franklin Gothic Medium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 A in Blue- Orange- Cyan" id="{359B341E-50F8-424F-AB0D-69A58BEBFF21}" vid="{1CF8BDD8-6135-4E4B-AC38-08FE3CD7A1B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 A-Blue-orange-torqouise</Template>
  <TotalTime>20971</TotalTime>
  <Words>467</Words>
  <Application>Microsoft Macintosh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Apple Symbols</vt:lpstr>
      <vt:lpstr>Arial</vt:lpstr>
      <vt:lpstr>Franklin Gothic Book</vt:lpstr>
      <vt:lpstr>Wingdings</vt:lpstr>
      <vt:lpstr>Design A-Blue-orange-torqouise</vt:lpstr>
      <vt:lpstr>Optimization of Pregnancy Testing in the University of Virginia Emergency Department</vt:lpstr>
      <vt:lpstr>No Disclosures </vt:lpstr>
      <vt:lpstr>BACKGROUND</vt:lpstr>
      <vt:lpstr>INTERVENTIONS &amp; STUDY AIM </vt:lpstr>
      <vt:lpstr>METHODS</vt:lpstr>
      <vt:lpstr>RESULTS: TEST UTILIZATION </vt:lpstr>
      <vt:lpstr>RESULTS: TEST UTILIZATION</vt:lpstr>
      <vt:lpstr>RESULTS: EFFICIENCY</vt:lpstr>
      <vt:lpstr>RESULTS: APPROPRIATENESS </vt:lpstr>
      <vt:lpstr>RESULTS: COST 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 Title Goes Here</dc:title>
  <dc:creator>Headley, Jake *HS</dc:creator>
  <cp:lastModifiedBy>Holstege, Margaret Alyce (mav9ym)</cp:lastModifiedBy>
  <cp:revision>19</cp:revision>
  <dcterms:created xsi:type="dcterms:W3CDTF">2023-05-23T13:04:07Z</dcterms:created>
  <dcterms:modified xsi:type="dcterms:W3CDTF">2026-04-09T14:42:15Z</dcterms:modified>
</cp:coreProperties>
</file>