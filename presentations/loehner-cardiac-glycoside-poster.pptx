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2918400" cy="43891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918400" cy="43891200"/>
          </a:xfrm>
          <a:prstGeom prst="rect">
            <a:avLst/>
          </a:prstGeom>
          <a:solidFill>
            <a:srgbClr val="23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7498079"/>
            <a:ext cx="30175200" cy="25420321"/>
          </a:xfrm>
          <a:prstGeom prst="rect">
            <a:avLst/>
          </a:prstGeom>
          <a:solidFill>
            <a:srgbClr val="F4EA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3017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57200"/>
                </a:solidFill>
                <a:latin typeface="Inter"/>
              </a:rPr>
              <a:t>UVA  ·  EMERGENCY MEDICINE RESEARCH DAY 2026  ·  APRIL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30175200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200" b="0" i="0">
                <a:solidFill>
                  <a:srgbClr val="F4EAD5"/>
                </a:solidFill>
                <a:latin typeface="Source Serif Pro"/>
              </a:rPr>
              <a:t>Clinical effects, outcomes, and disposition of unintentional pediatric cyanogenic glycoside exposures reported to US Poison Centers, 2005–2024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6035040"/>
            <a:ext cx="3017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F4EAD5"/>
                </a:solidFill>
                <a:latin typeface="Inter"/>
              </a:rPr>
              <a:t>Jennifer Loehner, MD   ·   Anna Zmuda, MD   ·   Jacob Britton, MD   ·   Rita Farah, PhD   ·   Avery Michienzi,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583680"/>
            <a:ext cx="3017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 i="1">
                <a:solidFill>
                  <a:srgbClr val="F4EAD5"/>
                </a:solidFill>
                <a:latin typeface="Inter"/>
              </a:rPr>
              <a:t>Division of Medical Toxicology  ·  Department of Emergency Medicine  ·  University of Virginia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7315200"/>
            <a:ext cx="30175200" cy="3600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804671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57200"/>
                </a:solidFill>
                <a:latin typeface="Inter"/>
              </a:rPr>
              <a:t>INTRODUCTION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8595359"/>
            <a:ext cx="1097280" cy="3000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8961119"/>
            <a:ext cx="9601200" cy="2240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Cyanogenic glycosides — amygdalin, linamarin, sambunigrin, and taxiphyllin — are organic compounds metabolized to hydrogen cyanide (HCN).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They are found in many plant species, including: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   Prunus species (cherry pits, apricot kernels, bitter almonds)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   Cassava root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   Lima beans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   Bamboo shoots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Glycoside concentration and HCN release vary considerably and often depend on whether the plant or seed is damaged or chewed.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This study characterizes the severity of pediatric exposures to cyanogenic glycosides and informs management strategies for ingestions in children under 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0" y="804671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57200"/>
                </a:solidFill>
                <a:latin typeface="Inter"/>
              </a:rPr>
              <a:t>METHODS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0" y="8595359"/>
            <a:ext cx="1097280" cy="3000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0" y="8961119"/>
            <a:ext cx="9601200" cy="2240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Retrospective analysis using the National Poison Data System (NPDS), which houses deidentified case data from all 53 U.S. Poison Centers.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STUDY PERIOD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January 2005 – December 2024 (20 years)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INCLUSION CRITERIA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   Patients aged &lt; 6 years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   Single-substance ingestion of cyanogenic plants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MEDICAL EFFECT DEFINITIONS (NPDS)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No effect:  No clinical symptoms developed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Minor:  Minimally bothersome symptoms, resolved quickly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Moderate:  Pronounced or prolonged symptoms requiring treatment, not life-threatening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Major:  Life-threatening symptoms or significant disability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0" y="804671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57200"/>
                </a:solidFill>
                <a:latin typeface="Inter"/>
              </a:rPr>
              <a:t>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0" y="8595359"/>
            <a:ext cx="1097280" cy="3000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0" y="8961119"/>
            <a:ext cx="9601200" cy="2240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DISPOSITION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96.7% did not require hospital care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0.07% admitted to non-critical care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0.04% admitted to critical care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MEDICAL OUTCOMES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92.7% had no clinical effect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1 major outcome, presenting with cardiac arrest, hypotension, seizure, and coma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MOST COMMON CLINICAL EFFECTS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Vomiting, abdominal pain, diarrhea, fever, nausea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/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TREATMENTS</a:t>
            </a:r>
          </a:p>
          <a:p>
            <a:pPr algn="l"/>
            <a:r>
              <a:rPr sz="1400" b="0" i="0">
                <a:solidFill>
                  <a:srgbClr val="2D3448"/>
                </a:solidFill>
                <a:latin typeface="Inter"/>
              </a:rPr>
              <a:t>Hydroxocobalamin administered in 2 cases of 51,703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4963119"/>
            <a:ext cx="713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E57200"/>
                </a:solidFill>
                <a:latin typeface="Source Serif Pro"/>
              </a:rPr>
              <a:t>51,703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6974799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32D4B"/>
                </a:solidFill>
                <a:latin typeface="Inter"/>
              </a:rPr>
              <a:t>CASES ANALYZED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7431999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Inter"/>
              </a:rPr>
              <a:t>Across all 53 U.S. Poison Centers, 2005–2024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963119"/>
            <a:ext cx="713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E57200"/>
                </a:solidFill>
                <a:latin typeface="Source Serif Pro"/>
              </a:rPr>
              <a:t>96.7%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6974799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32D4B"/>
                </a:solidFill>
                <a:latin typeface="Inter"/>
              </a:rPr>
              <a:t>MANAGED AT HOME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7431999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Inter"/>
              </a:rPr>
              <a:t>No hospital care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0" y="24963119"/>
            <a:ext cx="713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E57200"/>
                </a:solidFill>
                <a:latin typeface="Source Serif Pro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0" y="26974799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32D4B"/>
                </a:solidFill>
                <a:latin typeface="Inter"/>
              </a:rPr>
              <a:t>HYDROXOCOBALAMIN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0" y="27431999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Inter"/>
              </a:rPr>
              <a:t>Given in only 2 of 51,703 cases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048720" y="24963119"/>
            <a:ext cx="713232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0" b="1" i="0">
                <a:solidFill>
                  <a:srgbClr val="E57200"/>
                </a:solidFill>
                <a:latin typeface="Source Serif Pro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048720" y="26974799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32D4B"/>
                </a:solidFill>
                <a:latin typeface="Inter"/>
              </a:rPr>
              <a:t>DEATHS REPORTED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048720" y="27431999"/>
            <a:ext cx="7132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B5563"/>
                </a:solidFill>
                <a:latin typeface="Inter"/>
              </a:rPr>
              <a:t>Despite some severe presentations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33192719"/>
            <a:ext cx="32918400" cy="9144000"/>
          </a:xfrm>
          <a:prstGeom prst="rect">
            <a:avLst/>
          </a:prstGeom>
          <a:solidFill>
            <a:srgbClr val="23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0" y="33741359"/>
            <a:ext cx="29260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E57200"/>
                </a:solidFill>
                <a:latin typeface="Inter"/>
              </a:rPr>
              <a:t>CONCLUSION  ·  TAKE-AWAYS  ·  ASK ME ABOUT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28800" y="34289999"/>
            <a:ext cx="1097280" cy="36000"/>
          </a:xfrm>
          <a:prstGeom prst="rect">
            <a:avLst/>
          </a:prstGeom>
          <a:solidFill>
            <a:srgbClr val="E57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28800" y="34655759"/>
            <a:ext cx="20116800" cy="7315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E57200"/>
                </a:solidFill>
                <a:latin typeface="Inter"/>
              </a:rPr>
              <a:t>•  </a:t>
            </a:r>
            <a:r>
              <a:rPr sz="1500">
                <a:solidFill>
                  <a:srgbClr val="F4EAD5"/>
                </a:solidFill>
                <a:latin typeface="Inter"/>
              </a:rPr>
              <a:t>The majority of pediatric cyanogenic glycoside ingestions are asymptomatic and can be managed safely at home.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E57200"/>
                </a:solidFill>
                <a:latin typeface="Inter"/>
              </a:rPr>
              <a:t>•  </a:t>
            </a:r>
            <a:r>
              <a:rPr sz="1500">
                <a:solidFill>
                  <a:srgbClr val="F4EAD5"/>
                </a:solidFill>
                <a:latin typeface="Inter"/>
              </a:rPr>
              <a:t>Vomiting and abdominal pain were the most commonly reported clinical effects.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E57200"/>
                </a:solidFill>
                <a:latin typeface="Inter"/>
              </a:rPr>
              <a:t>•  </a:t>
            </a:r>
            <a:r>
              <a:rPr sz="1500">
                <a:solidFill>
                  <a:srgbClr val="F4EAD5"/>
                </a:solidFill>
                <a:latin typeface="Inter"/>
              </a:rPr>
              <a:t>Severe symptoms were rare; hydroxocobalamin was required in only 2 of 51,703 cases, with no reported deaths.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E57200"/>
                </a:solidFill>
                <a:latin typeface="Inter"/>
              </a:rPr>
              <a:t>•  </a:t>
            </a:r>
            <a:r>
              <a:rPr sz="1500">
                <a:solidFill>
                  <a:srgbClr val="F4EAD5"/>
                </a:solidFill>
                <a:latin typeface="Inter"/>
              </a:rPr>
              <a:t>Study limitations include lack of definitive plant identification and potential for improperly coded NPDS data.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E57200"/>
                </a:solidFill>
                <a:latin typeface="Inter"/>
              </a:rPr>
              <a:t>•  </a:t>
            </a:r>
            <a:r>
              <a:rPr sz="1500">
                <a:solidFill>
                  <a:srgbClr val="F4EAD5"/>
                </a:solidFill>
                <a:latin typeface="Inter"/>
              </a:rPr>
              <a:t>Further research is needed to identify predictors of severe presentations and refine triage guidance.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0" y="34655759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E57200"/>
                </a:solidFill>
                <a:latin typeface="Inter"/>
              </a:rPr>
              <a:t>Ask me about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0" y="35112959"/>
            <a:ext cx="7772400" cy="6400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57200"/>
                </a:solidFill>
                <a:latin typeface="Inter"/>
              </a:rPr>
              <a:t>•  </a:t>
            </a:r>
            <a:r>
              <a:rPr sz="1200">
                <a:solidFill>
                  <a:srgbClr val="F4EAD5"/>
                </a:solidFill>
                <a:latin typeface="Inter"/>
              </a:rPr>
              <a:t>Home vs. ED triage criteria for asymptomatic pediatric exposures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57200"/>
                </a:solidFill>
                <a:latin typeface="Inter"/>
              </a:rPr>
              <a:t>•  </a:t>
            </a:r>
            <a:r>
              <a:rPr sz="1200">
                <a:solidFill>
                  <a:srgbClr val="F4EAD5"/>
                </a:solidFill>
                <a:latin typeface="Inter"/>
              </a:rPr>
              <a:t>Which symptoms should prompt poison-center escalation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57200"/>
                </a:solidFill>
                <a:latin typeface="Inter"/>
              </a:rPr>
              <a:t>•  </a:t>
            </a:r>
            <a:r>
              <a:rPr sz="1200">
                <a:solidFill>
                  <a:srgbClr val="F4EAD5"/>
                </a:solidFill>
                <a:latin typeface="Inter"/>
              </a:rPr>
              <a:t>The clinical picture of the single major-outcome case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57200"/>
                </a:solidFill>
                <a:latin typeface="Inter"/>
              </a:rPr>
              <a:t>•  </a:t>
            </a:r>
            <a:r>
              <a:rPr sz="1200">
                <a:solidFill>
                  <a:srgbClr val="F4EAD5"/>
                </a:solidFill>
                <a:latin typeface="Inter"/>
              </a:rPr>
              <a:t>Why hydroxocobalamin was rarely indicated in this dataset</a:t>
            </a:r>
          </a:p>
          <a:p>
            <a:pPr algn="l">
              <a:lnSpc>
                <a:spcPct val="120000"/>
              </a:lnSpc>
              <a:spcAft>
                <a:spcPts val="1000"/>
              </a:spcAft>
            </a:pPr>
            <a:r>
              <a:rPr sz="1200" b="1">
                <a:solidFill>
                  <a:srgbClr val="E57200"/>
                </a:solidFill>
                <a:latin typeface="Inter"/>
              </a:rPr>
              <a:t>•  </a:t>
            </a:r>
            <a:r>
              <a:rPr sz="1200">
                <a:solidFill>
                  <a:srgbClr val="F4EAD5"/>
                </a:solidFill>
                <a:latin typeface="Inter"/>
              </a:rPr>
              <a:t>Plans for a manuscript extension of this 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42336720"/>
            <a:ext cx="32918400" cy="1554480"/>
          </a:xfrm>
          <a:prstGeom prst="rect">
            <a:avLst/>
          </a:prstGeom>
          <a:solidFill>
            <a:srgbClr val="141B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0" y="42702480"/>
            <a:ext cx="1828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F4EAD5"/>
                </a:solidFill>
                <a:latin typeface="Inter"/>
              </a:rPr>
              <a:t>Presented at EAPCCT 2026  ·  Manuscript in development  ·  Principal Investigator: Avery Michienzi, DO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0" y="4270248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E57200"/>
                </a:solidFill>
                <a:latin typeface="Inter"/>
              </a:rPr>
              <a:t>EM RESEARCH DAY 2026  ·  UVA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