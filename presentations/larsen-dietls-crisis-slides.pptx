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7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57200"/>
                </a:solidFill>
                <a:latin typeface="Inter"/>
              </a:rPr>
              <a:t>CASE REPORT  ·  POCUS PEARLS  ·  PEDIATRICS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4EAD5"/>
                </a:solidFill>
                <a:latin typeface="Inter"/>
              </a:rPr>
              <a:t>It's Not Cyclic Vomiting Syndrome</a:t>
            </a:r>
          </a:p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4EAD5"/>
                </a:solidFill>
                <a:latin typeface="Inter"/>
              </a:rPr>
              <a:t>Until Dietl's is Ruled 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FFFFFF"/>
                </a:solidFill>
                <a:latin typeface="Inter"/>
              </a:rPr>
              <a:t>Two pediatric cases  ·  Bedside renal POCUS during the active episode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26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F4EAD5"/>
                </a:solidFill>
                <a:latin typeface="Inter"/>
              </a:rPr>
              <a:t>Michael Larsen, 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92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>PGY-3 Resident, Emergency Medicine  ·  University of Virginia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864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4EAD5"/>
                </a:solidFill>
                <a:latin typeface="Inter"/>
              </a:rPr>
              <a:t>Faculty Mentor  ·  Christopher Thom, MD, RDMS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CBD5E1"/>
                </a:solidFill>
                <a:latin typeface="Inter"/>
              </a:rPr>
              <a:t>Co-authors  ·  Matthew Kongkatong, MD  ·  Jakob Ottenhoff, DO  ·  James Moak, MD, RDMS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CBD5E1"/>
                </a:solidFill>
                <a:latin typeface="Inter"/>
              </a:rPr>
              <a:t>Larsen et al.  J Emerg Med 2024;67(4):e346–e350.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2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731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4EAD5"/>
                </a:solidFill>
                <a:latin typeface="Inter"/>
              </a:rPr>
              <a:t>UVA EMERGENCY MEDICINE  ·  RESEARCH DAY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7315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E57200"/>
                </a:solidFill>
                <a:latin typeface="Inter"/>
              </a:rPr>
              <a:t>TITLE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2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4EAD5"/>
                </a:solidFill>
                <a:latin typeface="Inter"/>
              </a:rPr>
              <a:t>UVA EMERGENCY MEDICINE  ·  RESEARCH DAY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0" y="7315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E57200"/>
                </a:solidFill>
                <a:latin typeface="Inter"/>
              </a:rPr>
              <a:t>01  · 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32D4B"/>
                </a:solidFill>
                <a:latin typeface="Inter"/>
              </a:rPr>
              <a:t>Cyclic vomiting picks up the diagnosis many times before Dietl's does.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5486400" cy="4297680"/>
          </a:xfrm>
          <a:prstGeom prst="rect">
            <a:avLst/>
          </a:prstGeom>
          <a:solidFill>
            <a:srgbClr val="F4E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57200"/>
                </a:solidFill>
                <a:latin typeface="Inter"/>
              </a:rPr>
              <a:t>DIETL'S CRISIS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32D4B"/>
                </a:solidFill>
                <a:latin typeface="Inter"/>
              </a:rPr>
              <a:t>Intermittent UPJ obstruction.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63240"/>
            <a:ext cx="50292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74151"/>
                </a:solidFill>
                <a:latin typeface="Inter"/>
              </a:rPr>
              <a:t>Anatomic kink at the ureteropelvic junction that intermittently obstructs.</a:t>
            </a:r>
          </a:p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74151"/>
                </a:solidFill>
                <a:latin typeface="Inter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74151"/>
                </a:solidFill>
                <a:latin typeface="Inter"/>
              </a:rPr>
              <a:t>Patients present with episodic, position-dependent abdominal pain and vomiting and look — on first pass — like cyclic vomiting syndrome.</a:t>
            </a:r>
          </a:p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74151"/>
                </a:solidFill>
                <a:latin typeface="Inter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74151"/>
                </a:solidFill>
                <a:latin typeface="Inter"/>
              </a:rPr>
              <a:t>Inter-episode imaging is often normal, which reinforces a functional label.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691640"/>
            <a:ext cx="5486400" cy="4297680"/>
          </a:xfrm>
          <a:prstGeom prst="rect">
            <a:avLst/>
          </a:prstGeom>
          <a:solidFill>
            <a:srgbClr val="2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87451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57200"/>
                </a:solidFill>
                <a:latin typeface="Inter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331720"/>
            <a:ext cx="50292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>•  Untreated UPJ obstruction can drive progressive hydronephrosis and renal injury.</a:t>
            </a:r>
          </a:p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>•  Patients accumulate repeat ED visits and unrevealing GI workups before diagnosis.</a:t>
            </a:r>
          </a:p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>•  Definitive treatment is surgical (pyeloplasty), and it is curative.</a:t>
            </a:r>
          </a:p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>•  Bedside renal POCUS during the active episode is the highest-yield rule-out we have.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2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4EAD5"/>
                </a:solidFill>
                <a:latin typeface="Inter"/>
              </a:rPr>
              <a:t>UVA EMERGENCY MEDICINE  ·  RESEARCH DAY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0" y="7315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E57200"/>
                </a:solidFill>
                <a:latin typeface="Inter"/>
              </a:rPr>
              <a:t>02  ·  CASES + POCUS TECHNIQUE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32D4B"/>
                </a:solidFill>
                <a:latin typeface="Inter"/>
              </a:rPr>
              <a:t>Two pediatric cases. Same workup. Same pivot.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5486400" cy="4297680"/>
          </a:xfrm>
          <a:prstGeom prst="rect">
            <a:avLst/>
          </a:prstGeom>
          <a:solidFill>
            <a:srgbClr val="F4E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57200"/>
                </a:solidFill>
                <a:latin typeface="Inter"/>
              </a:rPr>
              <a:t>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50292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74151"/>
                </a:solidFill>
                <a:latin typeface="Inter"/>
              </a:rPr>
              <a:t>•  Case 1: 14-year-old male, vomiting + left flank pain, several years of episodic vomiting.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74151"/>
                </a:solidFill>
                <a:latin typeface="Inte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74151"/>
                </a:solidFill>
                <a:latin typeface="Inter"/>
              </a:rPr>
              <a:t>•  Case 2: 5-year-old female, abdominal pain + vomiting, ~1 year of episodes.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74151"/>
                </a:solidFill>
                <a:latin typeface="Inte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74151"/>
                </a:solidFill>
                <a:latin typeface="Inter"/>
              </a:rPr>
              <a:t>•  Both carried prior diagnoses: cyclic vomiting syndrome (and abdominal migraine in Case 2).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74151"/>
                </a:solidFill>
                <a:latin typeface="Inte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74151"/>
                </a:solidFill>
                <a:latin typeface="Inter"/>
              </a:rPr>
              <a:t>•  Multiple primary-care, GI clinic, and ED visits before correct diagnosis.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74151"/>
                </a:solidFill>
                <a:latin typeface="Inte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374151"/>
                </a:solidFill>
                <a:latin typeface="Inter"/>
              </a:rPr>
              <a:t>•  Urinalysis and serologic studies normal in both.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91640"/>
            <a:ext cx="5486400" cy="4297680"/>
          </a:xfrm>
          <a:prstGeom prst="rect">
            <a:avLst/>
          </a:prstGeom>
          <a:solidFill>
            <a:srgbClr val="2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7451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57200"/>
                </a:solidFill>
                <a:latin typeface="Inter"/>
              </a:rPr>
              <a:t>POCUS TECHNIQUE  ·  RENAL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286000"/>
            <a:ext cx="50292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>•  Curvilinear / phased-array probe, flank approach.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>•  Long-axis view of the renal hilum, both kidneys.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>•  Look for a dilated collecting system; &gt;10 mm AP diameter favors hydronephrosis.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>•  Compare side-to-side — severe unilateral dilation is the red flag.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FFFFFF"/>
                </a:solidFill>
                <a:latin typeface="Inter"/>
              </a:rPr>
              <a:t>•  Image during the episode — inter-episode scans miss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2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4EAD5"/>
                </a:solidFill>
                <a:latin typeface="Inter"/>
              </a:rPr>
              <a:t>UVA EMERGENCY MEDICINE  ·  RESEARCH DAY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0" y="7315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E57200"/>
                </a:solidFill>
                <a:latin typeface="Inter"/>
              </a:rPr>
              <a:t>03  ·  WHAT POCUS SHOWED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32D4B"/>
                </a:solidFill>
                <a:latin typeface="Inter"/>
              </a:rPr>
              <a:t>Bedside POCUS picked it up in each case.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6400800" cy="4297680"/>
          </a:xfrm>
          <a:prstGeom prst="rect">
            <a:avLst/>
          </a:prstGeom>
          <a:solidFill>
            <a:srgbClr val="2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74519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57200"/>
                </a:solidFill>
                <a:latin typeface="Inter"/>
              </a:rPr>
              <a:t>POCUS DURING EPISODE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59436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4EAD5"/>
                </a:solidFill>
                <a:latin typeface="Inter"/>
              </a:rPr>
              <a:t>Severe unilateral</a:t>
            </a:r>
          </a:p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4EAD5"/>
                </a:solidFill>
                <a:latin typeface="Inter"/>
              </a:rPr>
              <a:t>hydronephrosis.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434840"/>
            <a:ext cx="5943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FFFFFF"/>
                </a:solidFill>
                <a:latin typeface="Inter"/>
              </a:rPr>
              <a:t>Identified in each case during an active episode.</a:t>
            </a:r>
          </a:p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FFFFFF"/>
                </a:solidFill>
                <a:latin typeface="Inter"/>
              </a:rPr>
              <a:t>Confirmed by CT in each case.</a:t>
            </a:r>
          </a:p>
          <a:p>
            <a:pPr algn="l">
              <a:lnSpc>
                <a:spcPct val="155000"/>
              </a:lnSpc>
            </a:pPr>
            <a:r>
              <a:rPr sz="1400" b="0" i="0">
                <a:solidFill>
                  <a:srgbClr val="FFFFFF"/>
                </a:solidFill>
                <a:latin typeface="Inter"/>
              </a:rPr>
              <a:t>Urology engaged for definitive surgical management.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187451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57200"/>
                </a:solidFill>
                <a:latin typeface="Inter"/>
              </a:rPr>
              <a:t>ED PATHWAY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2331720"/>
            <a:ext cx="164592" cy="365760"/>
          </a:xfrm>
          <a:prstGeom prst="rect">
            <a:avLst/>
          </a:prstGeom>
          <a:solidFill>
            <a:srgbClr val="E57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79" y="23774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74151"/>
                </a:solidFill>
                <a:latin typeface="Inter"/>
              </a:rPr>
              <a:t>Episode-time renal POCUS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78040" y="2834640"/>
            <a:ext cx="164592" cy="365760"/>
          </a:xfrm>
          <a:prstGeom prst="rect">
            <a:avLst/>
          </a:prstGeom>
          <a:solidFill>
            <a:srgbClr val="E57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79" y="28803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74151"/>
                </a:solidFill>
                <a:latin typeface="Inter"/>
              </a:rPr>
              <a:t>Severe unilateral hydronephrosis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3337560"/>
            <a:ext cx="164592" cy="365760"/>
          </a:xfrm>
          <a:prstGeom prst="rect">
            <a:avLst/>
          </a:prstGeom>
          <a:solidFill>
            <a:srgbClr val="E57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79" y="33832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74151"/>
                </a:solidFill>
                <a:latin typeface="Inter"/>
              </a:rPr>
              <a:t>Confirmatory cross-sectional imaging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78040" y="3840480"/>
            <a:ext cx="164592" cy="365760"/>
          </a:xfrm>
          <a:prstGeom prst="rect">
            <a:avLst/>
          </a:prstGeom>
          <a:solidFill>
            <a:srgbClr val="E57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79" y="38862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74151"/>
                </a:solidFill>
                <a:latin typeface="Inter"/>
              </a:rPr>
              <a:t>Urology consult in the 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78040" y="4343400"/>
            <a:ext cx="164592" cy="365760"/>
          </a:xfrm>
          <a:prstGeom prst="rect">
            <a:avLst/>
          </a:prstGeom>
          <a:solidFill>
            <a:srgbClr val="E57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79" y="43891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74151"/>
                </a:solidFill>
                <a:latin typeface="Inter"/>
              </a:rPr>
              <a:t>Surgical management (pyeloplasty)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78040" y="4846320"/>
            <a:ext cx="164592" cy="365760"/>
          </a:xfrm>
          <a:prstGeom prst="rect">
            <a:avLst/>
          </a:prstGeom>
          <a:solidFill>
            <a:srgbClr val="E57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79" y="4892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374151"/>
                </a:solidFill>
                <a:latin typeface="Inter"/>
              </a:rPr>
              <a:t>Resolution of recurrent episodes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2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4EAD5"/>
                </a:solidFill>
                <a:latin typeface="Inter"/>
              </a:rPr>
              <a:t>UVA EMERGENCY MEDICINE  ·  RESEARCH DAY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0" y="7315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E57200"/>
                </a:solidFill>
                <a:latin typeface="Inter"/>
              </a:rPr>
              <a:t>04  · 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32D4B"/>
                </a:solidFill>
                <a:latin typeface="Inter"/>
              </a:rPr>
              <a:t>Position-dependent pain + recurrent episodes + negative inter-episode imaging.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6B7280"/>
                </a:solidFill>
                <a:latin typeface="Inter"/>
              </a:rPr>
              <a:t>That triad is the moment to image during the episode.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257800" cy="2103120"/>
          </a:xfrm>
          <a:prstGeom prst="rect">
            <a:avLst/>
          </a:prstGeom>
          <a:solidFill>
            <a:srgbClr val="F4E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57200"/>
                </a:solidFill>
                <a:latin typeface="Inter"/>
              </a:rPr>
              <a:t>DIFFERENTIAL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06040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74151"/>
                </a:solidFill>
                <a:latin typeface="Inter"/>
              </a:rPr>
              <a:t>Nephrolithiasis  ·  pyelonephritis  ·  ovarian / testicular torsion  ·  AAA in adults  ·  cyclic vomiting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2011680"/>
            <a:ext cx="5257800" cy="2103120"/>
          </a:xfrm>
          <a:prstGeom prst="rect">
            <a:avLst/>
          </a:prstGeom>
          <a:solidFill>
            <a:srgbClr val="F4E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57200"/>
                </a:solidFill>
                <a:latin typeface="Inter"/>
              </a:rPr>
              <a:t>PHYSIOLOGY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606040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74151"/>
                </a:solidFill>
                <a:latin typeface="Inter"/>
              </a:rPr>
              <a:t>Anatomic kink at the UPJ. Obstruction is intermittent — that's why between-episode imaging looks clean.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297680"/>
            <a:ext cx="5257800" cy="2103120"/>
          </a:xfrm>
          <a:prstGeom prst="rect">
            <a:avLst/>
          </a:prstGeom>
          <a:solidFill>
            <a:srgbClr val="F4E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4805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57200"/>
                </a:solidFill>
                <a:latin typeface="Inter"/>
              </a:rPr>
              <a:t>WHY IT'S MISSED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92040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74151"/>
                </a:solidFill>
                <a:latin typeface="Inter"/>
              </a:rPr>
              <a:t>Recurrent presentations + normal inter-episode imaging anchor toward functional GI labels.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4297680"/>
            <a:ext cx="5257800" cy="2103120"/>
          </a:xfrm>
          <a:prstGeom prst="rect">
            <a:avLst/>
          </a:prstGeom>
          <a:solidFill>
            <a:srgbClr val="F4E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4805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57200"/>
                </a:solidFill>
                <a:latin typeface="Inter"/>
              </a:rPr>
              <a:t>THE MOVE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892040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 i="0">
                <a:solidFill>
                  <a:srgbClr val="374151"/>
                </a:solidFill>
                <a:latin typeface="Inter"/>
              </a:rPr>
              <a:t>Image during the episode, not after. Bedside renal POCUS is the fastest path.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2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4EAD5"/>
                </a:solidFill>
                <a:latin typeface="Inter"/>
              </a:rPr>
              <a:t>UVA EMERGENCY MEDICINE  ·  RESEARCH DAY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0" y="7315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E57200"/>
                </a:solidFill>
                <a:latin typeface="Inter"/>
              </a:rPr>
              <a:t>05  ·  TEACHING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32D4B"/>
                </a:solidFill>
                <a:latin typeface="Inter"/>
              </a:rPr>
              <a:t>What to take home for your next pediatric recurrent-vomiting visit.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38528"/>
            <a:ext cx="164592" cy="164592"/>
          </a:xfrm>
          <a:prstGeom prst="rect">
            <a:avLst/>
          </a:prstGeom>
          <a:solidFill>
            <a:srgbClr val="E57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374151"/>
                </a:solidFill>
                <a:latin typeface="Inter"/>
              </a:rPr>
              <a:t>In pediatric recurrent vomiting, do not anchor on cyclic vomiting before episode-time imaging.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24328"/>
            <a:ext cx="164592" cy="164592"/>
          </a:xfrm>
          <a:prstGeom prst="rect">
            <a:avLst/>
          </a:prstGeom>
          <a:solidFill>
            <a:srgbClr val="E57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374151"/>
                </a:solidFill>
                <a:latin typeface="Inter"/>
              </a:rPr>
              <a:t>Bedside renal POCUS during an active episode is the highest-yield rule-out.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310128"/>
            <a:ext cx="164592" cy="164592"/>
          </a:xfrm>
          <a:prstGeom prst="rect">
            <a:avLst/>
          </a:prstGeom>
          <a:solidFill>
            <a:srgbClr val="E57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374151"/>
                </a:solidFill>
                <a:latin typeface="Inter"/>
              </a:rPr>
              <a:t>Severe unilateral hydronephrosis on POCUS → cross-sectional confirmation → urology.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95928"/>
            <a:ext cx="164592" cy="164592"/>
          </a:xfrm>
          <a:prstGeom prst="rect">
            <a:avLst/>
          </a:prstGeom>
          <a:solidFill>
            <a:srgbClr val="E57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886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374151"/>
                </a:solidFill>
                <a:latin typeface="Inter"/>
              </a:rPr>
              <a:t>Definitive management is surgical (pyeloplasty), and it resolves the recurrence pattern.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81728"/>
            <a:ext cx="164592" cy="164592"/>
          </a:xfrm>
          <a:prstGeom prst="rect">
            <a:avLst/>
          </a:prstGeom>
          <a:solidFill>
            <a:srgbClr val="E57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5720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374151"/>
                </a:solidFill>
                <a:latin typeface="Inter"/>
              </a:rPr>
              <a:t>POCUS in EM goes well beyond shock and trauma — this is one of those cases.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67528"/>
            <a:ext cx="164592" cy="164592"/>
          </a:xfrm>
          <a:prstGeom prst="rect">
            <a:avLst/>
          </a:prstGeom>
          <a:solidFill>
            <a:srgbClr val="E57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2578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374151"/>
                </a:solidFill>
                <a:latin typeface="Inter"/>
              </a:rPr>
              <a:t>Pattern recognition early avoids repeat unrevealing GI workups.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57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2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31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4EAD5"/>
                </a:solidFill>
                <a:latin typeface="Inter"/>
              </a:rPr>
              <a:t>UVA EMERGENCY MEDICINE  ·  RESEARCH DAY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7315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0">
                <a:solidFill>
                  <a:srgbClr val="E57200"/>
                </a:solidFill>
                <a:latin typeface="Inter"/>
              </a:rPr>
              <a:t>06  ·  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914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E57200"/>
                </a:solidFill>
                <a:latin typeface="Inter"/>
              </a:rPr>
              <a:t>TAKE-HOME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F4EAD5"/>
                </a:solidFill>
                <a:latin typeface="Inter"/>
              </a:rPr>
              <a:t>Pediatric recurrent vomiting + position-dependent pain?</a:t>
            </a:r>
          </a:p>
          <a:p>
            <a:pPr algn="l">
              <a:lnSpc>
                <a:spcPct val="130000"/>
              </a:lnSpc>
            </a:pPr>
            <a:r>
              <a:rPr sz="2600" b="1" i="0">
                <a:solidFill>
                  <a:srgbClr val="F4EAD5"/>
                </a:solidFill>
                <a:latin typeface="Inter"/>
              </a:rPr>
              <a:t>Image during the episode. Renal POCUS first.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E57200"/>
                </a:solidFill>
                <a:latin typeface="Inter"/>
              </a:rPr>
              <a:t>PUBLISHED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Inter"/>
              </a:rPr>
              <a:t>The Journal of Emergency Medicine, October 2024  ·  Vol 67, Issue 4, e346–e350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CBD5E1"/>
                </a:solidFill>
                <a:latin typeface="Inter"/>
              </a:rPr>
              <a:t>Larsen M, Kongkatong M, Ottenhoff J, Moak J.   Faculty: Christopher Thom, MD, RDMS.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4EAD5"/>
                </a:solidFill>
                <a:latin typeface="Inter"/>
              </a:rPr>
              <a:t>QUESTIONS WELCOME  ·  Michael Larsen, MD  ·  UVA Emergency Medicine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